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 id="279" r:id="rId24"/>
    <p:sldId id="280" r:id="rId25"/>
    <p:sldId id="281" r:id="rId26"/>
    <p:sldId id="282"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9780E98-2C79-71BE-3CBB-83E096FE45CE}">
          <p14:sldIdLst>
            <p14:sldId id="256"/>
          </p14:sldIdLst>
        </p14:section>
        <p14:section name="Who We Are" id="{F84D11D4-AD1B-AE3B-B8D0-E6554C643050}">
          <p14:sldIdLst>
            <p14:sldId id="257"/>
            <p14:sldId id="258"/>
          </p14:sldIdLst>
        </p14:section>
        <p14:section name="Leadership &amp; Governance" id="{DFFF517A-D5B5-9029-E337-DB8AB022193C}">
          <p14:sldIdLst>
            <p14:sldId id="259"/>
            <p14:sldId id="260"/>
            <p14:sldId id="261"/>
            <p14:sldId id="262"/>
          </p14:sldIdLst>
        </p14:section>
        <p14:section name="Academics" id="{51D55B29-1EF8-0E21-749F-893A9C4378B9}">
          <p14:sldIdLst>
            <p14:sldId id="263"/>
            <p14:sldId id="264"/>
            <p14:sldId id="265"/>
            <p14:sldId id="266"/>
            <p14:sldId id="267"/>
            <p14:sldId id="268"/>
            <p14:sldId id="269"/>
            <p14:sldId id="270"/>
            <p14:sldId id="272"/>
            <p14:sldId id="273"/>
          </p14:sldIdLst>
        </p14:section>
        <p14:section name="International Relations" id="{BF485AED-12E9-0D1C-6450-80E88264DE2A}">
          <p14:sldIdLst>
            <p14:sldId id="274"/>
            <p14:sldId id="275"/>
            <p14:sldId id="276"/>
            <p14:sldId id="277"/>
            <p14:sldId id="278"/>
            <p14:sldId id="279"/>
            <p14:sldId id="280"/>
          </p14:sldIdLst>
        </p14:section>
        <p14:section name="Looking Ahead" id="{696CA3E5-5745-15AB-B225-D85E8D0E3DE6}">
          <p14:sldIdLst>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Publications per year</c:v>
                </c:pt>
              </c:strCache>
            </c:strRef>
          </c:tx>
          <c:spPr>
            <a:solidFill>
              <a:srgbClr val="0077FF"/>
            </a:solidFill>
            <a:effectLst/>
          </c:spPr>
          <c:invertIfNegative val="0"/>
          <c:dLbls>
            <c:numFmt formatCode="#,##0" sourceLinked="0"/>
            <c:spPr>
              <a:noFill/>
              <a:ln>
                <a:noFill/>
              </a:ln>
              <a:effectLst/>
            </c:spPr>
            <c:txPr>
              <a:bodyPr/>
              <a:lstStyle/>
              <a:p>
                <a:pPr>
                  <a:defRPr sz="1100" b="0" i="0" u="none" strike="noStrike">
                    <a:solidFill>
                      <a:srgbClr val="0F17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2024</c:v>
                </c:pt>
                <c:pt idx="1">
                  <c:v>2025</c:v>
                </c:pt>
                <c:pt idx="2">
                  <c:v>2026 (to Oct)</c:v>
                </c:pt>
              </c:strCache>
            </c:strRef>
          </c:cat>
          <c:val>
            <c:numRef>
              <c:f>Sheet1!$B$2:$B$4</c:f>
              <c:numCache>
                <c:formatCode>General</c:formatCode>
                <c:ptCount val="3"/>
                <c:pt idx="0">
                  <c:v>7</c:v>
                </c:pt>
                <c:pt idx="1">
                  <c:v>38</c:v>
                </c:pt>
                <c:pt idx="2">
                  <c:v>36</c:v>
                </c:pt>
              </c:numCache>
            </c:numRef>
          </c:val>
          <c:extLst>
            <c:ext xmlns:c16="http://schemas.microsoft.com/office/drawing/2014/chart" uri="{C3380CC4-5D6E-409C-BE32-E72D297353CC}">
              <c16:uniqueId val="{00000000-D016-46BD-A644-C34DC0EE2D9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2290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welcome. It is a pleasure to host you. East Port Said National University is a non-profit national university in Sinai, created under Egypt's higher-education development strategy and aligned with Egypt Vision 2030. Our slogan is "We Live the Future Today", and one of our four stated pillars is global openness: international partnerships and exchange opportunities. That pillar is the reason we are speaking with you. In the next few minutes we will show you who we are, who leads us, what we teach, and the international relationships we are building, with candor about where we are today and where we would like to go together.
CAVEATS:
- "Fourth-generation university" is the university's own description of itself.
LIKELY QUESTION: When was the university founded?
ANSWER: The founding date is not published on our official website, so I would rather not quote a figure from memory. We would be glad to confirm it in writing after this meeting.
Sources (briefing): S1, S3, S5, S24</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EPNU at a glance. We have seven faculties, more than thirteen academic programs, and a student body that our website puts at over 5,200. English is our official language of instruction, with English textbooks, exercises and exams, which matters for international colleagues. We are based in East Port Said, in Sinai, on a 44-feddan campus, and the university is described as a driver of development there. Our mission is simple: provide distinguished academic programs, strengthen scientific research and community service, and discover and develop students' talents to help build a better future. We describe ourselves as a fourth-generation university, focused on excellence in education and research.
CAVEATS:
- "5,200+" is a website counter, not an audited figure; say "over 5,200 according to our website".
- Say "13+ programs"; the Programs page lists 13 but faculty pages show extra tracks.
- The founding date is not published.
- The campus figures (including the 44 feddans) come from a Ministry of Higher Education report shared on the university's Facebook page (S51); the campus is in an early construction phase.
LIKELY QUESTION: Is the 5,200 student figure official?
ANSWER: It is the figure shown on our website, not an audited number, so please treat it as an approximate indication of scale.
Sources (briefing): S1, S3, S5, S7, S24, S51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partner with EPNU? First, our setting: we are in East Port Said, on the Suez Canal side of Egypt, which is a natural meeting point for regional cooperation. Second, international academic habits are already part of daily life here: English-medium teaching, a credit-hour system, and ECTS-based Medicine. Third, our programs look to the future, with strong emphasis on artificial intelligence and health. Fourth, we have strong national backing: we are one of the national universities created under Egypt's higher-education strategy, and our Board is chaired by a former Prime Minister of Egypt. These are the foundations on which international partners can build with confidence.
CAVEATS:
- "Strategic location" and "gateway university" are our analysis, not website claims; present them as an opinion.
- Do not imply the national backing means any international agreement beyond what is documented.
LIKELY QUESTION: What does national backing mean in practice?
ANSWER: We are part of Egypt's national-university system, and our Board includes a former Prime Minister, former governors, senior academics and business leaders. The Minister has also publicly asked national universities to expand international cooperation.
Sources (briefing): S1, S3, S4, S7, S11, S21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now turn to the people who guide the university. We will meet our President, whose career spans several countries, and then the Board of Trustees, which brings together government, academia and industry in one room.
LIKELY QUESTION: Who makes the strategic decisions?
ANSWER: The Board of Trustees, which meets regularly, sets the broad direction. Its 10th meeting was held on 17 March 2026.
Sources (briefing): S4, S23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President, Professor Atef Alam El-Din, brings a genuinely international profile. He earned his PhD in Engineering at Leningrad University, in the former Soviet Union, after his bachelor's and master's degrees at Menoufia University in Egypt. He sits on the Steering Committee of the Egyptian-Japanese Education Initiative 2025 and has organized several specialized international scientific conferences. He has served as Acting President of Port Said University and Vice President of Suez Canal University's Port Said branch, and is a certified quality reviewer for Egypt's national accreditation authority, NAQAAE. He has published about forty research papers. His experience gives us credibility on both sides of any partnership.
CAVEATS:
- The website is inconsistent on the Senate role: the President's page lists it as current, while the Board page and March 2026 news say "former". Say "has served on Senate committees".
- The Egyptian-Japanese Initiative is a role held by the President, not a signed university agreement with Japan.
- The NAQAAE reviewer status is a national quality-authority credential.
LIKELY QUESTION: Does the President's Japan role mean EPNU has a Japanese partner?
ANSWER: Not yet. It is a steering-committee role in an education initiative, and we see it as a door to Japanese cooperation rather than an existing agreement.
Sources (briefing): S3, S4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Board of Trustees is chaired by Engineer Ibrahim Mahlab, a former Prime Minister of Egypt. Around him sit former governors, including of Port Said, the President of Port Said University, former and current university leaders, a medical society president, the head of the Port Said Chamber of Commerce, and business leaders in industry and pharmaceuticals. This mix of government, academia and trade is a useful base for partnerships, which is our own reading rather than a formal statement. The Board has met on our campus and at Port Said University, and it has discussed practical matters such as student residences and scholarship rules.
CAVEATS:
- The Board page says it has 12 members but lists 11.
- The Vice Chairman is named differently across pages (Maj. Gen. Ahmed Abdullah on the homepage; Prof. Mohamed El-Kenawy in news); avoid naming one.
- Maj. Gen. Ibrahim Abu Limoun is listed as former Governor of Menoufia but described elsewhere as Governor of Port Said; Prof. Hegazy is described as both a pediatrics pioneer and an engineering professor. Do not give individual details for these two.
- "Bridging government, academia and industry" is our analysis.
LIKELY QUESTION: Who is the Vice Chairman of the Board?
ANSWER: Our website names different people on different pages, so I would prefer to confirm this with the Board secretariat rather than give you an uncertain answer.
Sources (briefing): S1, S4, S23, S24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every program is a named person you can speak to. Engineering is led by Dr. Mohamed El-Sakka for Mechatronics and Automation, and Dr. Asmaa Rady for AI and Machine Learning and Construction. Computer Science and IT, Medicine, Pharmacy, Applied Health Sciences and Business Sciences each have a director too. Beyond the faculties, our university offices carry institutional responsibility: Quality Assurance, Training and Professional Development, and the Secretary-General. For partners, the key point is simple. The International Relations Office, directed by Dr. Mohamed El-Sakka, is your point of contact. It is where partnership conversations begin, and where they are followed through.
CAVEATS:
- Titles are shown as "Dr." because our sources mix ranks (Dr., Associate Professor, Assistant Professor); do not add rank titles from memory.
- The Faculty of Arts program directors are not yet announced; say so plainly if asked.
- The names come from the university's official Facebook page (S51), where post dates are hidden, so we cannot say exactly when each appointment took effect.
- Several people hold more than one role (for example Dr. Mohamed El-Sakka, Dr. Osama El-Baksawy and Dr. Asmaa Rady); this is as shown on the slide.
LIKELY QUESTION: Who is the right person to contact about a partnership?
ANSWER: The International Relations Office, directed by Dr. Mohamed El-Sakka. He takes part in our agreement signings, so he can connect you with the right faculty or program director.
Sources (briefing): S51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the academic heart of EPNU. We will look at our seven faculties and their programs, and then at the international standards that already shape how we teach and administer studies.
LIKELY QUESTION: What language are programs taught in?
ANSWER: English is the official language of instruction, with textbooks, exercises and exams in English.
Sources (briefing): S7</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seven faculties. Engineering offers mechatronics and automation, AI and machine learning, and energy and electrical power. Medicine is a five-year program plus a two-year internship, ECTS-based and taught in English. Pharmacy offers clinical pharmacy. Computer Science and IT covers computer science, artificial intelligence, data science and biomedical informatics. Applied Health Sciences focuses on laboratory technology and medical imaging. Business Sciences and Arts complete the picture. For international relations, one program stands out: English Language and Translation in the Faculty of Arts, covering interpreting, intercultural communication, and career paths in cultural and diplomatic institutions.
CAVEATS:
- The Programs page lists 13 programs; faculty pages show extra tracks (Energy and Electrical Power, Medical Imaging). Say "13+".
- The Arabic page for Applied Health Sciences lists six specialties, more than the English page.
- Do not quote student numbers per faculty; none are published.
LIKELY QUESTION: Which programs are most suited to joint activity?
ANSWER: Based on what we publish, AI and health are our strongest areas, and the Clinical Pharmacy program already leads our first international agreement. English Language and Translation is also a natural fit for cultural and diplomatic cooperation.
Sources (briefing): S3, S5, S9, S10, S21, S38, S39</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Faculty of Engineering gives every student a shared preparatory year, then three specializations: mechatronics and automation, AI and machine learning, and energy and electrical power, with construction engineering also on offer. Learning is hands-on from the start, with robotics projects and training at the Suez Canal Authority Training Center. Our AI students also train through the Huawei ICT Academy hosted at EPNU. The programs are led by two directors with UK doctorates. Dr. El-Sakka, who also heads our International Relations Office, has published widely on wind energy, including highly cited work on vertical-axis turbines. Dr. Rady, a Newton-Mosharafa scholar, works on solar and thermal management of photovoltaics.
CAVEATS:
- El-Sakka's Sheffield PhD is a probable match only: it rests on an OpenAlex/ORCID profile for "Mohamed M. Elsakka" at Port Said University. The middle name "Metwally" appears on no academic profile. Say "reported" or "according to public records", not "verified".
- Dr. Rady's identity is better supported (PSU staff page, Google Scholar and the EPNU Engineering page agree on the Exeter PhD).
- Some EPNU news posts give directors' titles as Assistant Professor; the slide uses the titles the university confirmed, so do not improvise a different rank aloud.
- Program duration and credit hours are not published consistently: a 165 credit-hour figure appears on the site but the study plan is marked "to be updated soon". Do not quote it.
- The Energy &amp; Electrical Power specialization has no named director on the slide; do not name one.
LIKELY QUESTION: How many credit hours and years is the engineering degree?
ANSWER: The program follows a preparatory year plus a specialization, but the final study plan and credit-hour total are still being updated on our website. We will send you the approved regulations in writing.
Sources (briefing): D:\AI\EPNU\research\faculty_engineering.json, D:\AI\EPNU\research\bio_el_sakka.json, D:\AI\EPNU\research\bio_asmaa_rady.json, D:\AI\EPNU\research\BRIEF.md, D:\AI\EPNU\data\text\en_rendered\pages\1058.txt, https://epnu.edu.eg/en/faculty-of-engineering/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Faculty of Computer Science and IT offers four-year programs in computer science, artificial intelligence, data science in information systems, and biomedical informatics. The last one is distinctive: it applies computing to clinical data, biometrics and medical imaging. Our students are active in competitive programming and qualified for the Egyptian Collegiate Programming Contest in 2026. The faculty is led by Professor Osama El-Baksawy, who also directs our Quality Assurance Center. His own research is in renewable energy and fractional-order control, and one of his IEEE Access papers has more than a hundred citations. We have also begun cooperation talks with ITI on digital-skills training.
CAVEATS:
- El-Baksawy's rank is inconsistent in EPNU sources: the Arabic faculty heading says Professor, but his own biography text and several news posts say Assistant Professor. The slide uses the title the university confirmed; verify before printing it on formal documents.
- His PhD institution and year were not found, so do not mention his doctorate. His field is electrical power engineering, adjacent to rather than inside computer science.
- His metrics (24 papers, about 780 citations, h-index 15) are auto-generated by OpenAlex and may be incomplete. One 2023 paper lists a different affiliation, which is unresolved.
- ITI and Creativa are described as cooperation talks only. No signed agreement was found.
- Credit hours for all four programs are not published ("to be updated soon").
LIKELY QUESTION: Do you have a formal agreement with ITI?
ANSWER: We have held cooperation meetings on digital-skills training, and we are happy to say more once there is a signed document. At this stage we describe it as talks.
Sources (briefing): D:\AI\EPNU\research\faculty_cs.json, D:\AI\EPNU\research\bio_el_baksawy.json, D:\AI\EPNU\research\BRIEF.md, D:\AI\EPNU\data\text\en_rendered\pages\3154.txt, D:\AI\EPNU\data\text\en_rendered\posts\4503.txt, https://epnu.edu.eg/en/faculty-of-computer-sciences/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Faculty of Medicine offers an integrated, English-medium MBBCh: five years over ten semesters, followed by a two-year internship. Basic sciences, clinical training and community service are taught together, and the ECTS credit system makes it familiar to European partners. Students join medical convoys to primary-care units in North Sinai, and they present research at national conferences. The program director, Dr. Sherine El-Khouly, holds a GAHAR professional diploma with an Excellent grade, from the first cohort of Egypt's healthcare accreditation authority. Clinical training runs through partner hospitals, including Port Said University's new hospital, Ahl Masr Hospital and the 57357 children's cancer hospital.
CAVEATS:
- Internal only: Egyptian media in August to October 2026 reported a dispute over the size of the Medicine intake. See extra_findings.md section A1. Figures vary by source and the official reasons were not published. Do not raise it unprompted; if asked, use the neutral line below.
- Do not promise Medicine places, exchange numbers or a teaching-hospital opening date. Clinical training is through partner hospitals; no EPNU teaching hospital details are public.
- Dr. El-Khouly's home institution, specialty and publication record were not found, so avoid describing her specialty. Her rank appears as Assistant Professor in some Arabic posts; the slide follows the confirmed title.
- The credit-hour total is not published; only the ECTS system is named.
- The 57357 item is an MoU and Ahl Masr a signed protocol; do not upgrade either to a joint program.
LIKELY QUESTION: How many Medicine students do you admit each year?
ANSWER: Medicine intake follows the capacity limits set by the Supreme Council of Private Universities and the readiness of our clinical-training sites. We would rather confirm the current figure in writing than quote a number from memory.
Sources (briefing): D:\AI\EPNU\research\faculty_medicine.json, D:\AI\EPNU\research\bio_el_khouly.json, D:\AI\EPNU\research\extra_findings.md, D:\AI\EPNU\data\text\en_rendered\pages\3155.txt, https://epnu.edu.eg/en/faculty-of-medicine/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Faculty of Pharmacy offers a Bachelor of Pharmacy, PharmD in Clinical Pharmacy, over ten semesters in English. Students use HPLC and UV-Vis instruments, and clinical simulation rooms where they practice dose calculation. The faculty has industry partners including EIPICO, EVA Pharma, Lavender Life and Royal Cosmetics. It is also where our first international partnership began, with Universiti Putra Malaysia, including joint webinars. Pharmacy and medicinal chemistry produce most of our international publications; our most-cited papers are on triazole-based anticancer candidates. The program is directed by Dr. Mohamed Yasser, who also runs the Entrepreneurship Club and lectures on innovation in pharmaceutical and cosmetic formulation.
CAVEATS:
- Dr. Yasser's rank: some EPNU posts say Assistant Professor (for example post 2751); the slide uses the confirmed title Associate Professor.
- No publication profile was found for him (OpenAlex, Scholar, ORCID). The research credit belongs to the faculty's staff generally, not to him personally.
- The UPM relationship is the only foreign MoU found; do not describe it as a joint degree or exchange program.
- The list of six scientific departments is marked provisional on the website. Credit hours and internship length are not published.
- The research claim ("most of our international papers") is based on automatic field labels and affiliation matching; see the research slide notes.
LIKELY QUESTION: Is the PharmD accredited, and is there an internship year?
ANSWER: The program is approved within Egypt's national-university framework. We have not published accreditation details or an internship structure online, so we will send you the official study plan once it is final.
Sources (briefing): D:\AI\EPNU\research\faculty_pharmacy.json, D:\AI\EPNU\research\bio_mohamed_yasser.json, D:\AI\EPNU\research\publications_summary.md, D:\AI\EPNU\research\extra_findings.md, D:\AI\EPNU\data\text\en_rendered\pages\3156.txt, https://epnu.edu.eg/en/faculty-of-pharmacy/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Faculty of Applied Health Sciences Technology trains the technologists behind modern diagnostics, in two programs: Medical Laboratory Technology and Medical Imaging and Radiologic Technology. Teaching is in English, with 131 credit hours. Students work in hematology, biochemistry, microbiology and microscopy labs, and train on X-ray, CT and MRI equipment with an emphasis on radiation protection and quality. Practical training takes place across a hospital network: Port Said University Hospital, Saudi German Hospital in Cairo, Ahl Masr Hospital and the 57357 Group, with which we have signed an MoU. The faculty is directed by Dr. Salma Khairallah, a biochemist who holds her PhD from Port Said University.
CAVEATS:
- The 131 credit hours is stated on the faculty page but is not confirmed as specific to each program; say "about 131" if challenged.
- Dr. Khairallah is titled Prof. Dr. on the faculty page but Dr. in news posts; use Dr. as instructed. Her specialty is biochemistry, not radiology, so do not present her as an imaging expert.
- No publication record was found for her, and her current permanent post is not independently verified.
- Program durations are not published. The clinical-training partners also include Bahia Hospital and a plasma donation center, but those are not on the slide.
LIKELY QUESTION: Do graduates receive any international recognition?
ANSWER: We have not yet published any international recognition for these programs. What we can offer today is hospital-based training with named partners, and we would welcome discussion of joint curriculum or exchange.
Sources (briefing): D:\AI\EPNU\research\faculty_ahs.json, D:\AI\EPNU\research\bio_salma_khairallah.json, D:\AI\EPNU\data\text\en_rendered\pages\1047.txt, https://epnu.edu.eg/en/faculty-of-applied-health-sciences/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Faculty of Business Sciences prepares graduates for a digital economy through two programs: Accounting and Software Applications, and Digital Marketing and E-Management. On the accounting side, students work with accounting information systems, financial software and financial analysis. On the marketing side, they learn campaigns, e-commerce, platform management and consumer analytics. This is one of our newest faculties, and it welcomed its first cohort with a dedicated orientation day. Dr. Ali Gomaa leads the Accounting program, which points graduates to careers in accounting, auditing, taxation, banking and financial software. We see good scope for exchange and joint teaching in digital business.
CAVEATS:
- Dr. Gomaa's role at EPNU rests on a single Facebook post (the first-cohort orientation); it is not on the website. His home institution, qualifications and research could not be verified. Do not say where he previously worked or what his doctorate is in.
- He is not the former Grand Mufti of the same name; avoid any confusion.
- The Digital Marketing program has no named director on the slide.
- Duration, credit hours and vision/mission statements are not published for this faculty.
- Some EPNU news posts give directors' titles as Assistant Professor; the slide uses the titles the university confirmed, so do not improvise a different rank aloud.
LIKELY QUESTION: What are Dr. Gomaa's qualifications?
ANSWER: I do not have his full academic profile in front of me, so I would rather not guess. We will send you a short biography from the faculty after this meeting.
Sources (briefing): D:\AI\EPNU\research\faculty_business.json, D:\AI\EPNU\research\bio_ali_gomaa.json, D:\AI\EPNU\data\text\en_rendered\pages\4176.txt, https://epnu.edu.eg/en/faculty-of-business-sciences/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partners ask whether we are ready to work internationally. Our regulations already contain the building blocks. Teaching is in English. We use credit hours, where a semester's workload of 750 hours is about 30 ECTS credits, and Medicine follows ECTS. Our rules allow non-degree registration, auditor registration, and transfer with course equivalency. Graduation certificates are issued in Arabic and English. Admission rules recognize routes including British IGCSE, the Nile International Certificate and recognized foreign certificates, and accept a passport as ID. We also host a Huawei ICT Academy, linked to our AI and machine learning program.
CAVEATS:
- The 2026-27 intake call lists only Egyptian Thanaweya Amma, Al-Azhar, STEM and Nile Schools certificates, and says the university does not deal with agents. Do not promise international intake this year.
- Mobility-ready rules exist on paper; no exchange or credit transfer with a foreign university has been reported.
- Non-native speakers of Arabic must show Arabic proficiency; no minimum English score is published.
- Do not describe the Huawei Academy as a signed agreement; the briefing only describes training offered.
LIKELY QUESTION: Can international students apply this year?
ANSWER: Our admission rules provide for foreign certificates, but the 2026-27 intake call lists only Egyptian-type certificates, so an international admissions track is something we would like to develop with partners.
Sources (briefing): S7, S8, S9, S21, S47, S48</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is where a young university can show momentum. Since 2024, more than eighty peer-reviewed papers and chapters carry the EPNU affiliation: seven in 2024, thirty-eight in 2025, and thirty-six so far in 2026. Ninety-eight percent appear with international publishers, led by Elsevier with twenty-seven papers and Springer Nature with twenty. About two-thirds have co-authors abroad, from fifteen countries, mostly in the Arab region. The strongest areas are medicinal chemistry and pharmacy, medicine, and renewable energy. Our most cited paper so far, nineteen citations, studies triazole compounds that target cancer pathways. We think the true total is higher than we can show today.
CAVEATS:
- The count is 81, found by matching raw affiliation text in OpenAlex, Crossref and Europe PMC. It is NOT verified as Scopus- or Web of Science-indexed, and OpenAlex has no institution record for EPNU. Say "81 publications identified in open databases", never "81 Scopus papers".
- A paper qualifies with any one EPNU-affiliated co-author, so many may be mainly Port Said University work with EPNU as a secondary affiliation. This could overstate the output.
- The count may also be too low (indexing lag, truncated or misspelled affiliations, staff who publish only under their home university).
- Roughly 100 affiliation strings for the separate East Port Said University of Technology were excluded; do not confuse the two institutions.
- The 15 countries and 63 percent international co-authorship are lower bounds. Most collaboration is with Arab-region institutions; Western partnerships are few, so do not imply otherwise.
- Publication counts do not mean the faculty directors authored these papers; only some directors have profiles.
- Independent cross-check: a PubMed affiliation search for 'East Port Said National University' returns 56 records (about 54 articles; biomedical only). The only figure the university itself has published is 23 pharmacy papers for 2024-25 (post 4806), so cite '80+' as our own bibliometric count, not as an official university statistic.
LIKELY QUESTION: Are these papers indexed in Scopus, and in which quartiles?
ANSWER: Most of the journals are from publishers such as Elsevier, Springer Nature, RSC and Wiley, which are widely indexed. We identified the papers through open databases and have not yet checked Scopus or quartile rankings, so we prefer not to claim them. We can share the full list.
Sources (briefing): D:\AI\EPNU\research\publications_summary.md, D:\AI\EPNU\research\publications.json, D:\AI\EPNU\presentation\content\research_slide.json, https://openalex.org, https://www.crossref.org, https://europepmc.org, D:/AI/EPNU/research/research_activity.md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come to the part most relevant to today's meeting: our international relations. We will begin with the national mandate, then our first partner, our wider network, and finally our students.
LIKELY QUESTION: Is there a dedicated International Relations Office?
ANSWER: Yes. The International Relations Office is directed by Dr. Mohamed El-Sakka, who takes part in our agreement signings. It is the point of contact for partners. It does not yet have its own page on our website.
Sources (briefing): S49, S51</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Internationalization is not only our ambition; it is a national priority. In March 2026 our Academic Affairs Council reviewed the Minister's directives to national universities, including enhancing international cooperation and academic partnerships. On 30 June, the National Universities Council, chaired by Minister Abdel Aziz Konsowa, stressed international rankings, partnerships with global universities, international publishing, joint and dual degrees, and more international students. It approved several agreements between Egyptian national universities and international institutions. In July, the Port Said University Council discussed similar goals. Our own partnership goals include opening pathways for scientific and research exchange with regional and international universities.
CAVEATS:
- The July item is the Port Said University Council; the post does not say these are EPNU's own efforts.
- The agreements approved on 30 June were between Egyptian national universities and international institutions in general; do not say they were all EPNU's.
- "International cooperation" is a stated objective, not evidence of delivered agreements.
LIKELY QUESTION: Did EPNU sign agreements at the National Universities Council?
ANSWER: The Council approved several agreements across national universities. Our website says we are working along this vision, but it does not name EPNU agreements from that meeting.
Sources (briefing): S2, S11, S41, S42</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documented international academic cooperation is with Universiti Putra Malaysia. A signed partnership agreement provides a framework that includes faculty and student exchange, and our Faculty of Pharmacy, through the Clinical Pharmacy program, leads it. The first activity was an international webinar, Global Horizons, hosted by UPM's Sarawak campus together with Port Said University and EPNU, followed by our first joint virtual scientific meeting where our students presented research. Malaysian press outlets praised our students' participation. We announced that we would host the second webinar edition on 29 April 2026. The next natural step is real exchange of faculty and students.
CAVEATS:
- No faculty or student exchange has actually taken place; the agreement provides a framework only.
- The 2nd webinar was announced for 29 April 2026; the website does not confirm it happened.
- UPM is the only international university partner documented publicly.
- Avoid exact dates for the "first cooperation" post; many posts share the batch upload date of 8 July 2026.
LIKELY QUESTION: Has any exchange with UPM happened yet?
ANSWER: Not yet. The agreement includes a framework for faculty and student exchange, and so far the activity has been the webinar and a joint virtual research meeting. Exchange is the next step we would like to activate.
Sources (briefing): S12, S13, S38</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 shows the directions in which EPNU is reaching out, and each spoke represents a different depth of relationship, which I will be clear about. Malaysia is our signed agreement. With Japan, our President sits on an education initiative's steering committee. With Europe, we have invited our researchers to a Horizon Europe event. We took part in the Union of Russian and Arab University Rectors forum. Our faculty include a PhD from Exeter in the UK and a research fellowship at Politecnico di Torino in Italy. Students trained at Saudi German Hospital, a network across the Middle East and North Africa, and we host a Huawei ICT Academy.
CAVEATS:
- Only Malaysia (UPM) is a signed agreement; do not call the other spokes partnerships.
- Horizon Europe was an invitation to attend; the Rectors' forum was participation.
- UK and Italy reflect individual faculty credentials (Exeter, Newton-Mosharafa, Politecnico di Torino), not institutional agreements.
- The Italian Ambassador attended the Zohr School graduation that our President also attended; that was attendance only, not a partnership, and the school was created with other organizations.
- The 5th Rectors' forum and Horizon Europe items carry an 8 July 2026 posting date that may not be the event date.
LIKELY QUESTION: How many signed international agreements does EPNU have?
ANSWER: One is publicly documented, with Universiti Putra Malaysia. National policy is pushing universities to expand, and this meeting is part of our effort to do so.
Sources (briefing): S3, S9, S12, S13, S14, S15, S19, S43</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universities, we work with partners who add regional and global reach. Our Huawei ICT Academy offers training in artificial intelligence, cloud computing, networks, the Internet of Things and modern communications, and is managed by Dr. Asmaa Rady. Applied Health Sciences students trained in the laboratories of Saudi German Hospital in Cairo, part of a network operating across several countries in the region. Our Faculty of Pharmacy lists strategic partners from industry, including EIPICO and EVA Pharma, and has signed protocols supporting innovation and entrepreneurship. Most recently, we signed a memorandum of understanding with the Children's Cancer Hospital 57357, together with Prof. Sherif Abouelnaga, CEO of the 57357 Group. It covers medical education, practical training, research and community service.
CAVEATS:
- The 57357 MoU is signed, as reported on the university's official Facebook page (S51); it is not yet on the website. Describe its scope (education, training, research, community service) but do not promise specific programs or timelines.
- Pharmacy industry partners are listed strategic partners for training and entrepreneurship, not described as international agreements.
- Saudi German Hospital involvement is student training; do not call it a research agreement.
- The Huawei Academy description covers training only; no certification or agreement terms are published.
LIKELY QUESTION: Does the Huawei Academy offer official Huawei certification?
ANSWER: Our website describes training in AI, cloud, networks, IoT and communications, but it does not state certification details, so I would prefer to confirm that with the Faculty of Engineering.
Sources (briefing): S9, S10, S19, S32, S34, S38, S51</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students are already stepping onto the international stage, mostly through international-branded events in Egypt. An Engineering team qualified for and competed in the AI Hackathon at the first International Conference on Innovations and Applications of AI at Damietta University. Another team passed the second judging stage at ITC-Egypt 2026. Medical students attended the 11th International Pediatric Conference. Our computer science team qualified for the Egyptian Collegiate Programming Contest. At the Suez Canal University student research conference, we presented seven papers and placed second. Our pharmacy students also presented research alongside Malaysian counterparts.
CAVEATS:
- Most of these events were held in Egypt; do not imply travel abroad.
- Do not say the teams won the hackathon or ITC-Egypt; they qualified, competed or passed a stage. Second place applies to the student research conference.
- No student or staff mobility abroad has been reported.
LIKELY QUESTION: Have your students studied abroad?
ANSWER: No student mobility has been reported so far. Their international exposure has come through conferences, competitions and the Malaysian webinar, and exchange agreements are how we hope to extend it.
Sources (briefing): S2, S12, S13, S17, S18, S22, S44, S45, S46</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international ambitions rest on a strong national base. Our main academic partner is Port Said University. Their cooperation with our Pharmacy faculty produced 23 research papers in 2024-2025, with most published in reputable international journals, including Q1, Q2 and Q3 journals. We also work with ITI and Creativa on digital skills and with the Suez Canal Authority Training Center, which delivered a first practical program for our Engineering preparatory-year students. We have signed protocols with Ahl Masr Hospital, for clinical training, and with BEDO, for industrial training and joint applied research. We have also visited the Armed Forces College of Medicine, and we host visits from the Port Said Governorate, the General Authority for Healthcare, and the National Media Authority.
CAVEATS:
- The briefing gives 23 papers as the headline, but its breakdown (20 by faculty and 2 by students) adds to 22; quote only "23 papers" and do not go into the split.
- "Including Q1, Q2 and Q3" means some, not all, were in those quartiles.
- The Armed Forces College of Medicine and Healthcare Authority items are visits or talks, not signed agreements.
- The Ahl Masr Hospital and BEDO protocols are signed, per the university's official Facebook page (S51); describe their scope (training and joint applied research) without promising outcomes.
LIKELY QUESTION: Is Port Said University a formal partner?
ANSWER: Our website describes it as our main academic partner, with research cooperation and mutual honoring of Presidents. It does not describe a single named agreement in the material we have.
Sources (briefing): S2, S25, S26, S27, S28, S30, S31, S33, S35, S36, S37, S51</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here is where we would love to build together. These are opportunities we see, rather than commitments already made. First, activating student and staff exchange, beginning with our UPM framework and extending to Engineering, Computer Science and Business. Second, joint and dual degrees, which the Minister has named as a priority. Third, joint research and Horizon Europe consortia. Fourth, visiting-professor schemes. Fifth, pathways for international students, building on our existing foreign-certificate rules. Sixth, hubs in AI, health and maritime logistics, drawing on our Huawei Academy, hospital links and location. We would be delighted to hear which of these resonates with you.
CAVEATS:
- This slide is our analysis of gaps and opportunities, not a list of existing programs or promised commitments.
- Scholarships are currently domestic only, and recent academic vacancy calls required Egyptian nationality or secondment from Egyptian universities; do not suggest foreign scholarships or posts exist.
- Horizon Europe engagement to date is an invitation only.
LIKELY QUESTION: Do you offer scholarships for exchange students?
ANSWER: Our current scholarships are for domestic categories only. International and exchange scholarships are something we would like to design together with partners.
Sources (briefing): S6, S8, S11, S15, S48, S50</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your interest. EPNU is a young university with clear ambition, a solid national base, a first international partner, and a genuine wish to widen the circle. We believe the best partnerships begin with honest conversation about what each side can offer. Your point of contact is our International Relations Office, directed by Dr. Mohamed El-Sakka, and I would warmly invite you to speak with him or with me after the session, so that we can turn today's discussion into concrete next steps. Our website, epnu.edu.eg, also has a contact form with a partnerships and cooperation enquiry type. We Live the Future Today, and we would be honored to build it with you.
CAVEATS:
- The International Relations Office (Director: Dr. Mohamed El-Sakka) is confirmed by the university's Facebook page (S51); the website has no dedicated page for it yet.
- The contact form lists one email and a partnerships enquiry type; do not invent additional contact details for the office.
- Do not claim pending MoUs or exchanges as agreed.
LIKELY QUESTION: Who should we contact to follow up?
ANSWER: Please contact our International Relations Office, directed by Dr. Mohamed El-Sakka. The website's contact form, with its Partnerships and cooperation enquiry type, is also available, and we will share direct details during this visit.
Sources (briefing): S1, S2, S49, S51</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2"/>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marL="0" indent="0">
              <a:buNone/>
            </a:pPr>
            <a:r>
              <a:rPr lang="en-US" sz="1000" dirty="0">
                <a:solidFill>
                  <a:schemeClr val="accent5"/>
                </a:solidFill>
              </a:rPr>
              <a:t>East Port Said National University  |  International Profile</a:t>
            </a:r>
            <a:endParaRPr lang="en-US" sz="1000" dirty="0"/>
          </a:p>
        </p:txBody>
      </p:sp>
      <p:pic>
        <p:nvPicPr>
          <p:cNvPr id="3" name="Image 0" descr="preencoded.png"/>
          <p:cNvPicPr>
            <a:picLocks noChangeAspect="1"/>
          </p:cNvPicPr>
          <p:nvPr/>
        </p:nvPicPr>
        <p:blipFill>
          <a:blip r:embed="rId2"/>
          <a:stretch>
            <a:fillRect/>
          </a:stretch>
        </p:blipFill>
        <p:spPr>
          <a:xfrm>
            <a:off x="11259007" y="384048"/>
            <a:ext cx="457200" cy="457200"/>
          </a:xfrm>
          <a:prstGeom prst="rect">
            <a:avLst/>
          </a:prstGeom>
        </p:spPr>
      </p:pic>
      <p:sp>
        <p:nvSpPr>
          <p:cNvPr id="4" name="Text 1"/>
          <p:cNvSpPr>
            <a:spLocks noGrp="1"/>
          </p:cNvSpPr>
          <p:nvPr>
            <p:ph type="title" idx="102" hasCustomPrompt="1"/>
          </p:nvPr>
        </p:nvSpPr>
        <p:spPr>
          <a:xfrm>
            <a:off x="548640" y="347472"/>
            <a:ext cx="10058400" cy="566928"/>
          </a:xfrm>
          <a:prstGeom prst="rect">
            <a:avLst/>
          </a:prstGeom>
          <a:noFill/>
          <a:ln/>
        </p:spPr>
        <p:txBody>
          <a:bodyPr wrap="square" rtlCol="0"/>
          <a:lstStyle>
            <a:lvl1pPr marL="0" indent="0" algn="l">
              <a:buNone/>
              <a:defRPr lang="en-US" sz="3000" b="1" dirty="0">
                <a:solidFill>
                  <a:schemeClr val="tx2"/>
                </a:solidFill>
                <a:latin typeface="Arial" pitchFamily="34" charset="0"/>
                <a:ea typeface="Arial" pitchFamily="34" charset="-122"/>
                <a:cs typeface="Arial" pitchFamily="34" charset="-120"/>
              </a:defRPr>
            </a:lvl1pPr>
          </a:lstStyle>
          <a:p>
            <a:pPr marL="0" indent="0" algn="l">
              <a:buNone/>
            </a:pPr>
            <a:endParaRPr lang="en-US" sz="3000" dirty="0"/>
          </a:p>
        </p:txBody>
      </p:sp>
      <p:sp>
        <p:nvSpPr>
          <p:cNvPr id="5" name="Text 1"/>
          <p:cNvSpPr>
            <a:spLocks noGrp="1"/>
          </p:cNvSpPr>
          <p:nvPr>
            <p:ph type="body" idx="103" hasCustomPrompt="1"/>
          </p:nvPr>
        </p:nvSpPr>
        <p:spPr>
          <a:xfrm>
            <a:off x="548640" y="932688"/>
            <a:ext cx="10058400" cy="365760"/>
          </a:xfrm>
          <a:prstGeom prst="rect">
            <a:avLst/>
          </a:prstGeom>
          <a:noFill/>
          <a:ln/>
        </p:spPr>
        <p:txBody>
          <a:bodyPr wrap="square" rtlCol="0"/>
          <a:lstStyle>
            <a:lvl1pPr marL="0" indent="0" algn="l">
              <a:buNone/>
              <a:defRPr lang="en-US" sz="1500" dirty="0">
                <a:solidFill>
                  <a:schemeClr val="accent1"/>
                </a:solidFill>
              </a:defRPr>
            </a:lvl1pPr>
          </a:lstStyle>
          <a:p>
            <a:pPr marL="0" indent="0" algn="l">
              <a:buNone/>
            </a:pP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11259007" y="384048"/>
            <a:ext cx="457200" cy="457200"/>
          </a:xfrm>
          <a:prstGeom prst="rect">
            <a:avLst/>
          </a:prstGeom>
        </p:spPr>
      </p:pic>
      <p:sp>
        <p:nvSpPr>
          <p:cNvPr id="3" name="Text 0"/>
          <p:cNvSpPr>
            <a:spLocks noGrp="1"/>
          </p:cNvSpPr>
          <p:nvPr>
            <p:ph type="title" idx="101" hasCustomPrompt="1"/>
          </p:nvPr>
        </p:nvSpPr>
        <p:spPr>
          <a:xfrm>
            <a:off x="1097280" y="2788920"/>
            <a:ext cx="8686800" cy="914400"/>
          </a:xfrm>
          <a:prstGeom prst="rect">
            <a:avLst/>
          </a:prstGeom>
          <a:noFill/>
          <a:ln/>
        </p:spPr>
        <p:txBody>
          <a:bodyPr wrap="square" rtlCol="0"/>
          <a:lstStyle>
            <a:lvl1pPr marL="0" indent="0" algn="l">
              <a:buNone/>
              <a:defRPr lang="en-US" sz="4400" b="1" dirty="0">
                <a:solidFill>
                  <a:schemeClr val="bg1"/>
                </a:solidFill>
                <a:latin typeface="Arial" pitchFamily="34" charset="0"/>
                <a:ea typeface="Arial" pitchFamily="34" charset="-122"/>
                <a:cs typeface="Arial" pitchFamily="34" charset="-120"/>
              </a:defRPr>
            </a:lvl1pPr>
          </a:lstStyle>
          <a:p>
            <a:pPr marL="0" indent="0" algn="l">
              <a:buNone/>
            </a:pPr>
            <a:endParaRPr lang="en-US" sz="4400" dirty="0"/>
          </a:p>
        </p:txBody>
      </p:sp>
      <p:sp>
        <p:nvSpPr>
          <p:cNvPr id="4" name="Text 0"/>
          <p:cNvSpPr>
            <a:spLocks noGrp="1"/>
          </p:cNvSpPr>
          <p:nvPr>
            <p:ph type="body" idx="102" hasCustomPrompt="1"/>
          </p:nvPr>
        </p:nvSpPr>
        <p:spPr>
          <a:xfrm>
            <a:off x="1097280" y="3794760"/>
            <a:ext cx="6675120" cy="731520"/>
          </a:xfrm>
          <a:prstGeom prst="rect">
            <a:avLst/>
          </a:prstGeom>
          <a:noFill/>
          <a:ln/>
        </p:spPr>
        <p:txBody>
          <a:bodyPr wrap="square" rtlCol="0"/>
          <a:lstStyle>
            <a:lvl1pPr marL="0" indent="0" algn="l">
              <a:buNone/>
              <a:defRPr lang="en-US" sz="1800" dirty="0">
                <a:solidFill>
                  <a:schemeClr val="accent2"/>
                </a:solidFill>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C"/>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_DARK">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6.png"/><Relationship Id="rId5" Type="http://schemas.openxmlformats.org/officeDocument/2006/relationships/image" Target="../media/image21.png"/><Relationship Id="rId10" Type="http://schemas.openxmlformats.org/officeDocument/2006/relationships/image" Target="../media/image15.png"/><Relationship Id="rId4" Type="http://schemas.openxmlformats.org/officeDocument/2006/relationships/image" Target="../media/image20.png"/><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7.png"/></Relationships>
</file>

<file path=ppt/slides/_rels/slide1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4.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39.png"/><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46.png"/><Relationship Id="rId7"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48.png"/><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6.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9"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61.pn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58.png"/><Relationship Id="rId7" Type="http://schemas.openxmlformats.org/officeDocument/2006/relationships/image" Target="../media/image65.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23.png"/><Relationship Id="rId4" Type="http://schemas.openxmlformats.org/officeDocument/2006/relationships/image" Target="../media/image6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67.png"/><Relationship Id="rId7" Type="http://schemas.openxmlformats.org/officeDocument/2006/relationships/image" Target="../media/image69.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68.png"/><Relationship Id="rId10" Type="http://schemas.openxmlformats.org/officeDocument/2006/relationships/image" Target="../media/image49.png"/><Relationship Id="rId4" Type="http://schemas.openxmlformats.org/officeDocument/2006/relationships/image" Target="../media/image30.png"/><Relationship Id="rId9" Type="http://schemas.openxmlformats.org/officeDocument/2006/relationships/image" Target="../media/image70.png"/></Relationships>
</file>

<file path=ppt/slides/_rels/slide23.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1.png"/><Relationship Id="rId7" Type="http://schemas.openxmlformats.org/officeDocument/2006/relationships/image" Target="../media/image7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73.png"/><Relationship Id="rId4" Type="http://schemas.openxmlformats.org/officeDocument/2006/relationships/image" Target="../media/image72.png"/><Relationship Id="rId9" Type="http://schemas.openxmlformats.org/officeDocument/2006/relationships/image" Target="../media/image32.png"/></Relationships>
</file>

<file path=ppt/slides/_rels/slide24.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6.png"/><Relationship Id="rId7" Type="http://schemas.openxmlformats.org/officeDocument/2006/relationships/image" Target="../media/image58.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6.png"/><Relationship Id="rId4" Type="http://schemas.openxmlformats.org/officeDocument/2006/relationships/image" Target="../media/image14.png"/><Relationship Id="rId9"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79.png"/><Relationship Id="rId7" Type="http://schemas.openxmlformats.org/officeDocument/2006/relationships/image" Target="../media/image61.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81.png"/><Relationship Id="rId4" Type="http://schemas.openxmlformats.org/officeDocument/2006/relationships/image" Target="../media/image80.png"/></Relationships>
</file>

<file path=ppt/slides/_rels/slide26.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26.xml"/><Relationship Id="rId1" Type="http://schemas.openxmlformats.org/officeDocument/2006/relationships/slideLayout" Target="../slideLayouts/slideLayout4.xml"/><Relationship Id="rId5" Type="http://schemas.openxmlformats.org/officeDocument/2006/relationships/hyperlink" Target="https://epnu.edu.eg/en/"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hero-photo" descr="preencoded.png"/>
          <p:cNvPicPr>
            <a:picLocks noChangeAspect="1"/>
          </p:cNvPicPr>
          <p:nvPr/>
        </p:nvPicPr>
        <p:blipFill>
          <a:blip r:embed="rId3"/>
          <a:stretch>
            <a:fillRect/>
          </a:stretch>
        </p:blipFill>
        <p:spPr>
          <a:xfrm>
            <a:off x="6522415" y="0"/>
            <a:ext cx="5669280" cy="6858000"/>
          </a:xfrm>
          <a:prstGeom prst="rect">
            <a:avLst/>
          </a:prstGeom>
        </p:spPr>
      </p:pic>
      <p:sp>
        <p:nvSpPr>
          <p:cNvPr id="4" name="hero-tint"/>
          <p:cNvSpPr/>
          <p:nvPr/>
        </p:nvSpPr>
        <p:spPr>
          <a:xfrm>
            <a:off x="6522415" y="0"/>
            <a:ext cx="5669280" cy="6858000"/>
          </a:xfrm>
          <a:prstGeom prst="rect">
            <a:avLst/>
          </a:prstGeom>
          <a:solidFill>
            <a:schemeClr val="tx2">
              <a:alpha val="22000"/>
            </a:schemeClr>
          </a:solidFill>
          <a:ln/>
        </p:spPr>
        <p:txBody>
          <a:bodyPr/>
          <a:lstStyle/>
          <a:p>
            <a:endParaRPr lang="en-US"/>
          </a:p>
        </p:txBody>
      </p:sp>
      <p:pic>
        <p:nvPicPr>
          <p:cNvPr id="5" name="logo" descr="preencoded.png"/>
          <p:cNvPicPr>
            <a:picLocks noChangeAspect="1"/>
          </p:cNvPicPr>
          <p:nvPr/>
        </p:nvPicPr>
        <p:blipFill>
          <a:blip r:embed="rId4"/>
          <a:stretch>
            <a:fillRect/>
          </a:stretch>
        </p:blipFill>
        <p:spPr>
          <a:xfrm>
            <a:off x="640080" y="640080"/>
            <a:ext cx="1143000" cy="1143000"/>
          </a:xfrm>
          <a:prstGeom prst="rect">
            <a:avLst/>
          </a:prstGeom>
        </p:spPr>
      </p:pic>
      <p:sp>
        <p:nvSpPr>
          <p:cNvPr id="6" name="Text 1"/>
          <p:cNvSpPr txBox="1"/>
          <p:nvPr/>
        </p:nvSpPr>
        <p:spPr>
          <a:xfrm>
            <a:off x="640080" y="2103120"/>
            <a:ext cx="5760720" cy="411480"/>
          </a:xfrm>
          <a:prstGeom prst="rect">
            <a:avLst/>
          </a:prstGeom>
          <a:noFill/>
          <a:ln/>
        </p:spPr>
        <p:txBody>
          <a:bodyPr wrap="square" lIns="0" tIns="0" rIns="0" bIns="0" rtlCol="0" anchor="ctr"/>
          <a:lstStyle/>
          <a:p>
            <a:pPr marL="0" indent="0">
              <a:buNone/>
            </a:pPr>
            <a:r>
              <a:rPr lang="en-US" sz="1800" i="1" dirty="0">
                <a:solidFill>
                  <a:schemeClr val="accent2"/>
                </a:solidFill>
              </a:rPr>
              <a:t>We Live the Future Today</a:t>
            </a:r>
            <a:endParaRPr lang="en-US" sz="1800" dirty="0"/>
          </a:p>
        </p:txBody>
      </p:sp>
      <p:sp>
        <p:nvSpPr>
          <p:cNvPr id="7" name="Text 2"/>
          <p:cNvSpPr txBox="1"/>
          <p:nvPr/>
        </p:nvSpPr>
        <p:spPr>
          <a:xfrm>
            <a:off x="640080" y="2560320"/>
            <a:ext cx="5760720" cy="1463040"/>
          </a:xfrm>
          <a:prstGeom prst="rect">
            <a:avLst/>
          </a:prstGeom>
          <a:noFill/>
          <a:ln/>
        </p:spPr>
        <p:txBody>
          <a:bodyPr wrap="square" lIns="0" tIns="0" rIns="0" bIns="0" rtlCol="0" anchor="t"/>
          <a:lstStyle/>
          <a:p>
            <a:pPr marL="0" indent="0">
              <a:buNone/>
            </a:pPr>
            <a:r>
              <a:rPr lang="en-US" sz="4000" b="1" dirty="0">
                <a:solidFill>
                  <a:schemeClr val="bg1"/>
                </a:solidFill>
                <a:latin typeface="Arial" pitchFamily="34" charset="0"/>
                <a:ea typeface="Arial" pitchFamily="34" charset="-122"/>
                <a:cs typeface="Arial" pitchFamily="34" charset="-120"/>
              </a:rPr>
              <a:t>East Port Said National University</a:t>
            </a:r>
            <a:endParaRPr lang="en-US" sz="4000" dirty="0"/>
          </a:p>
        </p:txBody>
      </p:sp>
      <p:sp>
        <p:nvSpPr>
          <p:cNvPr id="8" name="Text 3"/>
          <p:cNvSpPr txBox="1"/>
          <p:nvPr/>
        </p:nvSpPr>
        <p:spPr>
          <a:xfrm>
            <a:off x="640080" y="4114800"/>
            <a:ext cx="5760720" cy="822960"/>
          </a:xfrm>
          <a:prstGeom prst="rect">
            <a:avLst/>
          </a:prstGeom>
          <a:noFill/>
          <a:ln/>
        </p:spPr>
        <p:txBody>
          <a:bodyPr wrap="square" lIns="0" tIns="0" rIns="0" bIns="0" rtlCol="0" anchor="t"/>
          <a:lstStyle/>
          <a:p>
            <a:pPr marL="0" indent="0">
              <a:buNone/>
            </a:pPr>
            <a:r>
              <a:rPr lang="en-US" sz="2000" dirty="0">
                <a:solidFill>
                  <a:srgbClr val="C9D8EC"/>
                </a:solidFill>
              </a:rPr>
              <a:t>Building International Bridges from the Suez Canal</a:t>
            </a:r>
            <a:endParaRPr lang="en-US" sz="2000" dirty="0"/>
          </a:p>
        </p:txBody>
      </p:sp>
      <p:sp>
        <p:nvSpPr>
          <p:cNvPr id="9" name="Text 4"/>
          <p:cNvSpPr txBox="1"/>
          <p:nvPr/>
        </p:nvSpPr>
        <p:spPr>
          <a:xfrm>
            <a:off x="640080" y="5943600"/>
            <a:ext cx="5760720" cy="320040"/>
          </a:xfrm>
          <a:prstGeom prst="rect">
            <a:avLst/>
          </a:prstGeom>
          <a:noFill/>
          <a:ln/>
        </p:spPr>
        <p:txBody>
          <a:bodyPr wrap="square" lIns="0" tIns="0" rIns="0" bIns="0" rtlCol="0" anchor="ctr"/>
          <a:lstStyle/>
          <a:p>
            <a:pPr marL="0" indent="0">
              <a:buNone/>
            </a:pPr>
            <a:r>
              <a:rPr lang="en-US" sz="1200" dirty="0">
                <a:solidFill>
                  <a:srgbClr val="9FB3CC"/>
                </a:solidFill>
              </a:rPr>
              <a:t>International Profile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EPNU at a Glance</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A non-profit national university in Sinai, created under Egypt Vision 2030</a:t>
            </a:r>
            <a:endParaRPr lang="en-US" sz="1500" dirty="0"/>
          </a:p>
        </p:txBody>
      </p:sp>
      <p:sp>
        <p:nvSpPr>
          <p:cNvPr id="5" name="stat-card-0"/>
          <p:cNvSpPr/>
          <p:nvPr/>
        </p:nvSpPr>
        <p:spPr>
          <a:xfrm>
            <a:off x="548640" y="1600200"/>
            <a:ext cx="2567864" cy="1600200"/>
          </a:xfrm>
          <a:prstGeom prst="roundRect">
            <a:avLst>
              <a:gd name="adj" fmla="val 6857"/>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6" name="Text 3"/>
          <p:cNvSpPr txBox="1"/>
          <p:nvPr/>
        </p:nvSpPr>
        <p:spPr>
          <a:xfrm>
            <a:off x="777240" y="1783080"/>
            <a:ext cx="2110664" cy="777240"/>
          </a:xfrm>
          <a:prstGeom prst="rect">
            <a:avLst/>
          </a:prstGeom>
          <a:noFill/>
          <a:ln/>
        </p:spPr>
        <p:txBody>
          <a:bodyPr wrap="square" lIns="0" tIns="0" rIns="0" bIns="0" rtlCol="0" anchor="ctr"/>
          <a:lstStyle/>
          <a:p>
            <a:pPr marL="0" indent="0">
              <a:buNone/>
            </a:pPr>
            <a:r>
              <a:rPr lang="en-US" sz="4000" b="1" dirty="0">
                <a:solidFill>
                  <a:schemeClr val="accent1"/>
                </a:solidFill>
                <a:latin typeface="Arial" pitchFamily="34" charset="0"/>
                <a:ea typeface="Arial" pitchFamily="34" charset="-122"/>
                <a:cs typeface="Arial" pitchFamily="34" charset="-120"/>
              </a:rPr>
              <a:t>7</a:t>
            </a:r>
            <a:endParaRPr lang="en-US" sz="4000" dirty="0"/>
          </a:p>
        </p:txBody>
      </p:sp>
      <p:sp>
        <p:nvSpPr>
          <p:cNvPr id="7" name="Text 4"/>
          <p:cNvSpPr txBox="1"/>
          <p:nvPr/>
        </p:nvSpPr>
        <p:spPr>
          <a:xfrm>
            <a:off x="777240" y="2560320"/>
            <a:ext cx="2110664" cy="457200"/>
          </a:xfrm>
          <a:prstGeom prst="rect">
            <a:avLst/>
          </a:prstGeom>
          <a:noFill/>
          <a:ln/>
        </p:spPr>
        <p:txBody>
          <a:bodyPr wrap="square" lIns="0" tIns="0" rIns="0" bIns="0" rtlCol="0" anchor="ctr"/>
          <a:lstStyle/>
          <a:p>
            <a:pPr marL="0" indent="0">
              <a:buNone/>
            </a:pPr>
            <a:r>
              <a:rPr lang="en-US" sz="1400" dirty="0">
                <a:solidFill>
                  <a:schemeClr val="tx1"/>
                </a:solidFill>
              </a:rPr>
              <a:t>Faculties</a:t>
            </a:r>
            <a:endParaRPr lang="en-US" sz="1400" dirty="0"/>
          </a:p>
        </p:txBody>
      </p:sp>
      <p:sp>
        <p:nvSpPr>
          <p:cNvPr id="8" name="stat-card-1"/>
          <p:cNvSpPr/>
          <p:nvPr/>
        </p:nvSpPr>
        <p:spPr>
          <a:xfrm>
            <a:off x="3390824" y="1600200"/>
            <a:ext cx="2567864" cy="1600200"/>
          </a:xfrm>
          <a:prstGeom prst="roundRect">
            <a:avLst>
              <a:gd name="adj" fmla="val 6857"/>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9" name="Text 6"/>
          <p:cNvSpPr txBox="1"/>
          <p:nvPr/>
        </p:nvSpPr>
        <p:spPr>
          <a:xfrm>
            <a:off x="3619424" y="1783080"/>
            <a:ext cx="2110664" cy="777240"/>
          </a:xfrm>
          <a:prstGeom prst="rect">
            <a:avLst/>
          </a:prstGeom>
          <a:noFill/>
          <a:ln/>
        </p:spPr>
        <p:txBody>
          <a:bodyPr wrap="square" lIns="0" tIns="0" rIns="0" bIns="0" rtlCol="0" anchor="ctr"/>
          <a:lstStyle/>
          <a:p>
            <a:pPr marL="0" indent="0">
              <a:buNone/>
            </a:pPr>
            <a:r>
              <a:rPr lang="en-US" sz="4000" b="1" dirty="0">
                <a:solidFill>
                  <a:schemeClr val="accent1"/>
                </a:solidFill>
                <a:latin typeface="Arial" pitchFamily="34" charset="0"/>
                <a:ea typeface="Arial" pitchFamily="34" charset="-122"/>
                <a:cs typeface="Arial" pitchFamily="34" charset="-120"/>
              </a:rPr>
              <a:t>13+</a:t>
            </a:r>
            <a:endParaRPr lang="en-US" sz="4000" dirty="0"/>
          </a:p>
        </p:txBody>
      </p:sp>
      <p:sp>
        <p:nvSpPr>
          <p:cNvPr id="10" name="Text 7"/>
          <p:cNvSpPr txBox="1"/>
          <p:nvPr/>
        </p:nvSpPr>
        <p:spPr>
          <a:xfrm>
            <a:off x="3619424" y="2560320"/>
            <a:ext cx="2110664" cy="457200"/>
          </a:xfrm>
          <a:prstGeom prst="rect">
            <a:avLst/>
          </a:prstGeom>
          <a:noFill/>
          <a:ln/>
        </p:spPr>
        <p:txBody>
          <a:bodyPr wrap="square" lIns="0" tIns="0" rIns="0" bIns="0" rtlCol="0" anchor="ctr"/>
          <a:lstStyle/>
          <a:p>
            <a:pPr marL="0" indent="0">
              <a:buNone/>
            </a:pPr>
            <a:r>
              <a:rPr lang="en-US" sz="1400" dirty="0">
                <a:solidFill>
                  <a:schemeClr val="tx1"/>
                </a:solidFill>
              </a:rPr>
              <a:t>Academic programs</a:t>
            </a:r>
            <a:endParaRPr lang="en-US" sz="1400" dirty="0"/>
          </a:p>
        </p:txBody>
      </p:sp>
      <p:sp>
        <p:nvSpPr>
          <p:cNvPr id="11" name="stat-card-2"/>
          <p:cNvSpPr/>
          <p:nvPr/>
        </p:nvSpPr>
        <p:spPr>
          <a:xfrm>
            <a:off x="6233008" y="1600200"/>
            <a:ext cx="2567864" cy="1600200"/>
          </a:xfrm>
          <a:prstGeom prst="roundRect">
            <a:avLst>
              <a:gd name="adj" fmla="val 6857"/>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2" name="Text 9"/>
          <p:cNvSpPr txBox="1"/>
          <p:nvPr/>
        </p:nvSpPr>
        <p:spPr>
          <a:xfrm>
            <a:off x="6461608" y="1783080"/>
            <a:ext cx="2110664" cy="777240"/>
          </a:xfrm>
          <a:prstGeom prst="rect">
            <a:avLst/>
          </a:prstGeom>
          <a:noFill/>
          <a:ln/>
        </p:spPr>
        <p:txBody>
          <a:bodyPr wrap="square" lIns="0" tIns="0" rIns="0" bIns="0" rtlCol="0" anchor="ctr"/>
          <a:lstStyle/>
          <a:p>
            <a:pPr marL="0" indent="0">
              <a:buNone/>
            </a:pPr>
            <a:r>
              <a:rPr lang="en-US" sz="4000" b="1" dirty="0">
                <a:solidFill>
                  <a:schemeClr val="accent1"/>
                </a:solidFill>
                <a:latin typeface="Arial" pitchFamily="34" charset="0"/>
                <a:ea typeface="Arial" pitchFamily="34" charset="-122"/>
                <a:cs typeface="Arial" pitchFamily="34" charset="-120"/>
              </a:rPr>
              <a:t>5,200+</a:t>
            </a:r>
            <a:endParaRPr lang="en-US" sz="4000" dirty="0"/>
          </a:p>
        </p:txBody>
      </p:sp>
      <p:sp>
        <p:nvSpPr>
          <p:cNvPr id="13" name="Text 10"/>
          <p:cNvSpPr txBox="1"/>
          <p:nvPr/>
        </p:nvSpPr>
        <p:spPr>
          <a:xfrm>
            <a:off x="6461608" y="2560320"/>
            <a:ext cx="2110664" cy="457200"/>
          </a:xfrm>
          <a:prstGeom prst="rect">
            <a:avLst/>
          </a:prstGeom>
          <a:noFill/>
          <a:ln/>
        </p:spPr>
        <p:txBody>
          <a:bodyPr wrap="square" lIns="0" tIns="0" rIns="0" bIns="0" rtlCol="0" anchor="ctr"/>
          <a:lstStyle/>
          <a:p>
            <a:pPr marL="0" indent="0">
              <a:buNone/>
            </a:pPr>
            <a:r>
              <a:rPr lang="en-US" sz="1400" dirty="0">
                <a:solidFill>
                  <a:schemeClr val="tx1"/>
                </a:solidFill>
              </a:rPr>
              <a:t>Students</a:t>
            </a:r>
            <a:endParaRPr lang="en-US" sz="1400" dirty="0"/>
          </a:p>
        </p:txBody>
      </p:sp>
      <p:sp>
        <p:nvSpPr>
          <p:cNvPr id="14" name="stat-card-3"/>
          <p:cNvSpPr/>
          <p:nvPr/>
        </p:nvSpPr>
        <p:spPr>
          <a:xfrm>
            <a:off x="9075191" y="1600200"/>
            <a:ext cx="2567864" cy="1600200"/>
          </a:xfrm>
          <a:prstGeom prst="roundRect">
            <a:avLst>
              <a:gd name="adj" fmla="val 6857"/>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5" name="Text 12"/>
          <p:cNvSpPr txBox="1"/>
          <p:nvPr/>
        </p:nvSpPr>
        <p:spPr>
          <a:xfrm>
            <a:off x="9303791" y="1783080"/>
            <a:ext cx="2110664" cy="777240"/>
          </a:xfrm>
          <a:prstGeom prst="rect">
            <a:avLst/>
          </a:prstGeom>
          <a:noFill/>
          <a:ln/>
        </p:spPr>
        <p:txBody>
          <a:bodyPr wrap="square" lIns="0" tIns="0" rIns="0" bIns="0" rtlCol="0" anchor="ctr"/>
          <a:lstStyle/>
          <a:p>
            <a:pPr marL="0" indent="0">
              <a:buNone/>
            </a:pPr>
            <a:r>
              <a:rPr lang="en-US" sz="4000" b="1" dirty="0">
                <a:solidFill>
                  <a:schemeClr val="accent1"/>
                </a:solidFill>
                <a:latin typeface="Arial" pitchFamily="34" charset="0"/>
                <a:ea typeface="Arial" pitchFamily="34" charset="-122"/>
                <a:cs typeface="Arial" pitchFamily="34" charset="-120"/>
              </a:rPr>
              <a:t>80+</a:t>
            </a:r>
            <a:endParaRPr lang="en-US" sz="4000" dirty="0"/>
          </a:p>
        </p:txBody>
      </p:sp>
      <p:sp>
        <p:nvSpPr>
          <p:cNvPr id="16" name="Text 13"/>
          <p:cNvSpPr txBox="1"/>
          <p:nvPr/>
        </p:nvSpPr>
        <p:spPr>
          <a:xfrm>
            <a:off x="9303791" y="2560320"/>
            <a:ext cx="2110664" cy="457200"/>
          </a:xfrm>
          <a:prstGeom prst="rect">
            <a:avLst/>
          </a:prstGeom>
          <a:noFill/>
          <a:ln/>
        </p:spPr>
        <p:txBody>
          <a:bodyPr wrap="square" lIns="0" tIns="0" rIns="0" bIns="0" rtlCol="0" anchor="ctr"/>
          <a:lstStyle/>
          <a:p>
            <a:pPr marL="0" indent="0">
              <a:buNone/>
            </a:pPr>
            <a:r>
              <a:rPr lang="en-US" sz="1400" dirty="0">
                <a:solidFill>
                  <a:schemeClr val="tx1"/>
                </a:solidFill>
              </a:rPr>
              <a:t>International publications</a:t>
            </a:r>
            <a:endParaRPr lang="en-US" sz="1400" dirty="0"/>
          </a:p>
        </p:txBody>
      </p:sp>
      <p:pic>
        <p:nvPicPr>
          <p:cNvPr id="17" name="campus-photo" descr="EPNU campus building"/>
          <p:cNvPicPr>
            <a:picLocks noChangeAspect="1"/>
          </p:cNvPicPr>
          <p:nvPr/>
        </p:nvPicPr>
        <p:blipFill>
          <a:blip r:embed="rId3"/>
          <a:stretch>
            <a:fillRect/>
          </a:stretch>
        </p:blipFill>
        <p:spPr>
          <a:xfrm>
            <a:off x="548640" y="3520440"/>
            <a:ext cx="4754880" cy="2651760"/>
          </a:xfrm>
          <a:prstGeom prst="rect">
            <a:avLst/>
          </a:prstGeom>
        </p:spPr>
      </p:pic>
      <p:sp>
        <p:nvSpPr>
          <p:cNvPr id="18" name="glance-icon-0-circle"/>
          <p:cNvSpPr/>
          <p:nvPr/>
        </p:nvSpPr>
        <p:spPr>
          <a:xfrm>
            <a:off x="5669280" y="3611880"/>
            <a:ext cx="566928" cy="566928"/>
          </a:xfrm>
          <a:prstGeom prst="ellipse">
            <a:avLst/>
          </a:prstGeom>
          <a:solidFill>
            <a:schemeClr val="accent1"/>
          </a:solidFill>
          <a:ln/>
        </p:spPr>
        <p:txBody>
          <a:bodyPr/>
          <a:lstStyle/>
          <a:p>
            <a:endParaRPr lang="en-US"/>
          </a:p>
        </p:txBody>
      </p:sp>
      <p:pic>
        <p:nvPicPr>
          <p:cNvPr id="19" name="glance-icon-0" descr="preencoded.png"/>
          <p:cNvPicPr>
            <a:picLocks noChangeAspect="1"/>
          </p:cNvPicPr>
          <p:nvPr/>
        </p:nvPicPr>
        <p:blipFill>
          <a:blip r:embed="rId4"/>
          <a:stretch>
            <a:fillRect/>
          </a:stretch>
        </p:blipFill>
        <p:spPr>
          <a:xfrm>
            <a:off x="5816681" y="3759281"/>
            <a:ext cx="272125" cy="272125"/>
          </a:xfrm>
          <a:prstGeom prst="rect">
            <a:avLst/>
          </a:prstGeom>
        </p:spPr>
      </p:pic>
      <p:sp>
        <p:nvSpPr>
          <p:cNvPr id="20" name="Text 15"/>
          <p:cNvSpPr txBox="1"/>
          <p:nvPr/>
        </p:nvSpPr>
        <p:spPr>
          <a:xfrm>
            <a:off x="6400800" y="3557016"/>
            <a:ext cx="5212080" cy="731520"/>
          </a:xfrm>
          <a:prstGeom prst="rect">
            <a:avLst/>
          </a:prstGeom>
          <a:noFill/>
          <a:ln/>
        </p:spPr>
        <p:txBody>
          <a:bodyPr wrap="square" lIns="0" tIns="0" rIns="0" bIns="0" rtlCol="0" anchor="ctr"/>
          <a:lstStyle/>
          <a:p>
            <a:pPr marL="0" indent="0">
              <a:buNone/>
            </a:pPr>
            <a:r>
              <a:rPr lang="en-US" sz="1600" b="1" dirty="0">
                <a:solidFill>
                  <a:schemeClr val="tx2"/>
                </a:solidFill>
              </a:rPr>
              <a:t>Non-profit national (Ahliya) university</a:t>
            </a:r>
            <a:endParaRPr lang="en-US" sz="1600" dirty="0"/>
          </a:p>
          <a:p>
            <a:pPr marL="0" indent="0">
              <a:buNone/>
            </a:pPr>
            <a:r>
              <a:rPr lang="en-US" sz="1300" dirty="0">
                <a:solidFill>
                  <a:schemeClr val="accent5"/>
                </a:solidFill>
              </a:rPr>
              <a:t>Part of Egypt's new generation of national universities</a:t>
            </a:r>
            <a:endParaRPr lang="en-US" sz="1600" dirty="0"/>
          </a:p>
        </p:txBody>
      </p:sp>
      <p:sp>
        <p:nvSpPr>
          <p:cNvPr id="21" name="glance-icon-1-circle"/>
          <p:cNvSpPr/>
          <p:nvPr/>
        </p:nvSpPr>
        <p:spPr>
          <a:xfrm>
            <a:off x="5669280" y="4480560"/>
            <a:ext cx="566928" cy="566928"/>
          </a:xfrm>
          <a:prstGeom prst="ellipse">
            <a:avLst/>
          </a:prstGeom>
          <a:solidFill>
            <a:schemeClr val="accent1"/>
          </a:solidFill>
          <a:ln/>
        </p:spPr>
        <p:txBody>
          <a:bodyPr/>
          <a:lstStyle/>
          <a:p>
            <a:endParaRPr lang="en-US"/>
          </a:p>
        </p:txBody>
      </p:sp>
      <p:pic>
        <p:nvPicPr>
          <p:cNvPr id="22" name="glance-icon-1" descr="preencoded.png"/>
          <p:cNvPicPr>
            <a:picLocks noChangeAspect="1"/>
          </p:cNvPicPr>
          <p:nvPr/>
        </p:nvPicPr>
        <p:blipFill>
          <a:blip r:embed="rId5"/>
          <a:stretch>
            <a:fillRect/>
          </a:stretch>
        </p:blipFill>
        <p:spPr>
          <a:xfrm>
            <a:off x="5816681" y="4627961"/>
            <a:ext cx="272125" cy="272125"/>
          </a:xfrm>
          <a:prstGeom prst="rect">
            <a:avLst/>
          </a:prstGeom>
        </p:spPr>
      </p:pic>
      <p:sp>
        <p:nvSpPr>
          <p:cNvPr id="23" name="Text 17"/>
          <p:cNvSpPr txBox="1"/>
          <p:nvPr/>
        </p:nvSpPr>
        <p:spPr>
          <a:xfrm>
            <a:off x="6400800" y="4425696"/>
            <a:ext cx="5212080" cy="731520"/>
          </a:xfrm>
          <a:prstGeom prst="rect">
            <a:avLst/>
          </a:prstGeom>
          <a:noFill/>
          <a:ln/>
        </p:spPr>
        <p:txBody>
          <a:bodyPr wrap="square" lIns="0" tIns="0" rIns="0" bIns="0" rtlCol="0" anchor="ctr"/>
          <a:lstStyle/>
          <a:p>
            <a:pPr marL="0" indent="0">
              <a:buNone/>
            </a:pPr>
            <a:r>
              <a:rPr lang="en-US" sz="1600" b="1" dirty="0">
                <a:solidFill>
                  <a:schemeClr val="tx2"/>
                </a:solidFill>
              </a:rPr>
              <a:t>East Port Said, Sinai</a:t>
            </a:r>
            <a:endParaRPr lang="en-US" sz="1600" dirty="0"/>
          </a:p>
          <a:p>
            <a:pPr marL="0" indent="0">
              <a:buNone/>
            </a:pPr>
            <a:r>
              <a:rPr lang="en-US" sz="1300" dirty="0">
                <a:solidFill>
                  <a:schemeClr val="accent5"/>
                </a:solidFill>
              </a:rPr>
              <a:t>A 44-feddan campus on the Suez Canal corridor, driving regional development</a:t>
            </a:r>
            <a:endParaRPr lang="en-US" sz="1600" dirty="0"/>
          </a:p>
        </p:txBody>
      </p:sp>
      <p:sp>
        <p:nvSpPr>
          <p:cNvPr id="24" name="glance-icon-2-circle"/>
          <p:cNvSpPr/>
          <p:nvPr/>
        </p:nvSpPr>
        <p:spPr>
          <a:xfrm>
            <a:off x="5669280" y="5349240"/>
            <a:ext cx="566928" cy="566928"/>
          </a:xfrm>
          <a:prstGeom prst="ellipse">
            <a:avLst/>
          </a:prstGeom>
          <a:solidFill>
            <a:schemeClr val="accent1"/>
          </a:solidFill>
          <a:ln/>
        </p:spPr>
        <p:txBody>
          <a:bodyPr/>
          <a:lstStyle/>
          <a:p>
            <a:endParaRPr lang="en-US"/>
          </a:p>
        </p:txBody>
      </p:sp>
      <p:pic>
        <p:nvPicPr>
          <p:cNvPr id="25" name="glance-icon-2" descr="preencoded.png"/>
          <p:cNvPicPr>
            <a:picLocks noChangeAspect="1"/>
          </p:cNvPicPr>
          <p:nvPr/>
        </p:nvPicPr>
        <p:blipFill>
          <a:blip r:embed="rId6"/>
          <a:stretch>
            <a:fillRect/>
          </a:stretch>
        </p:blipFill>
        <p:spPr>
          <a:xfrm>
            <a:off x="5816681" y="5496641"/>
            <a:ext cx="272125" cy="272125"/>
          </a:xfrm>
          <a:prstGeom prst="rect">
            <a:avLst/>
          </a:prstGeom>
        </p:spPr>
      </p:pic>
      <p:sp>
        <p:nvSpPr>
          <p:cNvPr id="26" name="Text 19"/>
          <p:cNvSpPr txBox="1"/>
          <p:nvPr/>
        </p:nvSpPr>
        <p:spPr>
          <a:xfrm>
            <a:off x="6400800" y="5294376"/>
            <a:ext cx="5212080" cy="731520"/>
          </a:xfrm>
          <a:prstGeom prst="rect">
            <a:avLst/>
          </a:prstGeom>
          <a:noFill/>
          <a:ln/>
        </p:spPr>
        <p:txBody>
          <a:bodyPr wrap="square" lIns="0" tIns="0" rIns="0" bIns="0" rtlCol="0" anchor="ctr"/>
          <a:lstStyle/>
          <a:p>
            <a:pPr marL="0" indent="0">
              <a:buNone/>
            </a:pPr>
            <a:r>
              <a:rPr lang="en-US" sz="1600" b="1" dirty="0">
                <a:solidFill>
                  <a:schemeClr val="tx2"/>
                </a:solidFill>
              </a:rPr>
              <a:t>Aligned with Egypt Vision 2030</a:t>
            </a:r>
            <a:endParaRPr lang="en-US" sz="1600" dirty="0"/>
          </a:p>
          <a:p>
            <a:pPr marL="0" indent="0">
              <a:buNone/>
            </a:pPr>
            <a:r>
              <a:rPr lang="en-US" sz="1300" dirty="0">
                <a:solidFill>
                  <a:schemeClr val="accent5"/>
                </a:solidFill>
              </a:rPr>
              <a:t>A "fourth-generation" university focused on research and innovation</a:t>
            </a:r>
            <a:endParaRPr lang="en-US" sz="1600" dirty="0"/>
          </a:p>
        </p:txBody>
      </p:sp>
      <p:sp>
        <p:nvSpPr>
          <p:cNvPr id="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Why Partner with EPNU</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A new-generation university building its international partnerships</a:t>
            </a:r>
            <a:endParaRPr lang="en-US" sz="1500" dirty="0"/>
          </a:p>
        </p:txBody>
      </p:sp>
      <p:sp>
        <p:nvSpPr>
          <p:cNvPr id="5" name="why-card-0"/>
          <p:cNvSpPr/>
          <p:nvPr/>
        </p:nvSpPr>
        <p:spPr>
          <a:xfrm>
            <a:off x="548640" y="1600200"/>
            <a:ext cx="5410048" cy="2125980"/>
          </a:xfrm>
          <a:prstGeom prst="roundRect">
            <a:avLst>
              <a:gd name="adj" fmla="val 5161"/>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6" name="why-icon-0-circle"/>
          <p:cNvSpPr/>
          <p:nvPr/>
        </p:nvSpPr>
        <p:spPr>
          <a:xfrm>
            <a:off x="868680" y="1920240"/>
            <a:ext cx="731520" cy="731520"/>
          </a:xfrm>
          <a:prstGeom prst="ellipse">
            <a:avLst/>
          </a:prstGeom>
          <a:solidFill>
            <a:schemeClr val="accent1"/>
          </a:solidFill>
          <a:ln/>
        </p:spPr>
        <p:txBody>
          <a:bodyPr/>
          <a:lstStyle/>
          <a:p>
            <a:endParaRPr lang="en-US"/>
          </a:p>
        </p:txBody>
      </p:sp>
      <p:pic>
        <p:nvPicPr>
          <p:cNvPr id="7" name="why-icon-0" descr="preencoded.png"/>
          <p:cNvPicPr>
            <a:picLocks noChangeAspect="1"/>
          </p:cNvPicPr>
          <p:nvPr/>
        </p:nvPicPr>
        <p:blipFill>
          <a:blip r:embed="rId3"/>
          <a:stretch>
            <a:fillRect/>
          </a:stretch>
        </p:blipFill>
        <p:spPr>
          <a:xfrm>
            <a:off x="1058875" y="2110435"/>
            <a:ext cx="351130" cy="351130"/>
          </a:xfrm>
          <a:prstGeom prst="rect">
            <a:avLst/>
          </a:prstGeom>
        </p:spPr>
      </p:pic>
      <p:sp>
        <p:nvSpPr>
          <p:cNvPr id="8" name="Text 4"/>
          <p:cNvSpPr txBox="1"/>
          <p:nvPr/>
        </p:nvSpPr>
        <p:spPr>
          <a:xfrm>
            <a:off x="1783080" y="1947672"/>
            <a:ext cx="3901288" cy="640080"/>
          </a:xfrm>
          <a:prstGeom prst="rect">
            <a:avLst/>
          </a:prstGeom>
          <a:noFill/>
          <a:ln/>
        </p:spPr>
        <p:txBody>
          <a:bodyPr wrap="square" lIns="0" tIns="0" rIns="0" bIns="0" rtlCol="0" anchor="ctr"/>
          <a:lstStyle/>
          <a:p>
            <a:pPr marL="0" indent="0">
              <a:buNone/>
            </a:pPr>
            <a:r>
              <a:rPr lang="en-US" sz="2000" b="1" dirty="0">
                <a:solidFill>
                  <a:schemeClr val="tx2"/>
                </a:solidFill>
                <a:latin typeface="Arial" pitchFamily="34" charset="0"/>
                <a:ea typeface="Arial" pitchFamily="34" charset="-122"/>
                <a:cs typeface="Arial" pitchFamily="34" charset="-120"/>
              </a:rPr>
              <a:t>Strategic location</a:t>
            </a:r>
            <a:endParaRPr lang="en-US" sz="2000" dirty="0"/>
          </a:p>
        </p:txBody>
      </p:sp>
      <p:sp>
        <p:nvSpPr>
          <p:cNvPr id="9" name="Text 5"/>
          <p:cNvSpPr txBox="1"/>
          <p:nvPr/>
        </p:nvSpPr>
        <p:spPr>
          <a:xfrm>
            <a:off x="1783080" y="2624328"/>
            <a:ext cx="3901288" cy="1005840"/>
          </a:xfrm>
          <a:prstGeom prst="rect">
            <a:avLst/>
          </a:prstGeom>
          <a:noFill/>
          <a:ln/>
        </p:spPr>
        <p:txBody>
          <a:bodyPr wrap="square" lIns="0" tIns="0" rIns="0" bIns="0" rtlCol="0" anchor="t"/>
          <a:lstStyle/>
          <a:p>
            <a:pPr marL="0" indent="0">
              <a:buNone/>
            </a:pPr>
            <a:r>
              <a:rPr lang="en-US" sz="1500" dirty="0">
                <a:solidFill>
                  <a:schemeClr val="tx1"/>
                </a:solidFill>
              </a:rPr>
              <a:t>East Port Said on the Suez Canal, where Africa meets Asia, at the heart of Sinai's development.</a:t>
            </a:r>
            <a:endParaRPr lang="en-US" sz="1500" dirty="0"/>
          </a:p>
        </p:txBody>
      </p:sp>
      <p:sp>
        <p:nvSpPr>
          <p:cNvPr id="10" name="why-card-1"/>
          <p:cNvSpPr/>
          <p:nvPr/>
        </p:nvSpPr>
        <p:spPr>
          <a:xfrm>
            <a:off x="6233008" y="1600200"/>
            <a:ext cx="5410048" cy="2125980"/>
          </a:xfrm>
          <a:prstGeom prst="roundRect">
            <a:avLst>
              <a:gd name="adj" fmla="val 5161"/>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1" name="why-icon-1-circle"/>
          <p:cNvSpPr/>
          <p:nvPr/>
        </p:nvSpPr>
        <p:spPr>
          <a:xfrm>
            <a:off x="6553048" y="1920240"/>
            <a:ext cx="731520" cy="731520"/>
          </a:xfrm>
          <a:prstGeom prst="ellipse">
            <a:avLst/>
          </a:prstGeom>
          <a:solidFill>
            <a:schemeClr val="accent1"/>
          </a:solidFill>
          <a:ln/>
        </p:spPr>
        <p:txBody>
          <a:bodyPr/>
          <a:lstStyle/>
          <a:p>
            <a:endParaRPr lang="en-US"/>
          </a:p>
        </p:txBody>
      </p:sp>
      <p:pic>
        <p:nvPicPr>
          <p:cNvPr id="12" name="why-icon-1" descr="preencoded.png"/>
          <p:cNvPicPr>
            <a:picLocks noChangeAspect="1"/>
          </p:cNvPicPr>
          <p:nvPr/>
        </p:nvPicPr>
        <p:blipFill>
          <a:blip r:embed="rId4"/>
          <a:stretch>
            <a:fillRect/>
          </a:stretch>
        </p:blipFill>
        <p:spPr>
          <a:xfrm>
            <a:off x="6743243" y="2110435"/>
            <a:ext cx="351130" cy="351130"/>
          </a:xfrm>
          <a:prstGeom prst="rect">
            <a:avLst/>
          </a:prstGeom>
        </p:spPr>
      </p:pic>
      <p:sp>
        <p:nvSpPr>
          <p:cNvPr id="13" name="Text 8"/>
          <p:cNvSpPr txBox="1"/>
          <p:nvPr/>
        </p:nvSpPr>
        <p:spPr>
          <a:xfrm>
            <a:off x="7467448" y="1947672"/>
            <a:ext cx="3901288" cy="640080"/>
          </a:xfrm>
          <a:prstGeom prst="rect">
            <a:avLst/>
          </a:prstGeom>
          <a:noFill/>
          <a:ln/>
        </p:spPr>
        <p:txBody>
          <a:bodyPr wrap="square" lIns="0" tIns="0" rIns="0" bIns="0" rtlCol="0" anchor="ctr"/>
          <a:lstStyle/>
          <a:p>
            <a:pPr marL="0" indent="0">
              <a:buNone/>
            </a:pPr>
            <a:r>
              <a:rPr lang="en-US" sz="2000" b="1" dirty="0">
                <a:solidFill>
                  <a:schemeClr val="tx2"/>
                </a:solidFill>
                <a:latin typeface="Arial" pitchFamily="34" charset="0"/>
                <a:ea typeface="Arial" pitchFamily="34" charset="-122"/>
                <a:cs typeface="Arial" pitchFamily="34" charset="-120"/>
              </a:rPr>
              <a:t>Global academic standards</a:t>
            </a:r>
            <a:endParaRPr lang="en-US" sz="2000" dirty="0"/>
          </a:p>
        </p:txBody>
      </p:sp>
      <p:sp>
        <p:nvSpPr>
          <p:cNvPr id="14" name="Text 9"/>
          <p:cNvSpPr txBox="1"/>
          <p:nvPr/>
        </p:nvSpPr>
        <p:spPr>
          <a:xfrm>
            <a:off x="7467448" y="2624328"/>
            <a:ext cx="3901288" cy="1005840"/>
          </a:xfrm>
          <a:prstGeom prst="rect">
            <a:avLst/>
          </a:prstGeom>
          <a:noFill/>
          <a:ln/>
        </p:spPr>
        <p:txBody>
          <a:bodyPr wrap="square" lIns="0" tIns="0" rIns="0" bIns="0" rtlCol="0" anchor="t"/>
          <a:lstStyle/>
          <a:p>
            <a:pPr marL="0" indent="0">
              <a:buNone/>
            </a:pPr>
            <a:r>
              <a:rPr lang="en-US" sz="1500" dirty="0">
                <a:solidFill>
                  <a:schemeClr val="tx1"/>
                </a:solidFill>
              </a:rPr>
              <a:t>English-medium instruction, a credit-hour system with ECTS equivalence, and bilingual graduation certificates.</a:t>
            </a:r>
            <a:endParaRPr lang="en-US" sz="1500" dirty="0"/>
          </a:p>
        </p:txBody>
      </p:sp>
      <p:sp>
        <p:nvSpPr>
          <p:cNvPr id="15" name="why-card-2"/>
          <p:cNvSpPr/>
          <p:nvPr/>
        </p:nvSpPr>
        <p:spPr>
          <a:xfrm>
            <a:off x="548640" y="4000500"/>
            <a:ext cx="5410048" cy="2125980"/>
          </a:xfrm>
          <a:prstGeom prst="roundRect">
            <a:avLst>
              <a:gd name="adj" fmla="val 5161"/>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6" name="why-icon-2-circle"/>
          <p:cNvSpPr/>
          <p:nvPr/>
        </p:nvSpPr>
        <p:spPr>
          <a:xfrm>
            <a:off x="868680" y="4320540"/>
            <a:ext cx="731520" cy="731520"/>
          </a:xfrm>
          <a:prstGeom prst="ellipse">
            <a:avLst/>
          </a:prstGeom>
          <a:solidFill>
            <a:schemeClr val="accent1"/>
          </a:solidFill>
          <a:ln/>
        </p:spPr>
        <p:txBody>
          <a:bodyPr/>
          <a:lstStyle/>
          <a:p>
            <a:endParaRPr lang="en-US"/>
          </a:p>
        </p:txBody>
      </p:sp>
      <p:pic>
        <p:nvPicPr>
          <p:cNvPr id="17" name="why-icon-2" descr="preencoded.png"/>
          <p:cNvPicPr>
            <a:picLocks noChangeAspect="1"/>
          </p:cNvPicPr>
          <p:nvPr/>
        </p:nvPicPr>
        <p:blipFill>
          <a:blip r:embed="rId5"/>
          <a:stretch>
            <a:fillRect/>
          </a:stretch>
        </p:blipFill>
        <p:spPr>
          <a:xfrm>
            <a:off x="1058875" y="4510735"/>
            <a:ext cx="351130" cy="351130"/>
          </a:xfrm>
          <a:prstGeom prst="rect">
            <a:avLst/>
          </a:prstGeom>
        </p:spPr>
      </p:pic>
      <p:sp>
        <p:nvSpPr>
          <p:cNvPr id="18" name="Text 12"/>
          <p:cNvSpPr txBox="1"/>
          <p:nvPr/>
        </p:nvSpPr>
        <p:spPr>
          <a:xfrm>
            <a:off x="1783080" y="4347972"/>
            <a:ext cx="3901288" cy="640080"/>
          </a:xfrm>
          <a:prstGeom prst="rect">
            <a:avLst/>
          </a:prstGeom>
          <a:noFill/>
          <a:ln/>
        </p:spPr>
        <p:txBody>
          <a:bodyPr wrap="square" lIns="0" tIns="0" rIns="0" bIns="0" rtlCol="0" anchor="ctr"/>
          <a:lstStyle/>
          <a:p>
            <a:pPr marL="0" indent="0">
              <a:buNone/>
            </a:pPr>
            <a:r>
              <a:rPr lang="en-US" sz="2000" b="1" dirty="0">
                <a:solidFill>
                  <a:schemeClr val="tx2"/>
                </a:solidFill>
                <a:latin typeface="Arial" pitchFamily="34" charset="0"/>
                <a:ea typeface="Arial" pitchFamily="34" charset="-122"/>
                <a:cs typeface="Arial" pitchFamily="34" charset="-120"/>
              </a:rPr>
              <a:t>Future-focused programs</a:t>
            </a:r>
            <a:endParaRPr lang="en-US" sz="2000" dirty="0"/>
          </a:p>
        </p:txBody>
      </p:sp>
      <p:sp>
        <p:nvSpPr>
          <p:cNvPr id="19" name="Text 13"/>
          <p:cNvSpPr txBox="1"/>
          <p:nvPr/>
        </p:nvSpPr>
        <p:spPr>
          <a:xfrm>
            <a:off x="1783080" y="5024628"/>
            <a:ext cx="3901288" cy="1005840"/>
          </a:xfrm>
          <a:prstGeom prst="rect">
            <a:avLst/>
          </a:prstGeom>
          <a:noFill/>
          <a:ln/>
        </p:spPr>
        <p:txBody>
          <a:bodyPr wrap="square" lIns="0" tIns="0" rIns="0" bIns="0" rtlCol="0" anchor="t"/>
          <a:lstStyle/>
          <a:p>
            <a:pPr marL="0" indent="0">
              <a:buNone/>
            </a:pPr>
            <a:r>
              <a:rPr lang="en-US" sz="1500" dirty="0">
                <a:solidFill>
                  <a:schemeClr val="tx1"/>
                </a:solidFill>
              </a:rPr>
              <a:t>Artificial intelligence across faculties, a Huawei ICT Academy, and modern health sciences and clinical pharmacy.</a:t>
            </a:r>
            <a:endParaRPr lang="en-US" sz="1500" dirty="0"/>
          </a:p>
        </p:txBody>
      </p:sp>
      <p:sp>
        <p:nvSpPr>
          <p:cNvPr id="20" name="why-card-3"/>
          <p:cNvSpPr/>
          <p:nvPr/>
        </p:nvSpPr>
        <p:spPr>
          <a:xfrm>
            <a:off x="6233008" y="4000500"/>
            <a:ext cx="5410048" cy="2125980"/>
          </a:xfrm>
          <a:prstGeom prst="roundRect">
            <a:avLst>
              <a:gd name="adj" fmla="val 5161"/>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1" name="why-icon-3-circle"/>
          <p:cNvSpPr/>
          <p:nvPr/>
        </p:nvSpPr>
        <p:spPr>
          <a:xfrm>
            <a:off x="6553048" y="4320540"/>
            <a:ext cx="731520" cy="731520"/>
          </a:xfrm>
          <a:prstGeom prst="ellipse">
            <a:avLst/>
          </a:prstGeom>
          <a:solidFill>
            <a:schemeClr val="accent1"/>
          </a:solidFill>
          <a:ln/>
        </p:spPr>
        <p:txBody>
          <a:bodyPr/>
          <a:lstStyle/>
          <a:p>
            <a:endParaRPr lang="en-US"/>
          </a:p>
        </p:txBody>
      </p:sp>
      <p:pic>
        <p:nvPicPr>
          <p:cNvPr id="22" name="why-icon-3" descr="preencoded.png"/>
          <p:cNvPicPr>
            <a:picLocks noChangeAspect="1"/>
          </p:cNvPicPr>
          <p:nvPr/>
        </p:nvPicPr>
        <p:blipFill>
          <a:blip r:embed="rId6"/>
          <a:stretch>
            <a:fillRect/>
          </a:stretch>
        </p:blipFill>
        <p:spPr>
          <a:xfrm>
            <a:off x="6743243" y="4510735"/>
            <a:ext cx="351130" cy="351130"/>
          </a:xfrm>
          <a:prstGeom prst="rect">
            <a:avLst/>
          </a:prstGeom>
        </p:spPr>
      </p:pic>
      <p:sp>
        <p:nvSpPr>
          <p:cNvPr id="23" name="Text 16"/>
          <p:cNvSpPr txBox="1"/>
          <p:nvPr/>
        </p:nvSpPr>
        <p:spPr>
          <a:xfrm>
            <a:off x="7467448" y="4347972"/>
            <a:ext cx="3901288" cy="640080"/>
          </a:xfrm>
          <a:prstGeom prst="rect">
            <a:avLst/>
          </a:prstGeom>
          <a:noFill/>
          <a:ln/>
        </p:spPr>
        <p:txBody>
          <a:bodyPr wrap="square" lIns="0" tIns="0" rIns="0" bIns="0" rtlCol="0" anchor="ctr"/>
          <a:lstStyle/>
          <a:p>
            <a:pPr marL="0" indent="0">
              <a:buNone/>
            </a:pPr>
            <a:r>
              <a:rPr lang="en-US" sz="2000" b="1" dirty="0">
                <a:solidFill>
                  <a:schemeClr val="tx2"/>
                </a:solidFill>
                <a:latin typeface="Arial" pitchFamily="34" charset="0"/>
                <a:ea typeface="Arial" pitchFamily="34" charset="-122"/>
                <a:cs typeface="Arial" pitchFamily="34" charset="-120"/>
              </a:rPr>
              <a:t>Strong national backing</a:t>
            </a:r>
            <a:endParaRPr lang="en-US" sz="2000" dirty="0"/>
          </a:p>
        </p:txBody>
      </p:sp>
      <p:sp>
        <p:nvSpPr>
          <p:cNvPr id="24" name="Text 17"/>
          <p:cNvSpPr txBox="1"/>
          <p:nvPr/>
        </p:nvSpPr>
        <p:spPr>
          <a:xfrm>
            <a:off x="7467448" y="5024628"/>
            <a:ext cx="3901288" cy="1005840"/>
          </a:xfrm>
          <a:prstGeom prst="rect">
            <a:avLst/>
          </a:prstGeom>
          <a:noFill/>
          <a:ln/>
        </p:spPr>
        <p:txBody>
          <a:bodyPr wrap="square" lIns="0" tIns="0" rIns="0" bIns="0" rtlCol="0" anchor="t"/>
          <a:lstStyle/>
          <a:p>
            <a:pPr marL="0" indent="0">
              <a:buNone/>
            </a:pPr>
            <a:r>
              <a:rPr lang="en-US" sz="1500" dirty="0">
                <a:solidFill>
                  <a:schemeClr val="tx1"/>
                </a:solidFill>
              </a:rPr>
              <a:t>A Board chaired by a former Prime Minister, and a national mandate to expand global partnerships.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seal-watermark" descr="preencoded.png"/>
          <p:cNvPicPr>
            <a:picLocks noChangeAspect="1"/>
          </p:cNvPicPr>
          <p:nvPr/>
        </p:nvPicPr>
        <p:blipFill>
          <a:blip r:embed="rId3">
            <a:alphaModFix amt="12000"/>
          </a:blip>
          <a:stretch>
            <a:fillRect/>
          </a:stretch>
        </p:blipFill>
        <p:spPr>
          <a:xfrm>
            <a:off x="8001000" y="1828800"/>
            <a:ext cx="3931920" cy="3931920"/>
          </a:xfrm>
          <a:prstGeom prst="rect">
            <a:avLst/>
          </a:prstGeom>
        </p:spPr>
      </p:pic>
      <p:sp>
        <p:nvSpPr>
          <p:cNvPr id="4" name="section-number"/>
          <p:cNvSpPr txBox="1"/>
          <p:nvPr/>
        </p:nvSpPr>
        <p:spPr>
          <a:xfrm>
            <a:off x="1097280" y="1874520"/>
            <a:ext cx="2743200" cy="822960"/>
          </a:xfrm>
          <a:prstGeom prst="rect">
            <a:avLst/>
          </a:prstGeom>
          <a:noFill/>
          <a:ln/>
        </p:spPr>
        <p:txBody>
          <a:bodyPr wrap="square" lIns="0" tIns="0" rIns="0" bIns="0" rtlCol="0" anchor="ctr"/>
          <a:lstStyle/>
          <a:p>
            <a:pPr marL="0" indent="0">
              <a:buNone/>
            </a:pPr>
            <a:r>
              <a:rPr lang="en-US" sz="5400" b="1" dirty="0">
                <a:solidFill>
                  <a:schemeClr val="accent1"/>
                </a:solidFill>
                <a:latin typeface="Arial" pitchFamily="34" charset="0"/>
                <a:ea typeface="Arial" pitchFamily="34" charset="-122"/>
                <a:cs typeface="Arial" pitchFamily="34" charset="-120"/>
              </a:rPr>
              <a:t>01</a:t>
            </a:r>
            <a:endParaRPr lang="en-US" sz="5400" dirty="0"/>
          </a:p>
        </p:txBody>
      </p:sp>
      <p:sp>
        <p:nvSpPr>
          <p:cNvPr id="5" name="Text 0"/>
          <p:cNvSpPr>
            <a:spLocks noGrp="1"/>
          </p:cNvSpPr>
          <p:nvPr>
            <p:ph type="title" idx="101" hasCustomPrompt="1"/>
          </p:nvPr>
        </p:nvSpPr>
        <p:spPr>
          <a:xfrm>
            <a:off x="1097280" y="2788920"/>
            <a:ext cx="8686800" cy="914400"/>
          </a:xfrm>
          <a:prstGeom prst="rect">
            <a:avLst/>
          </a:prstGeom>
          <a:noFill/>
          <a:ln/>
        </p:spPr>
        <p:txBody>
          <a:bodyPr wrap="square" lIns="0" tIns="0" rIns="0" bIns="0" rtlCol="0" anchor="t"/>
          <a:lstStyle/>
          <a:p>
            <a:pPr marL="0" indent="0" algn="l">
              <a:buNone/>
            </a:pPr>
            <a:r>
              <a:rPr lang="en-US" sz="4400" b="1" dirty="0">
                <a:solidFill>
                  <a:schemeClr val="bg1"/>
                </a:solidFill>
                <a:latin typeface="Arial" pitchFamily="34" charset="0"/>
                <a:ea typeface="Arial" pitchFamily="34" charset="-122"/>
                <a:cs typeface="Arial" pitchFamily="34" charset="-120"/>
              </a:rPr>
              <a:t>Leadership &amp; Governance</a:t>
            </a:r>
            <a:endParaRPr lang="en-US" sz="4400" dirty="0"/>
          </a:p>
        </p:txBody>
      </p:sp>
      <p:sp>
        <p:nvSpPr>
          <p:cNvPr id="6" name="Text 0"/>
          <p:cNvSpPr>
            <a:spLocks noGrp="1"/>
          </p:cNvSpPr>
          <p:nvPr>
            <p:ph type="body" idx="102" hasCustomPrompt="1"/>
          </p:nvPr>
        </p:nvSpPr>
        <p:spPr>
          <a:xfrm>
            <a:off x="1097280" y="3794760"/>
            <a:ext cx="6675120" cy="731520"/>
          </a:xfrm>
          <a:prstGeom prst="rect">
            <a:avLst/>
          </a:prstGeom>
          <a:noFill/>
          <a:ln/>
        </p:spPr>
        <p:txBody>
          <a:bodyPr wrap="square" lIns="0" tIns="0" rIns="0" bIns="0" rtlCol="0" anchor="t"/>
          <a:lstStyle/>
          <a:p>
            <a:pPr marL="0" indent="0" algn="l">
              <a:buNone/>
            </a:pPr>
            <a:r>
              <a:rPr lang="en-US" sz="1800" dirty="0">
                <a:solidFill>
                  <a:schemeClr val="accent2"/>
                </a:solidFill>
              </a:rPr>
              <a:t>Experienced leadership with national reach and a global outlook</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C"/>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Leadership with a Global Outlook</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Prof. Dr. Atef Alam El-Din, President of East Port Said National University</a:t>
            </a:r>
            <a:endParaRPr lang="en-US" sz="1500" dirty="0"/>
          </a:p>
        </p:txBody>
      </p:sp>
      <p:pic>
        <p:nvPicPr>
          <p:cNvPr id="5" name="president-photo" descr="Prof. Dr. Atef Alam El-Din, University President"/>
          <p:cNvPicPr>
            <a:picLocks noChangeAspect="1"/>
          </p:cNvPicPr>
          <p:nvPr/>
        </p:nvPicPr>
        <p:blipFill>
          <a:blip r:embed="rId3"/>
          <a:stretch>
            <a:fillRect/>
          </a:stretch>
        </p:blipFill>
        <p:spPr>
          <a:xfrm>
            <a:off x="548640" y="1600200"/>
            <a:ext cx="3291840" cy="4526280"/>
          </a:xfrm>
          <a:prstGeom prst="rect">
            <a:avLst/>
          </a:prstGeom>
        </p:spPr>
      </p:pic>
      <p:sp>
        <p:nvSpPr>
          <p:cNvPr id="6" name="pres-icon-0-circle"/>
          <p:cNvSpPr/>
          <p:nvPr/>
        </p:nvSpPr>
        <p:spPr>
          <a:xfrm>
            <a:off x="4251960" y="1691640"/>
            <a:ext cx="640080" cy="640080"/>
          </a:xfrm>
          <a:prstGeom prst="ellipse">
            <a:avLst/>
          </a:prstGeom>
          <a:solidFill>
            <a:schemeClr val="accent1"/>
          </a:solidFill>
          <a:ln/>
        </p:spPr>
        <p:txBody>
          <a:bodyPr/>
          <a:lstStyle/>
          <a:p>
            <a:endParaRPr lang="en-US"/>
          </a:p>
        </p:txBody>
      </p:sp>
      <p:pic>
        <p:nvPicPr>
          <p:cNvPr id="7" name="pres-icon-0" descr="preencoded.png"/>
          <p:cNvPicPr>
            <a:picLocks noChangeAspect="1"/>
          </p:cNvPicPr>
          <p:nvPr/>
        </p:nvPicPr>
        <p:blipFill>
          <a:blip r:embed="rId4"/>
          <a:stretch>
            <a:fillRect/>
          </a:stretch>
        </p:blipFill>
        <p:spPr>
          <a:xfrm>
            <a:off x="4418381" y="1858061"/>
            <a:ext cx="307238" cy="307238"/>
          </a:xfrm>
          <a:prstGeom prst="rect">
            <a:avLst/>
          </a:prstGeom>
        </p:spPr>
      </p:pic>
      <p:sp>
        <p:nvSpPr>
          <p:cNvPr id="8" name="Text 3"/>
          <p:cNvSpPr txBox="1"/>
          <p:nvPr/>
        </p:nvSpPr>
        <p:spPr>
          <a:xfrm>
            <a:off x="5074920" y="1645920"/>
            <a:ext cx="6537960" cy="960120"/>
          </a:xfrm>
          <a:prstGeom prst="rect">
            <a:avLst/>
          </a:prstGeom>
          <a:noFill/>
          <a:ln/>
        </p:spPr>
        <p:txBody>
          <a:bodyPr wrap="square" lIns="0" tIns="0" rIns="0" bIns="0" rtlCol="0" anchor="t"/>
          <a:lstStyle/>
          <a:p>
            <a:pPr marL="0" indent="0">
              <a:buNone/>
            </a:pPr>
            <a:r>
              <a:rPr lang="en-US" sz="1700" b="1" dirty="0">
                <a:solidFill>
                  <a:schemeClr val="tx2"/>
                </a:solidFill>
              </a:rPr>
              <a:t>Internationally educated</a:t>
            </a:r>
            <a:endParaRPr lang="en-US" sz="1700" dirty="0"/>
          </a:p>
          <a:p>
            <a:pPr marL="0" indent="0">
              <a:buNone/>
            </a:pPr>
            <a:r>
              <a:rPr lang="en-US" sz="1400" dirty="0">
                <a:solidFill>
                  <a:schemeClr val="tx1"/>
                </a:solidFill>
              </a:rPr>
              <a:t>PhD in Engineering, Leningrad University (former Soviet Union); BSc and MSc, Menoufia University</a:t>
            </a:r>
            <a:endParaRPr lang="en-US" sz="1700" dirty="0"/>
          </a:p>
        </p:txBody>
      </p:sp>
      <p:sp>
        <p:nvSpPr>
          <p:cNvPr id="9" name="pres-icon-1-circle"/>
          <p:cNvSpPr/>
          <p:nvPr/>
        </p:nvSpPr>
        <p:spPr>
          <a:xfrm>
            <a:off x="4251960" y="2807208"/>
            <a:ext cx="640080" cy="640080"/>
          </a:xfrm>
          <a:prstGeom prst="ellipse">
            <a:avLst/>
          </a:prstGeom>
          <a:solidFill>
            <a:schemeClr val="accent1"/>
          </a:solidFill>
          <a:ln/>
        </p:spPr>
        <p:txBody>
          <a:bodyPr/>
          <a:lstStyle/>
          <a:p>
            <a:endParaRPr lang="en-US"/>
          </a:p>
        </p:txBody>
      </p:sp>
      <p:pic>
        <p:nvPicPr>
          <p:cNvPr id="10" name="pres-icon-1" descr="preencoded.png"/>
          <p:cNvPicPr>
            <a:picLocks noChangeAspect="1"/>
          </p:cNvPicPr>
          <p:nvPr/>
        </p:nvPicPr>
        <p:blipFill>
          <a:blip r:embed="rId5"/>
          <a:stretch>
            <a:fillRect/>
          </a:stretch>
        </p:blipFill>
        <p:spPr>
          <a:xfrm>
            <a:off x="4418381" y="2973629"/>
            <a:ext cx="307238" cy="307238"/>
          </a:xfrm>
          <a:prstGeom prst="rect">
            <a:avLst/>
          </a:prstGeom>
        </p:spPr>
      </p:pic>
      <p:sp>
        <p:nvSpPr>
          <p:cNvPr id="11" name="Text 5"/>
          <p:cNvSpPr txBox="1"/>
          <p:nvPr/>
        </p:nvSpPr>
        <p:spPr>
          <a:xfrm>
            <a:off x="5074920" y="2761488"/>
            <a:ext cx="6537960" cy="960120"/>
          </a:xfrm>
          <a:prstGeom prst="rect">
            <a:avLst/>
          </a:prstGeom>
          <a:noFill/>
          <a:ln/>
        </p:spPr>
        <p:txBody>
          <a:bodyPr wrap="square" lIns="0" tIns="0" rIns="0" bIns="0" rtlCol="0" anchor="t"/>
          <a:lstStyle/>
          <a:p>
            <a:pPr marL="0" indent="0">
              <a:buNone/>
            </a:pPr>
            <a:r>
              <a:rPr lang="en-US" sz="1700" b="1" dirty="0">
                <a:solidFill>
                  <a:schemeClr val="tx2"/>
                </a:solidFill>
              </a:rPr>
              <a:t>Egyptian-Japanese Education Initiative 2025</a:t>
            </a:r>
            <a:endParaRPr lang="en-US" sz="1700" dirty="0"/>
          </a:p>
          <a:p>
            <a:pPr marL="0" indent="0">
              <a:buNone/>
            </a:pPr>
            <a:r>
              <a:rPr lang="en-US" sz="1400" dirty="0">
                <a:solidFill>
                  <a:schemeClr val="tx1"/>
                </a:solidFill>
              </a:rPr>
              <a:t>Member of the initiative's Steering Committee; has organized several international scientific conferences</a:t>
            </a:r>
            <a:endParaRPr lang="en-US" sz="1700" dirty="0"/>
          </a:p>
        </p:txBody>
      </p:sp>
      <p:sp>
        <p:nvSpPr>
          <p:cNvPr id="12" name="pres-icon-2-circle"/>
          <p:cNvSpPr/>
          <p:nvPr/>
        </p:nvSpPr>
        <p:spPr>
          <a:xfrm>
            <a:off x="4251960" y="3922776"/>
            <a:ext cx="640080" cy="640080"/>
          </a:xfrm>
          <a:prstGeom prst="ellipse">
            <a:avLst/>
          </a:prstGeom>
          <a:solidFill>
            <a:schemeClr val="accent1"/>
          </a:solidFill>
          <a:ln/>
        </p:spPr>
        <p:txBody>
          <a:bodyPr/>
          <a:lstStyle/>
          <a:p>
            <a:endParaRPr lang="en-US"/>
          </a:p>
        </p:txBody>
      </p:sp>
      <p:pic>
        <p:nvPicPr>
          <p:cNvPr id="13" name="pres-icon-2" descr="preencoded.png"/>
          <p:cNvPicPr>
            <a:picLocks noChangeAspect="1"/>
          </p:cNvPicPr>
          <p:nvPr/>
        </p:nvPicPr>
        <p:blipFill>
          <a:blip r:embed="rId6"/>
          <a:stretch>
            <a:fillRect/>
          </a:stretch>
        </p:blipFill>
        <p:spPr>
          <a:xfrm>
            <a:off x="4418381" y="4089197"/>
            <a:ext cx="307238" cy="307238"/>
          </a:xfrm>
          <a:prstGeom prst="rect">
            <a:avLst/>
          </a:prstGeom>
        </p:spPr>
      </p:pic>
      <p:sp>
        <p:nvSpPr>
          <p:cNvPr id="14" name="Text 7"/>
          <p:cNvSpPr txBox="1"/>
          <p:nvPr/>
        </p:nvSpPr>
        <p:spPr>
          <a:xfrm>
            <a:off x="5074920" y="3877056"/>
            <a:ext cx="6537960" cy="960120"/>
          </a:xfrm>
          <a:prstGeom prst="rect">
            <a:avLst/>
          </a:prstGeom>
          <a:noFill/>
          <a:ln/>
        </p:spPr>
        <p:txBody>
          <a:bodyPr wrap="square" lIns="0" tIns="0" rIns="0" bIns="0" rtlCol="0" anchor="t"/>
          <a:lstStyle/>
          <a:p>
            <a:pPr marL="0" indent="0">
              <a:buNone/>
            </a:pPr>
            <a:r>
              <a:rPr lang="en-US" sz="1700" b="1" dirty="0">
                <a:solidFill>
                  <a:schemeClr val="tx2"/>
                </a:solidFill>
              </a:rPr>
              <a:t>National policy experience</a:t>
            </a:r>
            <a:endParaRPr lang="en-US" sz="1700" dirty="0"/>
          </a:p>
          <a:p>
            <a:pPr marL="0" indent="0">
              <a:buNone/>
            </a:pPr>
            <a:r>
              <a:rPr lang="en-US" sz="1400" dirty="0">
                <a:solidFill>
                  <a:schemeClr val="tx1"/>
                </a:solidFill>
              </a:rPr>
              <a:t>Has served on the Egyptian Senate's Committee on Education, Scientific Research &amp; ICT</a:t>
            </a:r>
            <a:endParaRPr lang="en-US" sz="1700" dirty="0"/>
          </a:p>
        </p:txBody>
      </p:sp>
      <p:sp>
        <p:nvSpPr>
          <p:cNvPr id="15" name="pres-icon-3-circle"/>
          <p:cNvSpPr/>
          <p:nvPr/>
        </p:nvSpPr>
        <p:spPr>
          <a:xfrm>
            <a:off x="4251960" y="5038344"/>
            <a:ext cx="640080" cy="640080"/>
          </a:xfrm>
          <a:prstGeom prst="ellipse">
            <a:avLst/>
          </a:prstGeom>
          <a:solidFill>
            <a:schemeClr val="accent1"/>
          </a:solidFill>
          <a:ln/>
        </p:spPr>
        <p:txBody>
          <a:bodyPr/>
          <a:lstStyle/>
          <a:p>
            <a:endParaRPr lang="en-US"/>
          </a:p>
        </p:txBody>
      </p:sp>
      <p:pic>
        <p:nvPicPr>
          <p:cNvPr id="16" name="pres-icon-3" descr="preencoded.png"/>
          <p:cNvPicPr>
            <a:picLocks noChangeAspect="1"/>
          </p:cNvPicPr>
          <p:nvPr/>
        </p:nvPicPr>
        <p:blipFill>
          <a:blip r:embed="rId7"/>
          <a:stretch>
            <a:fillRect/>
          </a:stretch>
        </p:blipFill>
        <p:spPr>
          <a:xfrm>
            <a:off x="4418381" y="5204765"/>
            <a:ext cx="307238" cy="307238"/>
          </a:xfrm>
          <a:prstGeom prst="rect">
            <a:avLst/>
          </a:prstGeom>
        </p:spPr>
      </p:pic>
      <p:sp>
        <p:nvSpPr>
          <p:cNvPr id="17" name="Text 9"/>
          <p:cNvSpPr txBox="1"/>
          <p:nvPr/>
        </p:nvSpPr>
        <p:spPr>
          <a:xfrm>
            <a:off x="5074920" y="4992624"/>
            <a:ext cx="6537960" cy="960120"/>
          </a:xfrm>
          <a:prstGeom prst="rect">
            <a:avLst/>
          </a:prstGeom>
          <a:noFill/>
          <a:ln/>
        </p:spPr>
        <p:txBody>
          <a:bodyPr wrap="square" lIns="0" tIns="0" rIns="0" bIns="0" rtlCol="0" anchor="t"/>
          <a:lstStyle/>
          <a:p>
            <a:pPr marL="0" indent="0">
              <a:buNone/>
            </a:pPr>
            <a:r>
              <a:rPr lang="en-US" sz="1700" b="1" dirty="0">
                <a:solidFill>
                  <a:schemeClr val="tx2"/>
                </a:solidFill>
              </a:rPr>
              <a:t>Academic leadership and quality</a:t>
            </a:r>
            <a:endParaRPr lang="en-US" sz="1700" dirty="0"/>
          </a:p>
          <a:p>
            <a:pPr marL="0" indent="0">
              <a:buNone/>
            </a:pPr>
            <a:r>
              <a:rPr lang="en-US" sz="1400" dirty="0">
                <a:solidFill>
                  <a:schemeClr val="tx1"/>
                </a:solidFill>
              </a:rPr>
              <a:t>Former Acting President of Port Said University; certified NAQAAE quality reviewer; about 40 research papers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A Board Bridging Government, Academia &amp; Industry</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The Board of Trustees supports the university's strategy and institutional partnerships</a:t>
            </a:r>
            <a:endParaRPr lang="en-US" sz="1500" dirty="0"/>
          </a:p>
        </p:txBody>
      </p:sp>
      <p:sp>
        <p:nvSpPr>
          <p:cNvPr id="5" name="chair-card"/>
          <p:cNvSpPr/>
          <p:nvPr/>
        </p:nvSpPr>
        <p:spPr>
          <a:xfrm>
            <a:off x="548640" y="1600200"/>
            <a:ext cx="3383280" cy="4526280"/>
          </a:xfrm>
          <a:prstGeom prst="roundRect">
            <a:avLst>
              <a:gd name="adj" fmla="val 4054"/>
            </a:avLst>
          </a:prstGeom>
          <a:solidFill>
            <a:schemeClr val="tx2"/>
          </a:solidFill>
          <a:ln/>
        </p:spPr>
        <p:txBody>
          <a:bodyPr/>
          <a:lstStyle/>
          <a:p>
            <a:endParaRPr lang="en-US"/>
          </a:p>
        </p:txBody>
      </p:sp>
      <p:sp>
        <p:nvSpPr>
          <p:cNvPr id="6" name="chair-icon-circle"/>
          <p:cNvSpPr/>
          <p:nvPr/>
        </p:nvSpPr>
        <p:spPr>
          <a:xfrm>
            <a:off x="868680" y="1920240"/>
            <a:ext cx="822960" cy="822960"/>
          </a:xfrm>
          <a:prstGeom prst="ellipse">
            <a:avLst/>
          </a:prstGeom>
          <a:solidFill>
            <a:schemeClr val="accent1"/>
          </a:solidFill>
          <a:ln/>
        </p:spPr>
        <p:txBody>
          <a:bodyPr/>
          <a:lstStyle/>
          <a:p>
            <a:endParaRPr lang="en-US"/>
          </a:p>
        </p:txBody>
      </p:sp>
      <p:pic>
        <p:nvPicPr>
          <p:cNvPr id="7" name="chair-icon" descr="preencoded.png"/>
          <p:cNvPicPr>
            <a:picLocks noChangeAspect="1"/>
          </p:cNvPicPr>
          <p:nvPr/>
        </p:nvPicPr>
        <p:blipFill>
          <a:blip r:embed="rId3"/>
          <a:stretch>
            <a:fillRect/>
          </a:stretch>
        </p:blipFill>
        <p:spPr>
          <a:xfrm>
            <a:off x="1082650" y="2134210"/>
            <a:ext cx="395021" cy="395021"/>
          </a:xfrm>
          <a:prstGeom prst="rect">
            <a:avLst/>
          </a:prstGeom>
        </p:spPr>
      </p:pic>
      <p:sp>
        <p:nvSpPr>
          <p:cNvPr id="8" name="Text 4"/>
          <p:cNvSpPr txBox="1"/>
          <p:nvPr/>
        </p:nvSpPr>
        <p:spPr>
          <a:xfrm>
            <a:off x="868680" y="2926080"/>
            <a:ext cx="2834640" cy="1463040"/>
          </a:xfrm>
          <a:prstGeom prst="rect">
            <a:avLst/>
          </a:prstGeom>
          <a:noFill/>
          <a:ln/>
        </p:spPr>
        <p:txBody>
          <a:bodyPr wrap="square" lIns="0" tIns="0" rIns="0" bIns="0" rtlCol="0" anchor="t"/>
          <a:lstStyle/>
          <a:p>
            <a:pPr marL="0" indent="0">
              <a:buNone/>
            </a:pPr>
            <a:r>
              <a:rPr lang="en-US" sz="1300" dirty="0">
                <a:solidFill>
                  <a:srgbClr val="00D4FF"/>
                </a:solidFill>
              </a:rPr>
              <a:t>Chairman</a:t>
            </a:r>
            <a:endParaRPr lang="en-US" sz="1300" dirty="0"/>
          </a:p>
          <a:p>
            <a:pPr marL="0" indent="0">
              <a:buNone/>
            </a:pPr>
            <a:r>
              <a:rPr lang="en-US" sz="2200" b="1" dirty="0">
                <a:solidFill>
                  <a:srgbClr val="FFFFFF"/>
                </a:solidFill>
              </a:rPr>
              <a:t>Eng. Ibrahim Mahlab</a:t>
            </a:r>
            <a:endParaRPr lang="en-US" sz="1300" dirty="0"/>
          </a:p>
          <a:p>
            <a:pPr marL="0" indent="0">
              <a:buNone/>
            </a:pPr>
            <a:r>
              <a:rPr lang="en-US" sz="1500" dirty="0">
                <a:solidFill>
                  <a:srgbClr val="C9D8EC"/>
                </a:solidFill>
              </a:rPr>
              <a:t>Former Prime Minister of Egypt</a:t>
            </a:r>
            <a:endParaRPr lang="en-US" sz="1300" dirty="0"/>
          </a:p>
        </p:txBody>
      </p:sp>
      <p:sp>
        <p:nvSpPr>
          <p:cNvPr id="9" name="Text 5"/>
          <p:cNvSpPr txBox="1"/>
          <p:nvPr/>
        </p:nvSpPr>
        <p:spPr>
          <a:xfrm>
            <a:off x="868680" y="4754880"/>
            <a:ext cx="2834640" cy="1097280"/>
          </a:xfrm>
          <a:prstGeom prst="rect">
            <a:avLst/>
          </a:prstGeom>
          <a:noFill/>
          <a:ln/>
        </p:spPr>
        <p:txBody>
          <a:bodyPr wrap="square" lIns="0" tIns="0" rIns="0" bIns="0" rtlCol="0" anchor="t"/>
          <a:lstStyle/>
          <a:p>
            <a:pPr marL="0" indent="0">
              <a:buNone/>
            </a:pPr>
            <a:r>
              <a:rPr lang="en-US" sz="1400" dirty="0">
                <a:solidFill>
                  <a:srgbClr val="C9D8EC"/>
                </a:solidFill>
              </a:rPr>
              <a:t>Members bring together government, universities, medicine, and trade and industry.</a:t>
            </a:r>
            <a:endParaRPr lang="en-US" sz="1400" dirty="0"/>
          </a:p>
        </p:txBody>
      </p:sp>
      <p:sp>
        <p:nvSpPr>
          <p:cNvPr id="10" name="board-group-0"/>
          <p:cNvSpPr/>
          <p:nvPr/>
        </p:nvSpPr>
        <p:spPr>
          <a:xfrm>
            <a:off x="4206240" y="1600200"/>
            <a:ext cx="7436815" cy="2103120"/>
          </a:xfrm>
          <a:prstGeom prst="roundRect">
            <a:avLst>
              <a:gd name="adj" fmla="val 5217"/>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1" name="board-icon-0-circle"/>
          <p:cNvSpPr/>
          <p:nvPr/>
        </p:nvSpPr>
        <p:spPr>
          <a:xfrm>
            <a:off x="4434840" y="1783080"/>
            <a:ext cx="502920" cy="502920"/>
          </a:xfrm>
          <a:prstGeom prst="ellipse">
            <a:avLst/>
          </a:prstGeom>
          <a:solidFill>
            <a:schemeClr val="accent1"/>
          </a:solidFill>
          <a:ln/>
        </p:spPr>
        <p:txBody>
          <a:bodyPr/>
          <a:lstStyle/>
          <a:p>
            <a:endParaRPr lang="en-US"/>
          </a:p>
        </p:txBody>
      </p:sp>
      <p:pic>
        <p:nvPicPr>
          <p:cNvPr id="12" name="board-icon-0" descr="preencoded.png"/>
          <p:cNvPicPr>
            <a:picLocks noChangeAspect="1"/>
          </p:cNvPicPr>
          <p:nvPr/>
        </p:nvPicPr>
        <p:blipFill>
          <a:blip r:embed="rId4"/>
          <a:stretch>
            <a:fillRect/>
          </a:stretch>
        </p:blipFill>
        <p:spPr>
          <a:xfrm>
            <a:off x="4565599" y="1913839"/>
            <a:ext cx="241402" cy="241402"/>
          </a:xfrm>
          <a:prstGeom prst="rect">
            <a:avLst/>
          </a:prstGeom>
        </p:spPr>
      </p:pic>
      <p:sp>
        <p:nvSpPr>
          <p:cNvPr id="13" name="Text 8"/>
          <p:cNvSpPr txBox="1"/>
          <p:nvPr/>
        </p:nvSpPr>
        <p:spPr>
          <a:xfrm>
            <a:off x="5074920" y="1783080"/>
            <a:ext cx="6339535" cy="502920"/>
          </a:xfrm>
          <a:prstGeom prst="rect">
            <a:avLst/>
          </a:prstGeom>
          <a:noFill/>
          <a:ln/>
        </p:spPr>
        <p:txBody>
          <a:bodyPr wrap="square" lIns="0" tIns="0" rIns="0" bIns="0" rtlCol="0" anchor="ctr"/>
          <a:lstStyle/>
          <a:p>
            <a:pPr marL="0" indent="0">
              <a:buNone/>
            </a:pPr>
            <a:r>
              <a:rPr lang="en-US" sz="1600" b="1" dirty="0">
                <a:solidFill>
                  <a:schemeClr val="tx2"/>
                </a:solidFill>
              </a:rPr>
              <a:t>Academia &amp; medicine</a:t>
            </a:r>
            <a:endParaRPr lang="en-US" sz="1600" dirty="0"/>
          </a:p>
        </p:txBody>
      </p:sp>
      <p:sp>
        <p:nvSpPr>
          <p:cNvPr id="14" name="Text 9"/>
          <p:cNvSpPr txBox="1"/>
          <p:nvPr/>
        </p:nvSpPr>
        <p:spPr>
          <a:xfrm>
            <a:off x="4480560" y="2404872"/>
            <a:ext cx="6933895" cy="11430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Prof. Dr. Atef Alam El-Din, University President</a:t>
            </a:r>
            <a:endParaRPr lang="en-US" sz="1300" dirty="0"/>
          </a:p>
          <a:p>
            <a:pPr marL="342900" indent="-342900">
              <a:spcAft>
                <a:spcPts val="300"/>
              </a:spcAft>
              <a:buSzPct val="100000"/>
              <a:buChar char="•"/>
            </a:pPr>
            <a:r>
              <a:rPr lang="en-US" sz="1300" dirty="0">
                <a:solidFill>
                  <a:schemeClr val="tx1"/>
                </a:solidFill>
              </a:rPr>
              <a:t>Prof. Dr. Sherif Youssef Saleh, President of Port Said University</a:t>
            </a:r>
            <a:endParaRPr lang="en-US" sz="1300" dirty="0"/>
          </a:p>
          <a:p>
            <a:pPr marL="342900" indent="-342900">
              <a:spcAft>
                <a:spcPts val="300"/>
              </a:spcAft>
              <a:buSzPct val="100000"/>
              <a:buChar char="•"/>
            </a:pPr>
            <a:r>
              <a:rPr lang="en-US" sz="1300" dirty="0">
                <a:solidFill>
                  <a:schemeClr val="tx1"/>
                </a:solidFill>
              </a:rPr>
              <a:t>Prof. Dr. Mohamed Hassan El-Kenawy, former President of Mansoura University</a:t>
            </a:r>
            <a:endParaRPr lang="en-US" sz="1300" dirty="0"/>
          </a:p>
          <a:p>
            <a:pPr marL="342900" indent="-342900">
              <a:spcAft>
                <a:spcPts val="300"/>
              </a:spcAft>
              <a:buSzPct val="100000"/>
              <a:buChar char="•"/>
            </a:pPr>
            <a:r>
              <a:rPr lang="en-US" sz="1300" dirty="0">
                <a:solidFill>
                  <a:schemeClr val="tx1"/>
                </a:solidFill>
              </a:rPr>
              <a:t>Prof. Dr. El-Sayed Hussein Hegazy</a:t>
            </a:r>
            <a:endParaRPr lang="en-US" sz="1300" dirty="0"/>
          </a:p>
          <a:p>
            <a:pPr marL="342900" indent="-342900">
              <a:spcAft>
                <a:spcPts val="300"/>
              </a:spcAft>
              <a:buSzPct val="100000"/>
              <a:buChar char="•"/>
            </a:pPr>
            <a:r>
              <a:rPr lang="en-US" sz="1300" dirty="0">
                <a:solidFill>
                  <a:schemeClr val="tx1"/>
                </a:solidFill>
              </a:rPr>
              <a:t>Prof. Dr. Mamdouh Radwan El-Nahas, President, Egyptian Society of Diabetes and Lipidology</a:t>
            </a:r>
            <a:endParaRPr lang="en-US" sz="1300" dirty="0"/>
          </a:p>
        </p:txBody>
      </p:sp>
      <p:sp>
        <p:nvSpPr>
          <p:cNvPr id="15" name="board-group-1"/>
          <p:cNvSpPr/>
          <p:nvPr/>
        </p:nvSpPr>
        <p:spPr>
          <a:xfrm>
            <a:off x="4206240" y="3886200"/>
            <a:ext cx="3626968" cy="2240280"/>
          </a:xfrm>
          <a:prstGeom prst="roundRect">
            <a:avLst>
              <a:gd name="adj" fmla="val 4898"/>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6" name="board-icon-1-circle"/>
          <p:cNvSpPr/>
          <p:nvPr/>
        </p:nvSpPr>
        <p:spPr>
          <a:xfrm>
            <a:off x="4434840" y="4069080"/>
            <a:ext cx="502920" cy="502920"/>
          </a:xfrm>
          <a:prstGeom prst="ellipse">
            <a:avLst/>
          </a:prstGeom>
          <a:solidFill>
            <a:schemeClr val="accent1"/>
          </a:solidFill>
          <a:ln/>
        </p:spPr>
        <p:txBody>
          <a:bodyPr/>
          <a:lstStyle/>
          <a:p>
            <a:endParaRPr lang="en-US"/>
          </a:p>
        </p:txBody>
      </p:sp>
      <p:pic>
        <p:nvPicPr>
          <p:cNvPr id="17" name="board-icon-1" descr="preencoded.png"/>
          <p:cNvPicPr>
            <a:picLocks noChangeAspect="1"/>
          </p:cNvPicPr>
          <p:nvPr/>
        </p:nvPicPr>
        <p:blipFill>
          <a:blip r:embed="rId5"/>
          <a:stretch>
            <a:fillRect/>
          </a:stretch>
        </p:blipFill>
        <p:spPr>
          <a:xfrm>
            <a:off x="4565599" y="4199839"/>
            <a:ext cx="241402" cy="241402"/>
          </a:xfrm>
          <a:prstGeom prst="rect">
            <a:avLst/>
          </a:prstGeom>
        </p:spPr>
      </p:pic>
      <p:sp>
        <p:nvSpPr>
          <p:cNvPr id="18" name="Text 12"/>
          <p:cNvSpPr txBox="1"/>
          <p:nvPr/>
        </p:nvSpPr>
        <p:spPr>
          <a:xfrm>
            <a:off x="5074920" y="4069080"/>
            <a:ext cx="2529688" cy="502920"/>
          </a:xfrm>
          <a:prstGeom prst="rect">
            <a:avLst/>
          </a:prstGeom>
          <a:noFill/>
          <a:ln/>
        </p:spPr>
        <p:txBody>
          <a:bodyPr wrap="square" lIns="0" tIns="0" rIns="0" bIns="0" rtlCol="0" anchor="ctr"/>
          <a:lstStyle/>
          <a:p>
            <a:pPr marL="0" indent="0">
              <a:buNone/>
            </a:pPr>
            <a:r>
              <a:rPr lang="en-US" sz="1600" b="1" dirty="0">
                <a:solidFill>
                  <a:schemeClr val="tx2"/>
                </a:solidFill>
              </a:rPr>
              <a:t>Government &amp; public service</a:t>
            </a:r>
            <a:endParaRPr lang="en-US" sz="1600" dirty="0"/>
          </a:p>
        </p:txBody>
      </p:sp>
      <p:sp>
        <p:nvSpPr>
          <p:cNvPr id="19" name="Text 13"/>
          <p:cNvSpPr txBox="1"/>
          <p:nvPr/>
        </p:nvSpPr>
        <p:spPr>
          <a:xfrm>
            <a:off x="4480560" y="4690872"/>
            <a:ext cx="3124048" cy="12801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Maj. Gen. Ahmed Abdullah, former Governor of the Red Sea and Port Said</a:t>
            </a:r>
            <a:endParaRPr lang="en-US" sz="1300" dirty="0"/>
          </a:p>
          <a:p>
            <a:pPr marL="342900" indent="-342900">
              <a:spcAft>
                <a:spcPts val="300"/>
              </a:spcAft>
              <a:buSzPct val="100000"/>
              <a:buChar char="•"/>
            </a:pPr>
            <a:r>
              <a:rPr lang="en-US" sz="1300" dirty="0">
                <a:solidFill>
                  <a:schemeClr val="tx1"/>
                </a:solidFill>
              </a:rPr>
              <a:t>Maj. Gen. Ibrahim Abu Limoun, Governor of Port Said</a:t>
            </a:r>
            <a:endParaRPr lang="en-US" sz="1300" dirty="0"/>
          </a:p>
        </p:txBody>
      </p:sp>
      <p:sp>
        <p:nvSpPr>
          <p:cNvPr id="20" name="board-group-2"/>
          <p:cNvSpPr/>
          <p:nvPr/>
        </p:nvSpPr>
        <p:spPr>
          <a:xfrm>
            <a:off x="8016088" y="3886200"/>
            <a:ext cx="3626968" cy="2240280"/>
          </a:xfrm>
          <a:prstGeom prst="roundRect">
            <a:avLst>
              <a:gd name="adj" fmla="val 4898"/>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1" name="board-icon-2-circle"/>
          <p:cNvSpPr/>
          <p:nvPr/>
        </p:nvSpPr>
        <p:spPr>
          <a:xfrm>
            <a:off x="8244688" y="4069080"/>
            <a:ext cx="502920" cy="502920"/>
          </a:xfrm>
          <a:prstGeom prst="ellipse">
            <a:avLst/>
          </a:prstGeom>
          <a:solidFill>
            <a:schemeClr val="accent1"/>
          </a:solidFill>
          <a:ln/>
        </p:spPr>
        <p:txBody>
          <a:bodyPr/>
          <a:lstStyle/>
          <a:p>
            <a:endParaRPr lang="en-US"/>
          </a:p>
        </p:txBody>
      </p:sp>
      <p:pic>
        <p:nvPicPr>
          <p:cNvPr id="22" name="board-icon-2" descr="preencoded.png"/>
          <p:cNvPicPr>
            <a:picLocks noChangeAspect="1"/>
          </p:cNvPicPr>
          <p:nvPr/>
        </p:nvPicPr>
        <p:blipFill>
          <a:blip r:embed="rId6"/>
          <a:stretch>
            <a:fillRect/>
          </a:stretch>
        </p:blipFill>
        <p:spPr>
          <a:xfrm>
            <a:off x="8375447" y="4199839"/>
            <a:ext cx="241402" cy="241402"/>
          </a:xfrm>
          <a:prstGeom prst="rect">
            <a:avLst/>
          </a:prstGeom>
        </p:spPr>
      </p:pic>
      <p:sp>
        <p:nvSpPr>
          <p:cNvPr id="23" name="Text 16"/>
          <p:cNvSpPr txBox="1"/>
          <p:nvPr/>
        </p:nvSpPr>
        <p:spPr>
          <a:xfrm>
            <a:off x="8884768" y="4069080"/>
            <a:ext cx="2529688" cy="502920"/>
          </a:xfrm>
          <a:prstGeom prst="rect">
            <a:avLst/>
          </a:prstGeom>
          <a:noFill/>
          <a:ln/>
        </p:spPr>
        <p:txBody>
          <a:bodyPr wrap="square" lIns="0" tIns="0" rIns="0" bIns="0" rtlCol="0" anchor="ctr"/>
          <a:lstStyle/>
          <a:p>
            <a:pPr marL="0" indent="0">
              <a:buNone/>
            </a:pPr>
            <a:r>
              <a:rPr lang="en-US" sz="1600" b="1" dirty="0">
                <a:solidFill>
                  <a:schemeClr val="tx2"/>
                </a:solidFill>
              </a:rPr>
              <a:t>Industry &amp; trade</a:t>
            </a:r>
            <a:endParaRPr lang="en-US" sz="1600" dirty="0"/>
          </a:p>
        </p:txBody>
      </p:sp>
      <p:sp>
        <p:nvSpPr>
          <p:cNvPr id="24" name="Text 17"/>
          <p:cNvSpPr txBox="1"/>
          <p:nvPr/>
        </p:nvSpPr>
        <p:spPr>
          <a:xfrm>
            <a:off x="8290408" y="4690872"/>
            <a:ext cx="3124048" cy="12801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Eng. Lotfy Hassan El-Badrawy, KAPCI Coatings</a:t>
            </a:r>
            <a:endParaRPr lang="en-US" sz="1300" dirty="0"/>
          </a:p>
          <a:p>
            <a:pPr marL="342900" indent="-342900">
              <a:spcAft>
                <a:spcPts val="300"/>
              </a:spcAft>
              <a:buSzPct val="100000"/>
              <a:buChar char="•"/>
            </a:pPr>
            <a:r>
              <a:rPr lang="en-US" sz="1300" dirty="0">
                <a:solidFill>
                  <a:schemeClr val="tx1"/>
                </a:solidFill>
              </a:rPr>
              <a:t>Mr. Mohamed El-Said Saada, Port Said Chamber of Commerce</a:t>
            </a:r>
            <a:endParaRPr lang="en-US" sz="1300" dirty="0"/>
          </a:p>
          <a:p>
            <a:pPr marL="342900" indent="-342900">
              <a:spcAft>
                <a:spcPts val="300"/>
              </a:spcAft>
              <a:buSzPct val="100000"/>
              <a:buChar char="•"/>
            </a:pPr>
            <a:r>
              <a:rPr lang="en-US" sz="1300" dirty="0">
                <a:solidFill>
                  <a:schemeClr val="tx1"/>
                </a:solidFill>
              </a:rPr>
              <a:t>Dr. Hassan Hassanein Khalil Hassan, pharmaceutical sector</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Academic Leadership</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Program directors and university offices leading teaching, quality and international relations</a:t>
            </a:r>
            <a:endParaRPr lang="en-US" sz="1500" dirty="0"/>
          </a:p>
        </p:txBody>
      </p:sp>
      <p:sp>
        <p:nvSpPr>
          <p:cNvPr id="5" name="lead-card-0"/>
          <p:cNvSpPr/>
          <p:nvPr/>
        </p:nvSpPr>
        <p:spPr>
          <a:xfrm>
            <a:off x="548640" y="1600200"/>
            <a:ext cx="2392680" cy="2148840"/>
          </a:xfrm>
          <a:prstGeom prst="roundRect">
            <a:avLst>
              <a:gd name="adj" fmla="val 5106"/>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6" name="lead-icon-0-circle"/>
          <p:cNvSpPr/>
          <p:nvPr/>
        </p:nvSpPr>
        <p:spPr>
          <a:xfrm>
            <a:off x="749808" y="1801368"/>
            <a:ext cx="502920" cy="502920"/>
          </a:xfrm>
          <a:prstGeom prst="ellipse">
            <a:avLst/>
          </a:prstGeom>
          <a:solidFill>
            <a:schemeClr val="accent1"/>
          </a:solidFill>
          <a:ln/>
        </p:spPr>
        <p:txBody>
          <a:bodyPr/>
          <a:lstStyle/>
          <a:p>
            <a:endParaRPr lang="en-US"/>
          </a:p>
        </p:txBody>
      </p:sp>
      <p:pic>
        <p:nvPicPr>
          <p:cNvPr id="7" name="lead-icon-0" descr="preencoded.png"/>
          <p:cNvPicPr>
            <a:picLocks noChangeAspect="1"/>
          </p:cNvPicPr>
          <p:nvPr/>
        </p:nvPicPr>
        <p:blipFill>
          <a:blip r:embed="rId3"/>
          <a:stretch>
            <a:fillRect/>
          </a:stretch>
        </p:blipFill>
        <p:spPr>
          <a:xfrm>
            <a:off x="880567" y="1932127"/>
            <a:ext cx="241402" cy="241402"/>
          </a:xfrm>
          <a:prstGeom prst="rect">
            <a:avLst/>
          </a:prstGeom>
        </p:spPr>
      </p:pic>
      <p:sp>
        <p:nvSpPr>
          <p:cNvPr id="8" name="Text 4"/>
          <p:cNvSpPr txBox="1"/>
          <p:nvPr/>
        </p:nvSpPr>
        <p:spPr>
          <a:xfrm>
            <a:off x="1371600" y="1783080"/>
            <a:ext cx="1432560" cy="548640"/>
          </a:xfrm>
          <a:prstGeom prst="rect">
            <a:avLst/>
          </a:prstGeom>
          <a:noFill/>
          <a:ln/>
        </p:spPr>
        <p:txBody>
          <a:bodyPr wrap="square" lIns="0" tIns="0" rIns="0" bIns="0" rtlCol="0" anchor="ctr"/>
          <a:lstStyle/>
          <a:p>
            <a:pPr marL="0" indent="0">
              <a:buNone/>
            </a:pPr>
            <a:r>
              <a:rPr lang="en-US" sz="1450" b="1" dirty="0">
                <a:solidFill>
                  <a:schemeClr val="tx2"/>
                </a:solidFill>
              </a:rPr>
              <a:t>Engineering</a:t>
            </a:r>
            <a:endParaRPr lang="en-US" sz="1450" dirty="0"/>
          </a:p>
        </p:txBody>
      </p:sp>
      <p:sp>
        <p:nvSpPr>
          <p:cNvPr id="9" name="Text 5"/>
          <p:cNvSpPr txBox="1"/>
          <p:nvPr/>
        </p:nvSpPr>
        <p:spPr>
          <a:xfrm>
            <a:off x="749808" y="2496312"/>
            <a:ext cx="2026920" cy="1143000"/>
          </a:xfrm>
          <a:prstGeom prst="rect">
            <a:avLst/>
          </a:prstGeom>
          <a:noFill/>
          <a:ln/>
        </p:spPr>
        <p:txBody>
          <a:bodyPr wrap="square" lIns="0" tIns="0" rIns="0" bIns="0" rtlCol="0" anchor="t"/>
          <a:lstStyle/>
          <a:p>
            <a:pPr marL="0" indent="0">
              <a:buNone/>
            </a:pPr>
            <a:r>
              <a:rPr lang="en-US" sz="1500" b="1" dirty="0">
                <a:solidFill>
                  <a:schemeClr val="accent1"/>
                </a:solidFill>
              </a:rPr>
              <a:t>Assoc. Prof. Mohamed El-Sakka</a:t>
            </a:r>
            <a:endParaRPr lang="en-US" sz="1500" dirty="0"/>
          </a:p>
          <a:p>
            <a:pPr marL="0" indent="0">
              <a:spcAft>
                <a:spcPts val="600"/>
              </a:spcAft>
              <a:buNone/>
            </a:pPr>
            <a:r>
              <a:rPr lang="en-US" sz="1250" dirty="0">
                <a:solidFill>
                  <a:schemeClr val="tx1"/>
                </a:solidFill>
              </a:rPr>
              <a:t>Mechatronics &amp; Automation</a:t>
            </a:r>
            <a:endParaRPr lang="en-US" sz="1500" dirty="0"/>
          </a:p>
          <a:p>
            <a:pPr marL="0" indent="0">
              <a:buNone/>
            </a:pPr>
            <a:r>
              <a:rPr lang="en-US" sz="1500" b="1" dirty="0">
                <a:solidFill>
                  <a:schemeClr val="accent1"/>
                </a:solidFill>
              </a:rPr>
              <a:t>Assoc. Prof. Asmaa Rady</a:t>
            </a:r>
            <a:endParaRPr lang="en-US" sz="1500" dirty="0"/>
          </a:p>
          <a:p>
            <a:pPr marL="0" indent="0">
              <a:spcAft>
                <a:spcPts val="600"/>
              </a:spcAft>
              <a:buNone/>
            </a:pPr>
            <a:r>
              <a:rPr lang="en-US" sz="1250" dirty="0">
                <a:solidFill>
                  <a:schemeClr val="tx1"/>
                </a:solidFill>
              </a:rPr>
              <a:t>AI &amp; Machine Learning · Construction</a:t>
            </a:r>
            <a:endParaRPr lang="en-US" sz="1500" dirty="0"/>
          </a:p>
        </p:txBody>
      </p:sp>
      <p:sp>
        <p:nvSpPr>
          <p:cNvPr id="10" name="lead-card-1"/>
          <p:cNvSpPr/>
          <p:nvPr/>
        </p:nvSpPr>
        <p:spPr>
          <a:xfrm>
            <a:off x="3169920" y="1600200"/>
            <a:ext cx="2392680" cy="2148840"/>
          </a:xfrm>
          <a:prstGeom prst="roundRect">
            <a:avLst>
              <a:gd name="adj" fmla="val 5106"/>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1" name="lead-icon-1-circle"/>
          <p:cNvSpPr/>
          <p:nvPr/>
        </p:nvSpPr>
        <p:spPr>
          <a:xfrm>
            <a:off x="3371088" y="1801368"/>
            <a:ext cx="502920" cy="502920"/>
          </a:xfrm>
          <a:prstGeom prst="ellipse">
            <a:avLst/>
          </a:prstGeom>
          <a:solidFill>
            <a:schemeClr val="accent1"/>
          </a:solidFill>
          <a:ln/>
        </p:spPr>
        <p:txBody>
          <a:bodyPr/>
          <a:lstStyle/>
          <a:p>
            <a:endParaRPr lang="en-US"/>
          </a:p>
        </p:txBody>
      </p:sp>
      <p:pic>
        <p:nvPicPr>
          <p:cNvPr id="12" name="lead-icon-1" descr="preencoded.png"/>
          <p:cNvPicPr>
            <a:picLocks noChangeAspect="1"/>
          </p:cNvPicPr>
          <p:nvPr/>
        </p:nvPicPr>
        <p:blipFill>
          <a:blip r:embed="rId4"/>
          <a:stretch>
            <a:fillRect/>
          </a:stretch>
        </p:blipFill>
        <p:spPr>
          <a:xfrm>
            <a:off x="3501847" y="1932127"/>
            <a:ext cx="241402" cy="241402"/>
          </a:xfrm>
          <a:prstGeom prst="rect">
            <a:avLst/>
          </a:prstGeom>
        </p:spPr>
      </p:pic>
      <p:sp>
        <p:nvSpPr>
          <p:cNvPr id="13" name="Text 8"/>
          <p:cNvSpPr txBox="1"/>
          <p:nvPr/>
        </p:nvSpPr>
        <p:spPr>
          <a:xfrm>
            <a:off x="3992880" y="1783080"/>
            <a:ext cx="1432560" cy="548640"/>
          </a:xfrm>
          <a:prstGeom prst="rect">
            <a:avLst/>
          </a:prstGeom>
          <a:noFill/>
          <a:ln/>
        </p:spPr>
        <p:txBody>
          <a:bodyPr wrap="square" lIns="0" tIns="0" rIns="0" bIns="0" rtlCol="0" anchor="ctr"/>
          <a:lstStyle/>
          <a:p>
            <a:pPr marL="0" indent="0">
              <a:buNone/>
            </a:pPr>
            <a:r>
              <a:rPr lang="en-US" sz="1450" b="1" dirty="0">
                <a:solidFill>
                  <a:schemeClr val="tx2"/>
                </a:solidFill>
              </a:rPr>
              <a:t>Computer Science &amp; IT</a:t>
            </a:r>
            <a:endParaRPr lang="en-US" sz="1450" dirty="0"/>
          </a:p>
        </p:txBody>
      </p:sp>
      <p:sp>
        <p:nvSpPr>
          <p:cNvPr id="14" name="Text 9"/>
          <p:cNvSpPr txBox="1"/>
          <p:nvPr/>
        </p:nvSpPr>
        <p:spPr>
          <a:xfrm>
            <a:off x="3371088" y="2496312"/>
            <a:ext cx="2026920" cy="1143000"/>
          </a:xfrm>
          <a:prstGeom prst="rect">
            <a:avLst/>
          </a:prstGeom>
          <a:noFill/>
          <a:ln/>
        </p:spPr>
        <p:txBody>
          <a:bodyPr wrap="square" lIns="0" tIns="0" rIns="0" bIns="0" rtlCol="0" anchor="t"/>
          <a:lstStyle/>
          <a:p>
            <a:pPr marL="0" indent="0">
              <a:buNone/>
            </a:pPr>
            <a:r>
              <a:rPr lang="en-US" sz="1500" b="1" dirty="0">
                <a:solidFill>
                  <a:schemeClr val="accent1"/>
                </a:solidFill>
              </a:rPr>
              <a:t>Prof. Osama El-Baksawy</a:t>
            </a:r>
            <a:endParaRPr lang="en-US" sz="1500" dirty="0"/>
          </a:p>
          <a:p>
            <a:pPr marL="0" indent="0">
              <a:spcAft>
                <a:spcPts val="600"/>
              </a:spcAft>
              <a:buNone/>
            </a:pPr>
            <a:r>
              <a:rPr lang="en-US" sz="1250" dirty="0">
                <a:solidFill>
                  <a:schemeClr val="tx1"/>
                </a:solidFill>
              </a:rPr>
              <a:t>Director of the Faculty's Programs</a:t>
            </a:r>
            <a:endParaRPr lang="en-US" sz="1500" dirty="0"/>
          </a:p>
        </p:txBody>
      </p:sp>
      <p:sp>
        <p:nvSpPr>
          <p:cNvPr id="15" name="lead-card-2"/>
          <p:cNvSpPr/>
          <p:nvPr/>
        </p:nvSpPr>
        <p:spPr>
          <a:xfrm>
            <a:off x="5791200" y="1600200"/>
            <a:ext cx="2392680" cy="2148840"/>
          </a:xfrm>
          <a:prstGeom prst="roundRect">
            <a:avLst>
              <a:gd name="adj" fmla="val 5106"/>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6" name="lead-icon-2-circle"/>
          <p:cNvSpPr/>
          <p:nvPr/>
        </p:nvSpPr>
        <p:spPr>
          <a:xfrm>
            <a:off x="5992368" y="1801368"/>
            <a:ext cx="502920" cy="502920"/>
          </a:xfrm>
          <a:prstGeom prst="ellipse">
            <a:avLst/>
          </a:prstGeom>
          <a:solidFill>
            <a:schemeClr val="accent1"/>
          </a:solidFill>
          <a:ln/>
        </p:spPr>
        <p:txBody>
          <a:bodyPr/>
          <a:lstStyle/>
          <a:p>
            <a:endParaRPr lang="en-US"/>
          </a:p>
        </p:txBody>
      </p:sp>
      <p:pic>
        <p:nvPicPr>
          <p:cNvPr id="17" name="lead-icon-2" descr="preencoded.png"/>
          <p:cNvPicPr>
            <a:picLocks noChangeAspect="1"/>
          </p:cNvPicPr>
          <p:nvPr/>
        </p:nvPicPr>
        <p:blipFill>
          <a:blip r:embed="rId5"/>
          <a:stretch>
            <a:fillRect/>
          </a:stretch>
        </p:blipFill>
        <p:spPr>
          <a:xfrm>
            <a:off x="6123127" y="1932127"/>
            <a:ext cx="241402" cy="241402"/>
          </a:xfrm>
          <a:prstGeom prst="rect">
            <a:avLst/>
          </a:prstGeom>
        </p:spPr>
      </p:pic>
      <p:sp>
        <p:nvSpPr>
          <p:cNvPr id="18" name="Text 12"/>
          <p:cNvSpPr txBox="1"/>
          <p:nvPr/>
        </p:nvSpPr>
        <p:spPr>
          <a:xfrm>
            <a:off x="6614160" y="1783080"/>
            <a:ext cx="1432560" cy="548640"/>
          </a:xfrm>
          <a:prstGeom prst="rect">
            <a:avLst/>
          </a:prstGeom>
          <a:noFill/>
          <a:ln/>
        </p:spPr>
        <p:txBody>
          <a:bodyPr wrap="square" lIns="0" tIns="0" rIns="0" bIns="0" rtlCol="0" anchor="ctr"/>
          <a:lstStyle/>
          <a:p>
            <a:pPr marL="0" indent="0">
              <a:buNone/>
            </a:pPr>
            <a:r>
              <a:rPr lang="en-US" sz="1450" b="1" dirty="0">
                <a:solidFill>
                  <a:schemeClr val="tx2"/>
                </a:solidFill>
              </a:rPr>
              <a:t>Medicine</a:t>
            </a:r>
            <a:endParaRPr lang="en-US" sz="1450" dirty="0"/>
          </a:p>
        </p:txBody>
      </p:sp>
      <p:sp>
        <p:nvSpPr>
          <p:cNvPr id="19" name="Text 13"/>
          <p:cNvSpPr txBox="1"/>
          <p:nvPr/>
        </p:nvSpPr>
        <p:spPr>
          <a:xfrm>
            <a:off x="5992368" y="2496312"/>
            <a:ext cx="2026920" cy="1143000"/>
          </a:xfrm>
          <a:prstGeom prst="rect">
            <a:avLst/>
          </a:prstGeom>
          <a:noFill/>
          <a:ln/>
        </p:spPr>
        <p:txBody>
          <a:bodyPr wrap="square" lIns="0" tIns="0" rIns="0" bIns="0" rtlCol="0" anchor="t"/>
          <a:lstStyle/>
          <a:p>
            <a:pPr marL="0" indent="0">
              <a:buNone/>
            </a:pPr>
            <a:r>
              <a:rPr lang="en-US" sz="1500" b="1" dirty="0">
                <a:solidFill>
                  <a:schemeClr val="accent1"/>
                </a:solidFill>
              </a:rPr>
              <a:t>Assoc. Prof. Sherine El-Khouly</a:t>
            </a:r>
            <a:endParaRPr lang="en-US" sz="1500" dirty="0"/>
          </a:p>
          <a:p>
            <a:pPr marL="0" indent="0">
              <a:spcAft>
                <a:spcPts val="600"/>
              </a:spcAft>
              <a:buNone/>
            </a:pPr>
            <a:r>
              <a:rPr lang="en-US" sz="1250" dirty="0">
                <a:solidFill>
                  <a:schemeClr val="tx1"/>
                </a:solidFill>
              </a:rPr>
              <a:t>Medicine and Surgery</a:t>
            </a:r>
            <a:endParaRPr lang="en-US" sz="1500" dirty="0"/>
          </a:p>
        </p:txBody>
      </p:sp>
      <p:sp>
        <p:nvSpPr>
          <p:cNvPr id="20" name="lead-card-3"/>
          <p:cNvSpPr/>
          <p:nvPr/>
        </p:nvSpPr>
        <p:spPr>
          <a:xfrm>
            <a:off x="548640" y="3977640"/>
            <a:ext cx="2392680" cy="2148840"/>
          </a:xfrm>
          <a:prstGeom prst="roundRect">
            <a:avLst>
              <a:gd name="adj" fmla="val 5106"/>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1" name="lead-icon-3-circle"/>
          <p:cNvSpPr/>
          <p:nvPr/>
        </p:nvSpPr>
        <p:spPr>
          <a:xfrm>
            <a:off x="749808" y="4178808"/>
            <a:ext cx="502920" cy="502920"/>
          </a:xfrm>
          <a:prstGeom prst="ellipse">
            <a:avLst/>
          </a:prstGeom>
          <a:solidFill>
            <a:schemeClr val="accent1"/>
          </a:solidFill>
          <a:ln/>
        </p:spPr>
        <p:txBody>
          <a:bodyPr/>
          <a:lstStyle/>
          <a:p>
            <a:endParaRPr lang="en-US"/>
          </a:p>
        </p:txBody>
      </p:sp>
      <p:pic>
        <p:nvPicPr>
          <p:cNvPr id="22" name="lead-icon-3" descr="preencoded.png"/>
          <p:cNvPicPr>
            <a:picLocks noChangeAspect="1"/>
          </p:cNvPicPr>
          <p:nvPr/>
        </p:nvPicPr>
        <p:blipFill>
          <a:blip r:embed="rId6"/>
          <a:stretch>
            <a:fillRect/>
          </a:stretch>
        </p:blipFill>
        <p:spPr>
          <a:xfrm>
            <a:off x="880567" y="4309567"/>
            <a:ext cx="241402" cy="241402"/>
          </a:xfrm>
          <a:prstGeom prst="rect">
            <a:avLst/>
          </a:prstGeom>
        </p:spPr>
      </p:pic>
      <p:sp>
        <p:nvSpPr>
          <p:cNvPr id="23" name="Text 16"/>
          <p:cNvSpPr txBox="1"/>
          <p:nvPr/>
        </p:nvSpPr>
        <p:spPr>
          <a:xfrm>
            <a:off x="1371600" y="4160520"/>
            <a:ext cx="1432560" cy="548640"/>
          </a:xfrm>
          <a:prstGeom prst="rect">
            <a:avLst/>
          </a:prstGeom>
          <a:noFill/>
          <a:ln/>
        </p:spPr>
        <p:txBody>
          <a:bodyPr wrap="square" lIns="0" tIns="0" rIns="0" bIns="0" rtlCol="0" anchor="ctr"/>
          <a:lstStyle/>
          <a:p>
            <a:pPr marL="0" indent="0">
              <a:buNone/>
            </a:pPr>
            <a:r>
              <a:rPr lang="en-US" sz="1450" b="1" dirty="0">
                <a:solidFill>
                  <a:schemeClr val="tx2"/>
                </a:solidFill>
              </a:rPr>
              <a:t>Pharmacy</a:t>
            </a:r>
            <a:endParaRPr lang="en-US" sz="1450" dirty="0"/>
          </a:p>
        </p:txBody>
      </p:sp>
      <p:sp>
        <p:nvSpPr>
          <p:cNvPr id="24" name="Text 17"/>
          <p:cNvSpPr txBox="1"/>
          <p:nvPr/>
        </p:nvSpPr>
        <p:spPr>
          <a:xfrm>
            <a:off x="749808" y="4873752"/>
            <a:ext cx="2026920" cy="1143000"/>
          </a:xfrm>
          <a:prstGeom prst="rect">
            <a:avLst/>
          </a:prstGeom>
          <a:noFill/>
          <a:ln/>
        </p:spPr>
        <p:txBody>
          <a:bodyPr wrap="square" lIns="0" tIns="0" rIns="0" bIns="0" rtlCol="0" anchor="t"/>
          <a:lstStyle/>
          <a:p>
            <a:pPr marL="0" indent="0">
              <a:buNone/>
            </a:pPr>
            <a:r>
              <a:rPr lang="en-US" sz="1500" b="1" dirty="0">
                <a:solidFill>
                  <a:schemeClr val="accent1"/>
                </a:solidFill>
              </a:rPr>
              <a:t>Assoc. Prof. Mohamed Yasser</a:t>
            </a:r>
            <a:endParaRPr lang="en-US" sz="1500" dirty="0"/>
          </a:p>
          <a:p>
            <a:pPr marL="0" indent="0">
              <a:spcAft>
                <a:spcPts val="600"/>
              </a:spcAft>
              <a:buNone/>
            </a:pPr>
            <a:r>
              <a:rPr lang="en-US" sz="1250" dirty="0">
                <a:solidFill>
                  <a:schemeClr val="tx1"/>
                </a:solidFill>
              </a:rPr>
              <a:t>Clinical Pharmacy (PharmD)</a:t>
            </a:r>
            <a:endParaRPr lang="en-US" sz="1500" dirty="0"/>
          </a:p>
        </p:txBody>
      </p:sp>
      <p:sp>
        <p:nvSpPr>
          <p:cNvPr id="25" name="lead-card-4"/>
          <p:cNvSpPr/>
          <p:nvPr/>
        </p:nvSpPr>
        <p:spPr>
          <a:xfrm>
            <a:off x="3169920" y="3977640"/>
            <a:ext cx="2392680" cy="2148840"/>
          </a:xfrm>
          <a:prstGeom prst="roundRect">
            <a:avLst>
              <a:gd name="adj" fmla="val 5106"/>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6" name="lead-icon-4-circle"/>
          <p:cNvSpPr/>
          <p:nvPr/>
        </p:nvSpPr>
        <p:spPr>
          <a:xfrm>
            <a:off x="3371088" y="4178808"/>
            <a:ext cx="502920" cy="502920"/>
          </a:xfrm>
          <a:prstGeom prst="ellipse">
            <a:avLst/>
          </a:prstGeom>
          <a:solidFill>
            <a:schemeClr val="accent1"/>
          </a:solidFill>
          <a:ln/>
        </p:spPr>
        <p:txBody>
          <a:bodyPr/>
          <a:lstStyle/>
          <a:p>
            <a:endParaRPr lang="en-US"/>
          </a:p>
        </p:txBody>
      </p:sp>
      <p:pic>
        <p:nvPicPr>
          <p:cNvPr id="27" name="lead-icon-4" descr="preencoded.png"/>
          <p:cNvPicPr>
            <a:picLocks noChangeAspect="1"/>
          </p:cNvPicPr>
          <p:nvPr/>
        </p:nvPicPr>
        <p:blipFill>
          <a:blip r:embed="rId7"/>
          <a:stretch>
            <a:fillRect/>
          </a:stretch>
        </p:blipFill>
        <p:spPr>
          <a:xfrm>
            <a:off x="3501847" y="4309567"/>
            <a:ext cx="241402" cy="241402"/>
          </a:xfrm>
          <a:prstGeom prst="rect">
            <a:avLst/>
          </a:prstGeom>
        </p:spPr>
      </p:pic>
      <p:sp>
        <p:nvSpPr>
          <p:cNvPr id="28" name="Text 20"/>
          <p:cNvSpPr txBox="1"/>
          <p:nvPr/>
        </p:nvSpPr>
        <p:spPr>
          <a:xfrm>
            <a:off x="3992880" y="4160520"/>
            <a:ext cx="1432560" cy="548640"/>
          </a:xfrm>
          <a:prstGeom prst="rect">
            <a:avLst/>
          </a:prstGeom>
          <a:noFill/>
          <a:ln/>
        </p:spPr>
        <p:txBody>
          <a:bodyPr wrap="square" lIns="0" tIns="0" rIns="0" bIns="0" rtlCol="0" anchor="ctr"/>
          <a:lstStyle/>
          <a:p>
            <a:pPr marL="0" indent="0">
              <a:buNone/>
            </a:pPr>
            <a:r>
              <a:rPr lang="en-US" sz="1450" b="1" dirty="0">
                <a:solidFill>
                  <a:schemeClr val="tx2"/>
                </a:solidFill>
              </a:rPr>
              <a:t>Applied Health Sciences</a:t>
            </a:r>
            <a:endParaRPr lang="en-US" sz="1450" dirty="0"/>
          </a:p>
        </p:txBody>
      </p:sp>
      <p:sp>
        <p:nvSpPr>
          <p:cNvPr id="29" name="Text 21"/>
          <p:cNvSpPr txBox="1"/>
          <p:nvPr/>
        </p:nvSpPr>
        <p:spPr>
          <a:xfrm>
            <a:off x="3371088" y="4873752"/>
            <a:ext cx="2026920" cy="1143000"/>
          </a:xfrm>
          <a:prstGeom prst="rect">
            <a:avLst/>
          </a:prstGeom>
          <a:noFill/>
          <a:ln/>
        </p:spPr>
        <p:txBody>
          <a:bodyPr wrap="square" lIns="0" tIns="0" rIns="0" bIns="0" rtlCol="0" anchor="t"/>
          <a:lstStyle/>
          <a:p>
            <a:pPr marL="0" indent="0">
              <a:buNone/>
            </a:pPr>
            <a:r>
              <a:rPr lang="en-US" sz="1500" b="1" dirty="0">
                <a:solidFill>
                  <a:schemeClr val="accent1"/>
                </a:solidFill>
              </a:rPr>
              <a:t>Dr. Salma Khairallah</a:t>
            </a:r>
            <a:endParaRPr lang="en-US" sz="1500" dirty="0"/>
          </a:p>
          <a:p>
            <a:pPr marL="0" indent="0">
              <a:spcAft>
                <a:spcPts val="600"/>
              </a:spcAft>
              <a:buNone/>
            </a:pPr>
            <a:r>
              <a:rPr lang="en-US" sz="1250" dirty="0">
                <a:solidFill>
                  <a:schemeClr val="tx1"/>
                </a:solidFill>
              </a:rPr>
              <a:t>Director of the Faculty's Programs</a:t>
            </a:r>
            <a:endParaRPr lang="en-US" sz="1500" dirty="0"/>
          </a:p>
        </p:txBody>
      </p:sp>
      <p:sp>
        <p:nvSpPr>
          <p:cNvPr id="30" name="lead-card-5"/>
          <p:cNvSpPr/>
          <p:nvPr/>
        </p:nvSpPr>
        <p:spPr>
          <a:xfrm>
            <a:off x="5791200" y="3977640"/>
            <a:ext cx="2392680" cy="2148840"/>
          </a:xfrm>
          <a:prstGeom prst="roundRect">
            <a:avLst>
              <a:gd name="adj" fmla="val 5106"/>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31" name="lead-icon-5-circle"/>
          <p:cNvSpPr/>
          <p:nvPr/>
        </p:nvSpPr>
        <p:spPr>
          <a:xfrm>
            <a:off x="5992368" y="4178808"/>
            <a:ext cx="502920" cy="502920"/>
          </a:xfrm>
          <a:prstGeom prst="ellipse">
            <a:avLst/>
          </a:prstGeom>
          <a:solidFill>
            <a:schemeClr val="accent1"/>
          </a:solidFill>
          <a:ln/>
        </p:spPr>
        <p:txBody>
          <a:bodyPr/>
          <a:lstStyle/>
          <a:p>
            <a:endParaRPr lang="en-US"/>
          </a:p>
        </p:txBody>
      </p:sp>
      <p:pic>
        <p:nvPicPr>
          <p:cNvPr id="32" name="lead-icon-5" descr="preencoded.png"/>
          <p:cNvPicPr>
            <a:picLocks noChangeAspect="1"/>
          </p:cNvPicPr>
          <p:nvPr/>
        </p:nvPicPr>
        <p:blipFill>
          <a:blip r:embed="rId8"/>
          <a:stretch>
            <a:fillRect/>
          </a:stretch>
        </p:blipFill>
        <p:spPr>
          <a:xfrm>
            <a:off x="6123127" y="4309567"/>
            <a:ext cx="241402" cy="241402"/>
          </a:xfrm>
          <a:prstGeom prst="rect">
            <a:avLst/>
          </a:prstGeom>
        </p:spPr>
      </p:pic>
      <p:sp>
        <p:nvSpPr>
          <p:cNvPr id="33" name="Text 24"/>
          <p:cNvSpPr txBox="1"/>
          <p:nvPr/>
        </p:nvSpPr>
        <p:spPr>
          <a:xfrm>
            <a:off x="6614160" y="4160520"/>
            <a:ext cx="1432560" cy="548640"/>
          </a:xfrm>
          <a:prstGeom prst="rect">
            <a:avLst/>
          </a:prstGeom>
          <a:noFill/>
          <a:ln/>
        </p:spPr>
        <p:txBody>
          <a:bodyPr wrap="square" lIns="0" tIns="0" rIns="0" bIns="0" rtlCol="0" anchor="ctr"/>
          <a:lstStyle/>
          <a:p>
            <a:pPr marL="0" indent="0">
              <a:buNone/>
            </a:pPr>
            <a:r>
              <a:rPr lang="en-US" sz="1450" b="1" dirty="0">
                <a:solidFill>
                  <a:schemeClr val="tx2"/>
                </a:solidFill>
              </a:rPr>
              <a:t>Business Sciences</a:t>
            </a:r>
            <a:endParaRPr lang="en-US" sz="1450" dirty="0"/>
          </a:p>
        </p:txBody>
      </p:sp>
      <p:sp>
        <p:nvSpPr>
          <p:cNvPr id="34" name="Text 25"/>
          <p:cNvSpPr txBox="1"/>
          <p:nvPr/>
        </p:nvSpPr>
        <p:spPr>
          <a:xfrm>
            <a:off x="5992368" y="4873752"/>
            <a:ext cx="2026920" cy="1143000"/>
          </a:xfrm>
          <a:prstGeom prst="rect">
            <a:avLst/>
          </a:prstGeom>
          <a:noFill/>
          <a:ln/>
        </p:spPr>
        <p:txBody>
          <a:bodyPr wrap="square" lIns="0" tIns="0" rIns="0" bIns="0" rtlCol="0" anchor="t"/>
          <a:lstStyle/>
          <a:p>
            <a:pPr marL="0" indent="0">
              <a:buNone/>
            </a:pPr>
            <a:r>
              <a:rPr lang="en-US" sz="1500" b="1" dirty="0">
                <a:solidFill>
                  <a:schemeClr val="accent1"/>
                </a:solidFill>
              </a:rPr>
              <a:t>Dr. Ali Gomaa</a:t>
            </a:r>
            <a:endParaRPr lang="en-US" sz="1500" dirty="0"/>
          </a:p>
          <a:p>
            <a:pPr marL="0" indent="0">
              <a:spcAft>
                <a:spcPts val="600"/>
              </a:spcAft>
              <a:buNone/>
            </a:pPr>
            <a:r>
              <a:rPr lang="en-US" sz="1250" dirty="0">
                <a:solidFill>
                  <a:schemeClr val="tx1"/>
                </a:solidFill>
              </a:rPr>
              <a:t>Accounting &amp; Software Applications</a:t>
            </a:r>
            <a:endParaRPr lang="en-US" sz="1500" dirty="0"/>
          </a:p>
        </p:txBody>
      </p:sp>
      <p:sp>
        <p:nvSpPr>
          <p:cNvPr id="35" name="offices-card"/>
          <p:cNvSpPr/>
          <p:nvPr/>
        </p:nvSpPr>
        <p:spPr>
          <a:xfrm>
            <a:off x="8458200" y="1600200"/>
            <a:ext cx="3184855" cy="4526280"/>
          </a:xfrm>
          <a:prstGeom prst="roundRect">
            <a:avLst>
              <a:gd name="adj" fmla="val 4307"/>
            </a:avLst>
          </a:prstGeom>
          <a:solidFill>
            <a:schemeClr val="tx2"/>
          </a:solidFill>
          <a:ln/>
        </p:spPr>
        <p:txBody>
          <a:bodyPr/>
          <a:lstStyle/>
          <a:p>
            <a:endParaRPr lang="en-US"/>
          </a:p>
        </p:txBody>
      </p:sp>
      <p:sp>
        <p:nvSpPr>
          <p:cNvPr id="36" name="Text 27"/>
          <p:cNvSpPr txBox="1"/>
          <p:nvPr/>
        </p:nvSpPr>
        <p:spPr>
          <a:xfrm>
            <a:off x="8732520" y="1783080"/>
            <a:ext cx="2636215" cy="411480"/>
          </a:xfrm>
          <a:prstGeom prst="rect">
            <a:avLst/>
          </a:prstGeom>
          <a:noFill/>
          <a:ln/>
        </p:spPr>
        <p:txBody>
          <a:bodyPr wrap="square" lIns="0" tIns="0" rIns="0" bIns="0" rtlCol="0" anchor="ctr"/>
          <a:lstStyle/>
          <a:p>
            <a:pPr marL="0" indent="0">
              <a:buNone/>
            </a:pPr>
            <a:r>
              <a:rPr lang="en-US" sz="1700" b="1" dirty="0">
                <a:solidFill>
                  <a:srgbClr val="FFFFFF"/>
                </a:solidFill>
              </a:rPr>
              <a:t>University Offices</a:t>
            </a:r>
            <a:endParaRPr lang="en-US" sz="1700" dirty="0"/>
          </a:p>
        </p:txBody>
      </p:sp>
      <p:sp>
        <p:nvSpPr>
          <p:cNvPr id="37" name="office-icon-0-circle"/>
          <p:cNvSpPr/>
          <p:nvPr/>
        </p:nvSpPr>
        <p:spPr>
          <a:xfrm>
            <a:off x="8732520" y="2450592"/>
            <a:ext cx="457200" cy="457200"/>
          </a:xfrm>
          <a:prstGeom prst="ellipse">
            <a:avLst/>
          </a:prstGeom>
          <a:solidFill>
            <a:schemeClr val="accent2"/>
          </a:solidFill>
          <a:ln/>
        </p:spPr>
        <p:txBody>
          <a:bodyPr/>
          <a:lstStyle/>
          <a:p>
            <a:endParaRPr lang="en-US"/>
          </a:p>
        </p:txBody>
      </p:sp>
      <p:pic>
        <p:nvPicPr>
          <p:cNvPr id="38" name="office-icon-0" descr="preencoded.png"/>
          <p:cNvPicPr>
            <a:picLocks noChangeAspect="1"/>
          </p:cNvPicPr>
          <p:nvPr/>
        </p:nvPicPr>
        <p:blipFill>
          <a:blip r:embed="rId9"/>
          <a:stretch>
            <a:fillRect/>
          </a:stretch>
        </p:blipFill>
        <p:spPr>
          <a:xfrm>
            <a:off x="8851392" y="2569464"/>
            <a:ext cx="219456" cy="219456"/>
          </a:xfrm>
          <a:prstGeom prst="rect">
            <a:avLst/>
          </a:prstGeom>
        </p:spPr>
      </p:pic>
      <p:sp>
        <p:nvSpPr>
          <p:cNvPr id="39" name="Text 29"/>
          <p:cNvSpPr txBox="1"/>
          <p:nvPr/>
        </p:nvSpPr>
        <p:spPr>
          <a:xfrm>
            <a:off x="9326880" y="2377440"/>
            <a:ext cx="2133295" cy="731520"/>
          </a:xfrm>
          <a:prstGeom prst="rect">
            <a:avLst/>
          </a:prstGeom>
          <a:noFill/>
          <a:ln/>
        </p:spPr>
        <p:txBody>
          <a:bodyPr wrap="square" lIns="0" tIns="0" rIns="0" bIns="0" rtlCol="0" anchor="ctr"/>
          <a:lstStyle/>
          <a:p>
            <a:pPr marL="0" indent="0">
              <a:buNone/>
            </a:pPr>
            <a:r>
              <a:rPr lang="en-US" sz="1200" dirty="0">
                <a:solidFill>
                  <a:srgbClr val="00D4FF"/>
                </a:solidFill>
              </a:rPr>
              <a:t>International Relations Office</a:t>
            </a:r>
            <a:endParaRPr lang="en-US" sz="1200" dirty="0"/>
          </a:p>
          <a:p>
            <a:pPr marL="0" indent="0">
              <a:buNone/>
            </a:pPr>
            <a:r>
              <a:rPr lang="en-US" sz="1500" b="1" dirty="0">
                <a:solidFill>
                  <a:srgbClr val="FFFFFF"/>
                </a:solidFill>
              </a:rPr>
              <a:t>Assoc. Prof. Mohamed El-Sakka</a:t>
            </a:r>
            <a:endParaRPr lang="en-US" sz="1200" dirty="0"/>
          </a:p>
        </p:txBody>
      </p:sp>
      <p:sp>
        <p:nvSpPr>
          <p:cNvPr id="40" name="office-icon-1-circle"/>
          <p:cNvSpPr/>
          <p:nvPr/>
        </p:nvSpPr>
        <p:spPr>
          <a:xfrm>
            <a:off x="8732520" y="3364992"/>
            <a:ext cx="457200" cy="457200"/>
          </a:xfrm>
          <a:prstGeom prst="ellipse">
            <a:avLst/>
          </a:prstGeom>
          <a:solidFill>
            <a:schemeClr val="accent1"/>
          </a:solidFill>
          <a:ln/>
        </p:spPr>
        <p:txBody>
          <a:bodyPr/>
          <a:lstStyle/>
          <a:p>
            <a:endParaRPr lang="en-US"/>
          </a:p>
        </p:txBody>
      </p:sp>
      <p:pic>
        <p:nvPicPr>
          <p:cNvPr id="41" name="office-icon-1" descr="preencoded.png"/>
          <p:cNvPicPr>
            <a:picLocks noChangeAspect="1"/>
          </p:cNvPicPr>
          <p:nvPr/>
        </p:nvPicPr>
        <p:blipFill>
          <a:blip r:embed="rId10"/>
          <a:stretch>
            <a:fillRect/>
          </a:stretch>
        </p:blipFill>
        <p:spPr>
          <a:xfrm>
            <a:off x="8851392" y="3483864"/>
            <a:ext cx="219456" cy="219456"/>
          </a:xfrm>
          <a:prstGeom prst="rect">
            <a:avLst/>
          </a:prstGeom>
        </p:spPr>
      </p:pic>
      <p:sp>
        <p:nvSpPr>
          <p:cNvPr id="42" name="Text 31"/>
          <p:cNvSpPr txBox="1"/>
          <p:nvPr/>
        </p:nvSpPr>
        <p:spPr>
          <a:xfrm>
            <a:off x="9326880" y="3291840"/>
            <a:ext cx="2133295" cy="731520"/>
          </a:xfrm>
          <a:prstGeom prst="rect">
            <a:avLst/>
          </a:prstGeom>
          <a:noFill/>
          <a:ln/>
        </p:spPr>
        <p:txBody>
          <a:bodyPr wrap="square" lIns="0" tIns="0" rIns="0" bIns="0" rtlCol="0" anchor="ctr"/>
          <a:lstStyle/>
          <a:p>
            <a:pPr marL="0" indent="0">
              <a:buNone/>
            </a:pPr>
            <a:r>
              <a:rPr lang="en-US" sz="1200" dirty="0">
                <a:solidFill>
                  <a:srgbClr val="00D4FF"/>
                </a:solidFill>
              </a:rPr>
              <a:t>Quality Assurance Center</a:t>
            </a:r>
            <a:endParaRPr lang="en-US" sz="1200" dirty="0"/>
          </a:p>
          <a:p>
            <a:pPr marL="0" indent="0">
              <a:buNone/>
            </a:pPr>
            <a:r>
              <a:rPr lang="en-US" sz="1500" b="1" dirty="0">
                <a:solidFill>
                  <a:srgbClr val="FFFFFF"/>
                </a:solidFill>
              </a:rPr>
              <a:t>Prof. Osama El-Baksawy</a:t>
            </a:r>
            <a:endParaRPr lang="en-US" sz="1200" dirty="0"/>
          </a:p>
        </p:txBody>
      </p:sp>
      <p:sp>
        <p:nvSpPr>
          <p:cNvPr id="43" name="office-icon-2-circle"/>
          <p:cNvSpPr/>
          <p:nvPr/>
        </p:nvSpPr>
        <p:spPr>
          <a:xfrm>
            <a:off x="8732520" y="4279392"/>
            <a:ext cx="457200" cy="457200"/>
          </a:xfrm>
          <a:prstGeom prst="ellipse">
            <a:avLst/>
          </a:prstGeom>
          <a:solidFill>
            <a:schemeClr val="accent1"/>
          </a:solidFill>
          <a:ln/>
        </p:spPr>
        <p:txBody>
          <a:bodyPr/>
          <a:lstStyle/>
          <a:p>
            <a:endParaRPr lang="en-US"/>
          </a:p>
        </p:txBody>
      </p:sp>
      <p:pic>
        <p:nvPicPr>
          <p:cNvPr id="44" name="office-icon-2" descr="preencoded.png"/>
          <p:cNvPicPr>
            <a:picLocks noChangeAspect="1"/>
          </p:cNvPicPr>
          <p:nvPr/>
        </p:nvPicPr>
        <p:blipFill>
          <a:blip r:embed="rId11"/>
          <a:stretch>
            <a:fillRect/>
          </a:stretch>
        </p:blipFill>
        <p:spPr>
          <a:xfrm>
            <a:off x="8851392" y="4398264"/>
            <a:ext cx="219456" cy="219456"/>
          </a:xfrm>
          <a:prstGeom prst="rect">
            <a:avLst/>
          </a:prstGeom>
        </p:spPr>
      </p:pic>
      <p:sp>
        <p:nvSpPr>
          <p:cNvPr id="45" name="Text 33"/>
          <p:cNvSpPr txBox="1"/>
          <p:nvPr/>
        </p:nvSpPr>
        <p:spPr>
          <a:xfrm>
            <a:off x="9326880" y="4206240"/>
            <a:ext cx="2133295" cy="731520"/>
          </a:xfrm>
          <a:prstGeom prst="rect">
            <a:avLst/>
          </a:prstGeom>
          <a:noFill/>
          <a:ln/>
        </p:spPr>
        <p:txBody>
          <a:bodyPr wrap="square" lIns="0" tIns="0" rIns="0" bIns="0" rtlCol="0" anchor="ctr"/>
          <a:lstStyle/>
          <a:p>
            <a:pPr marL="0" indent="0">
              <a:buNone/>
            </a:pPr>
            <a:r>
              <a:rPr lang="en-US" sz="1200" dirty="0">
                <a:solidFill>
                  <a:srgbClr val="00D4FF"/>
                </a:solidFill>
              </a:rPr>
              <a:t>Training &amp; Professional Development</a:t>
            </a:r>
            <a:endParaRPr lang="en-US" sz="1200" dirty="0"/>
          </a:p>
          <a:p>
            <a:pPr marL="0" indent="0">
              <a:buNone/>
            </a:pPr>
            <a:r>
              <a:rPr lang="en-US" sz="1500" b="1" dirty="0">
                <a:solidFill>
                  <a:srgbClr val="FFFFFF"/>
                </a:solidFill>
              </a:rPr>
              <a:t>Assoc. Prof. Asmaa Rady</a:t>
            </a:r>
            <a:endParaRPr lang="en-US" sz="1200" dirty="0"/>
          </a:p>
        </p:txBody>
      </p:sp>
      <p:sp>
        <p:nvSpPr>
          <p:cNvPr id="46" name="office-icon-3-circle"/>
          <p:cNvSpPr/>
          <p:nvPr/>
        </p:nvSpPr>
        <p:spPr>
          <a:xfrm>
            <a:off x="8732520" y="5193792"/>
            <a:ext cx="457200" cy="457200"/>
          </a:xfrm>
          <a:prstGeom prst="ellipse">
            <a:avLst/>
          </a:prstGeom>
          <a:solidFill>
            <a:schemeClr val="accent1"/>
          </a:solidFill>
          <a:ln/>
        </p:spPr>
        <p:txBody>
          <a:bodyPr/>
          <a:lstStyle/>
          <a:p>
            <a:endParaRPr lang="en-US"/>
          </a:p>
        </p:txBody>
      </p:sp>
      <p:pic>
        <p:nvPicPr>
          <p:cNvPr id="47" name="office-icon-3" descr="preencoded.png"/>
          <p:cNvPicPr>
            <a:picLocks noChangeAspect="1"/>
          </p:cNvPicPr>
          <p:nvPr/>
        </p:nvPicPr>
        <p:blipFill>
          <a:blip r:embed="rId12"/>
          <a:stretch>
            <a:fillRect/>
          </a:stretch>
        </p:blipFill>
        <p:spPr>
          <a:xfrm>
            <a:off x="8851392" y="5312664"/>
            <a:ext cx="219456" cy="219456"/>
          </a:xfrm>
          <a:prstGeom prst="rect">
            <a:avLst/>
          </a:prstGeom>
        </p:spPr>
      </p:pic>
      <p:sp>
        <p:nvSpPr>
          <p:cNvPr id="48" name="Text 35"/>
          <p:cNvSpPr txBox="1"/>
          <p:nvPr/>
        </p:nvSpPr>
        <p:spPr>
          <a:xfrm>
            <a:off x="9326880" y="5120640"/>
            <a:ext cx="2133295" cy="731520"/>
          </a:xfrm>
          <a:prstGeom prst="rect">
            <a:avLst/>
          </a:prstGeom>
          <a:noFill/>
          <a:ln/>
        </p:spPr>
        <p:txBody>
          <a:bodyPr wrap="square" lIns="0" tIns="0" rIns="0" bIns="0" rtlCol="0" anchor="ctr"/>
          <a:lstStyle/>
          <a:p>
            <a:pPr marL="0" indent="0">
              <a:buNone/>
            </a:pPr>
            <a:r>
              <a:rPr lang="en-US" sz="1200" dirty="0">
                <a:solidFill>
                  <a:srgbClr val="00D4FF"/>
                </a:solidFill>
              </a:rPr>
              <a:t>Secretary-General</a:t>
            </a:r>
            <a:endParaRPr lang="en-US" sz="1200" dirty="0"/>
          </a:p>
          <a:p>
            <a:pPr marL="0" indent="0">
              <a:buNone/>
            </a:pPr>
            <a:r>
              <a:rPr lang="en-US" sz="1500" b="1" dirty="0">
                <a:solidFill>
                  <a:srgbClr val="FFFFFF"/>
                </a:solidFill>
              </a:rPr>
              <a:t>Ms. Ghada Shazly</a:t>
            </a:r>
            <a:endParaRPr lang="en-US" sz="1200" dirty="0"/>
          </a:p>
        </p:txBody>
      </p:sp>
      <p:sp>
        <p:nvSpPr>
          <p:cNvPr id="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seal-watermark" descr="preencoded.png"/>
          <p:cNvPicPr>
            <a:picLocks noChangeAspect="1"/>
          </p:cNvPicPr>
          <p:nvPr/>
        </p:nvPicPr>
        <p:blipFill>
          <a:blip r:embed="rId3">
            <a:alphaModFix amt="12000"/>
          </a:blip>
          <a:stretch>
            <a:fillRect/>
          </a:stretch>
        </p:blipFill>
        <p:spPr>
          <a:xfrm>
            <a:off x="8001000" y="1828800"/>
            <a:ext cx="3931920" cy="3931920"/>
          </a:xfrm>
          <a:prstGeom prst="rect">
            <a:avLst/>
          </a:prstGeom>
        </p:spPr>
      </p:pic>
      <p:sp>
        <p:nvSpPr>
          <p:cNvPr id="4" name="section-number"/>
          <p:cNvSpPr txBox="1"/>
          <p:nvPr/>
        </p:nvSpPr>
        <p:spPr>
          <a:xfrm>
            <a:off x="1097280" y="1874520"/>
            <a:ext cx="2743200" cy="822960"/>
          </a:xfrm>
          <a:prstGeom prst="rect">
            <a:avLst/>
          </a:prstGeom>
          <a:noFill/>
          <a:ln/>
        </p:spPr>
        <p:txBody>
          <a:bodyPr wrap="square" lIns="0" tIns="0" rIns="0" bIns="0" rtlCol="0" anchor="ctr"/>
          <a:lstStyle/>
          <a:p>
            <a:pPr marL="0" indent="0">
              <a:buNone/>
            </a:pPr>
            <a:r>
              <a:rPr lang="en-US" sz="5400" b="1" dirty="0">
                <a:solidFill>
                  <a:schemeClr val="accent1"/>
                </a:solidFill>
                <a:latin typeface="Arial" pitchFamily="34" charset="0"/>
                <a:ea typeface="Arial" pitchFamily="34" charset="-122"/>
                <a:cs typeface="Arial" pitchFamily="34" charset="-120"/>
              </a:rPr>
              <a:t>02</a:t>
            </a:r>
            <a:endParaRPr lang="en-US" sz="5400" dirty="0"/>
          </a:p>
        </p:txBody>
      </p:sp>
      <p:sp>
        <p:nvSpPr>
          <p:cNvPr id="5" name="Text 0"/>
          <p:cNvSpPr>
            <a:spLocks noGrp="1"/>
          </p:cNvSpPr>
          <p:nvPr>
            <p:ph type="title" idx="101" hasCustomPrompt="1"/>
          </p:nvPr>
        </p:nvSpPr>
        <p:spPr>
          <a:xfrm>
            <a:off x="1097280" y="2788920"/>
            <a:ext cx="8686800" cy="914400"/>
          </a:xfrm>
          <a:prstGeom prst="rect">
            <a:avLst/>
          </a:prstGeom>
          <a:noFill/>
          <a:ln/>
        </p:spPr>
        <p:txBody>
          <a:bodyPr wrap="square" lIns="0" tIns="0" rIns="0" bIns="0" rtlCol="0" anchor="t"/>
          <a:lstStyle/>
          <a:p>
            <a:pPr marL="0" indent="0" algn="l">
              <a:buNone/>
            </a:pPr>
            <a:r>
              <a:rPr lang="en-US" sz="4400" b="1" dirty="0">
                <a:solidFill>
                  <a:schemeClr val="bg1"/>
                </a:solidFill>
                <a:latin typeface="Arial" pitchFamily="34" charset="0"/>
                <a:ea typeface="Arial" pitchFamily="34" charset="-122"/>
                <a:cs typeface="Arial" pitchFamily="34" charset="-120"/>
              </a:rPr>
              <a:t>Academics</a:t>
            </a:r>
            <a:endParaRPr lang="en-US" sz="4400" dirty="0"/>
          </a:p>
        </p:txBody>
      </p:sp>
      <p:sp>
        <p:nvSpPr>
          <p:cNvPr id="6" name="Text 0"/>
          <p:cNvSpPr>
            <a:spLocks noGrp="1"/>
          </p:cNvSpPr>
          <p:nvPr>
            <p:ph type="body" idx="102" hasCustomPrompt="1"/>
          </p:nvPr>
        </p:nvSpPr>
        <p:spPr>
          <a:xfrm>
            <a:off x="1097280" y="3794760"/>
            <a:ext cx="6675120" cy="731520"/>
          </a:xfrm>
          <a:prstGeom prst="rect">
            <a:avLst/>
          </a:prstGeom>
          <a:noFill/>
          <a:ln/>
        </p:spPr>
        <p:txBody>
          <a:bodyPr wrap="square" lIns="0" tIns="0" rIns="0" bIns="0" rtlCol="0" anchor="t"/>
          <a:lstStyle/>
          <a:p>
            <a:pPr marL="0" indent="0" algn="l">
              <a:buNone/>
            </a:pPr>
            <a:r>
              <a:rPr lang="en-US" sz="1800" dirty="0">
                <a:solidFill>
                  <a:schemeClr val="accent2"/>
                </a:solidFill>
              </a:rPr>
              <a:t>Seven faculties with programs designed for tomorrow's labor market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C"/>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Seven Faculties, Future-Ready Programs</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13+ bachelor's programs, with artificial intelligence across engineering, computing and the arts</a:t>
            </a:r>
            <a:endParaRPr lang="en-US" sz="1500" dirty="0"/>
          </a:p>
        </p:txBody>
      </p:sp>
      <p:sp>
        <p:nvSpPr>
          <p:cNvPr id="5" name="faculty-card-0"/>
          <p:cNvSpPr/>
          <p:nvPr/>
        </p:nvSpPr>
        <p:spPr>
          <a:xfrm>
            <a:off x="548640" y="1554480"/>
            <a:ext cx="2606040" cy="2148840"/>
          </a:xfrm>
          <a:prstGeom prst="roundRect">
            <a:avLst>
              <a:gd name="adj" fmla="val 5106"/>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6" name="faculty-icon-0-circle"/>
          <p:cNvSpPr/>
          <p:nvPr/>
        </p:nvSpPr>
        <p:spPr>
          <a:xfrm>
            <a:off x="777240" y="1783080"/>
            <a:ext cx="548640" cy="548640"/>
          </a:xfrm>
          <a:prstGeom prst="ellipse">
            <a:avLst/>
          </a:prstGeom>
          <a:solidFill>
            <a:schemeClr val="accent1"/>
          </a:solidFill>
          <a:ln/>
        </p:spPr>
        <p:txBody>
          <a:bodyPr/>
          <a:lstStyle/>
          <a:p>
            <a:endParaRPr lang="en-US"/>
          </a:p>
        </p:txBody>
      </p:sp>
      <p:pic>
        <p:nvPicPr>
          <p:cNvPr id="7" name="faculty-icon-0" descr="preencoded.png"/>
          <p:cNvPicPr>
            <a:picLocks noChangeAspect="1"/>
          </p:cNvPicPr>
          <p:nvPr/>
        </p:nvPicPr>
        <p:blipFill>
          <a:blip r:embed="rId3"/>
          <a:stretch>
            <a:fillRect/>
          </a:stretch>
        </p:blipFill>
        <p:spPr>
          <a:xfrm>
            <a:off x="919886" y="1925726"/>
            <a:ext cx="263347" cy="263347"/>
          </a:xfrm>
          <a:prstGeom prst="rect">
            <a:avLst/>
          </a:prstGeom>
        </p:spPr>
      </p:pic>
      <p:sp>
        <p:nvSpPr>
          <p:cNvPr id="8" name="Text 4"/>
          <p:cNvSpPr txBox="1"/>
          <p:nvPr/>
        </p:nvSpPr>
        <p:spPr>
          <a:xfrm>
            <a:off x="1417320" y="1783080"/>
            <a:ext cx="1600200" cy="548640"/>
          </a:xfrm>
          <a:prstGeom prst="rect">
            <a:avLst/>
          </a:prstGeom>
          <a:noFill/>
          <a:ln/>
        </p:spPr>
        <p:txBody>
          <a:bodyPr wrap="square" lIns="0" tIns="0" rIns="0" bIns="0" rtlCol="0" anchor="ctr"/>
          <a:lstStyle/>
          <a:p>
            <a:pPr marL="0" indent="0">
              <a:buNone/>
            </a:pPr>
            <a:r>
              <a:rPr lang="en-US" sz="1600" b="1" dirty="0">
                <a:solidFill>
                  <a:schemeClr val="tx2"/>
                </a:solidFill>
              </a:rPr>
              <a:t>Engineering</a:t>
            </a:r>
            <a:endParaRPr lang="en-US" sz="1600" dirty="0"/>
          </a:p>
        </p:txBody>
      </p:sp>
      <p:sp>
        <p:nvSpPr>
          <p:cNvPr id="9" name="Text 5"/>
          <p:cNvSpPr txBox="1"/>
          <p:nvPr/>
        </p:nvSpPr>
        <p:spPr>
          <a:xfrm>
            <a:off x="777240" y="2468880"/>
            <a:ext cx="2194560" cy="1097280"/>
          </a:xfrm>
          <a:prstGeom prst="rect">
            <a:avLst/>
          </a:prstGeom>
          <a:noFill/>
          <a:ln/>
        </p:spPr>
        <p:txBody>
          <a:bodyPr wrap="square" lIns="0" tIns="0" rIns="0" bIns="0" rtlCol="0" anchor="t"/>
          <a:lstStyle/>
          <a:p>
            <a:pPr marL="0" indent="0">
              <a:buNone/>
            </a:pPr>
            <a:r>
              <a:rPr lang="en-US" sz="1300" dirty="0">
                <a:solidFill>
                  <a:schemeClr val="tx1"/>
                </a:solidFill>
              </a:rPr>
              <a:t>Mechatronics &amp; Automation</a:t>
            </a:r>
            <a:endParaRPr lang="en-US" sz="1300" dirty="0"/>
          </a:p>
          <a:p>
            <a:pPr marL="0" indent="0">
              <a:buNone/>
            </a:pPr>
            <a:r>
              <a:rPr lang="en-US" sz="1300" dirty="0">
                <a:solidFill>
                  <a:schemeClr val="tx1"/>
                </a:solidFill>
              </a:rPr>
              <a:t>AI &amp; Machine Learning</a:t>
            </a:r>
            <a:endParaRPr lang="en-US" sz="1300" dirty="0"/>
          </a:p>
          <a:p>
            <a:pPr marL="0" indent="0">
              <a:buNone/>
            </a:pPr>
            <a:r>
              <a:rPr lang="en-US" sz="1300" dirty="0">
                <a:solidFill>
                  <a:schemeClr val="tx1"/>
                </a:solidFill>
              </a:rPr>
              <a:t>Construction</a:t>
            </a:r>
            <a:endParaRPr lang="en-US" sz="1300" dirty="0"/>
          </a:p>
          <a:p>
            <a:pPr marL="0" indent="0">
              <a:buNone/>
            </a:pPr>
            <a:r>
              <a:rPr lang="en-US" sz="1300" dirty="0">
                <a:solidFill>
                  <a:schemeClr val="tx1"/>
                </a:solidFill>
              </a:rPr>
              <a:t>Energy &amp; Electrical Power</a:t>
            </a:r>
            <a:endParaRPr lang="en-US" sz="1300" dirty="0"/>
          </a:p>
        </p:txBody>
      </p:sp>
      <p:sp>
        <p:nvSpPr>
          <p:cNvPr id="10" name="faculty-card-1"/>
          <p:cNvSpPr/>
          <p:nvPr/>
        </p:nvSpPr>
        <p:spPr>
          <a:xfrm>
            <a:off x="3383280" y="1554480"/>
            <a:ext cx="2606040" cy="2148840"/>
          </a:xfrm>
          <a:prstGeom prst="roundRect">
            <a:avLst>
              <a:gd name="adj" fmla="val 5106"/>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1" name="faculty-icon-1-circle"/>
          <p:cNvSpPr/>
          <p:nvPr/>
        </p:nvSpPr>
        <p:spPr>
          <a:xfrm>
            <a:off x="3611880" y="1783080"/>
            <a:ext cx="548640" cy="548640"/>
          </a:xfrm>
          <a:prstGeom prst="ellipse">
            <a:avLst/>
          </a:prstGeom>
          <a:solidFill>
            <a:schemeClr val="accent1"/>
          </a:solidFill>
          <a:ln/>
        </p:spPr>
        <p:txBody>
          <a:bodyPr/>
          <a:lstStyle/>
          <a:p>
            <a:endParaRPr lang="en-US"/>
          </a:p>
        </p:txBody>
      </p:sp>
      <p:pic>
        <p:nvPicPr>
          <p:cNvPr id="12" name="faculty-icon-1" descr="preencoded.png"/>
          <p:cNvPicPr>
            <a:picLocks noChangeAspect="1"/>
          </p:cNvPicPr>
          <p:nvPr/>
        </p:nvPicPr>
        <p:blipFill>
          <a:blip r:embed="rId4"/>
          <a:stretch>
            <a:fillRect/>
          </a:stretch>
        </p:blipFill>
        <p:spPr>
          <a:xfrm>
            <a:off x="3754526" y="1925726"/>
            <a:ext cx="263347" cy="263347"/>
          </a:xfrm>
          <a:prstGeom prst="rect">
            <a:avLst/>
          </a:prstGeom>
        </p:spPr>
      </p:pic>
      <p:sp>
        <p:nvSpPr>
          <p:cNvPr id="13" name="Text 8"/>
          <p:cNvSpPr txBox="1"/>
          <p:nvPr/>
        </p:nvSpPr>
        <p:spPr>
          <a:xfrm>
            <a:off x="4251960" y="1783080"/>
            <a:ext cx="1600200" cy="548640"/>
          </a:xfrm>
          <a:prstGeom prst="rect">
            <a:avLst/>
          </a:prstGeom>
          <a:noFill/>
          <a:ln/>
        </p:spPr>
        <p:txBody>
          <a:bodyPr wrap="square" lIns="0" tIns="0" rIns="0" bIns="0" rtlCol="0" anchor="ctr"/>
          <a:lstStyle/>
          <a:p>
            <a:pPr marL="0" indent="0">
              <a:buNone/>
            </a:pPr>
            <a:r>
              <a:rPr lang="en-US" sz="1600" b="1" dirty="0">
                <a:solidFill>
                  <a:schemeClr val="tx2"/>
                </a:solidFill>
              </a:rPr>
              <a:t>Medicine</a:t>
            </a:r>
            <a:endParaRPr lang="en-US" sz="1600" dirty="0"/>
          </a:p>
        </p:txBody>
      </p:sp>
      <p:sp>
        <p:nvSpPr>
          <p:cNvPr id="14" name="Text 9"/>
          <p:cNvSpPr txBox="1"/>
          <p:nvPr/>
        </p:nvSpPr>
        <p:spPr>
          <a:xfrm>
            <a:off x="3611880" y="2468880"/>
            <a:ext cx="2194560" cy="1097280"/>
          </a:xfrm>
          <a:prstGeom prst="rect">
            <a:avLst/>
          </a:prstGeom>
          <a:noFill/>
          <a:ln/>
        </p:spPr>
        <p:txBody>
          <a:bodyPr wrap="square" lIns="0" tIns="0" rIns="0" bIns="0" rtlCol="0" anchor="t"/>
          <a:lstStyle/>
          <a:p>
            <a:pPr marL="0" indent="0">
              <a:buNone/>
            </a:pPr>
            <a:r>
              <a:rPr lang="en-US" sz="1300" dirty="0">
                <a:solidFill>
                  <a:schemeClr val="tx1"/>
                </a:solidFill>
              </a:rPr>
              <a:t>Medicine and Surgery: 5 years plus a 2-year internship (ECTS)</a:t>
            </a:r>
            <a:endParaRPr lang="en-US" sz="1300" dirty="0"/>
          </a:p>
        </p:txBody>
      </p:sp>
      <p:sp>
        <p:nvSpPr>
          <p:cNvPr id="15" name="faculty-card-2"/>
          <p:cNvSpPr/>
          <p:nvPr/>
        </p:nvSpPr>
        <p:spPr>
          <a:xfrm>
            <a:off x="6217920" y="1554480"/>
            <a:ext cx="2606040" cy="2148840"/>
          </a:xfrm>
          <a:prstGeom prst="roundRect">
            <a:avLst>
              <a:gd name="adj" fmla="val 5106"/>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6" name="faculty-icon-2-circle"/>
          <p:cNvSpPr/>
          <p:nvPr/>
        </p:nvSpPr>
        <p:spPr>
          <a:xfrm>
            <a:off x="6446520" y="1783080"/>
            <a:ext cx="548640" cy="548640"/>
          </a:xfrm>
          <a:prstGeom prst="ellipse">
            <a:avLst/>
          </a:prstGeom>
          <a:solidFill>
            <a:schemeClr val="accent1"/>
          </a:solidFill>
          <a:ln/>
        </p:spPr>
        <p:txBody>
          <a:bodyPr/>
          <a:lstStyle/>
          <a:p>
            <a:endParaRPr lang="en-US"/>
          </a:p>
        </p:txBody>
      </p:sp>
      <p:pic>
        <p:nvPicPr>
          <p:cNvPr id="17" name="faculty-icon-2" descr="preencoded.png"/>
          <p:cNvPicPr>
            <a:picLocks noChangeAspect="1"/>
          </p:cNvPicPr>
          <p:nvPr/>
        </p:nvPicPr>
        <p:blipFill>
          <a:blip r:embed="rId5"/>
          <a:stretch>
            <a:fillRect/>
          </a:stretch>
        </p:blipFill>
        <p:spPr>
          <a:xfrm>
            <a:off x="6589166" y="1925726"/>
            <a:ext cx="263347" cy="263347"/>
          </a:xfrm>
          <a:prstGeom prst="rect">
            <a:avLst/>
          </a:prstGeom>
        </p:spPr>
      </p:pic>
      <p:sp>
        <p:nvSpPr>
          <p:cNvPr id="18" name="Text 12"/>
          <p:cNvSpPr txBox="1"/>
          <p:nvPr/>
        </p:nvSpPr>
        <p:spPr>
          <a:xfrm>
            <a:off x="7086600" y="1783080"/>
            <a:ext cx="1600200" cy="548640"/>
          </a:xfrm>
          <a:prstGeom prst="rect">
            <a:avLst/>
          </a:prstGeom>
          <a:noFill/>
          <a:ln/>
        </p:spPr>
        <p:txBody>
          <a:bodyPr wrap="square" lIns="0" tIns="0" rIns="0" bIns="0" rtlCol="0" anchor="ctr"/>
          <a:lstStyle/>
          <a:p>
            <a:pPr marL="0" indent="0">
              <a:buNone/>
            </a:pPr>
            <a:r>
              <a:rPr lang="en-US" sz="1600" b="1" dirty="0">
                <a:solidFill>
                  <a:schemeClr val="tx2"/>
                </a:solidFill>
              </a:rPr>
              <a:t>Pharmacy</a:t>
            </a:r>
            <a:endParaRPr lang="en-US" sz="1600" dirty="0"/>
          </a:p>
        </p:txBody>
      </p:sp>
      <p:sp>
        <p:nvSpPr>
          <p:cNvPr id="19" name="Text 13"/>
          <p:cNvSpPr txBox="1"/>
          <p:nvPr/>
        </p:nvSpPr>
        <p:spPr>
          <a:xfrm>
            <a:off x="6446520" y="2468880"/>
            <a:ext cx="2194560" cy="1097280"/>
          </a:xfrm>
          <a:prstGeom prst="rect">
            <a:avLst/>
          </a:prstGeom>
          <a:noFill/>
          <a:ln/>
        </p:spPr>
        <p:txBody>
          <a:bodyPr wrap="square" lIns="0" tIns="0" rIns="0" bIns="0" rtlCol="0" anchor="t"/>
          <a:lstStyle/>
          <a:p>
            <a:pPr marL="0" indent="0">
              <a:buNone/>
            </a:pPr>
            <a:r>
              <a:rPr lang="en-US" sz="1300" dirty="0">
                <a:solidFill>
                  <a:schemeClr val="tx1"/>
                </a:solidFill>
              </a:rPr>
              <a:t>Clinical Pharmacy (PharmD)</a:t>
            </a:r>
            <a:endParaRPr lang="en-US" sz="1300" dirty="0"/>
          </a:p>
        </p:txBody>
      </p:sp>
      <p:sp>
        <p:nvSpPr>
          <p:cNvPr id="20" name="faculty-card-3"/>
          <p:cNvSpPr/>
          <p:nvPr/>
        </p:nvSpPr>
        <p:spPr>
          <a:xfrm>
            <a:off x="9052560" y="1554480"/>
            <a:ext cx="2606040" cy="2148840"/>
          </a:xfrm>
          <a:prstGeom prst="roundRect">
            <a:avLst>
              <a:gd name="adj" fmla="val 5106"/>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1" name="faculty-icon-3-circle"/>
          <p:cNvSpPr/>
          <p:nvPr/>
        </p:nvSpPr>
        <p:spPr>
          <a:xfrm>
            <a:off x="9281160" y="1783080"/>
            <a:ext cx="548640" cy="548640"/>
          </a:xfrm>
          <a:prstGeom prst="ellipse">
            <a:avLst/>
          </a:prstGeom>
          <a:solidFill>
            <a:schemeClr val="accent1"/>
          </a:solidFill>
          <a:ln/>
        </p:spPr>
        <p:txBody>
          <a:bodyPr/>
          <a:lstStyle/>
          <a:p>
            <a:endParaRPr lang="en-US"/>
          </a:p>
        </p:txBody>
      </p:sp>
      <p:pic>
        <p:nvPicPr>
          <p:cNvPr id="22" name="faculty-icon-3" descr="preencoded.png"/>
          <p:cNvPicPr>
            <a:picLocks noChangeAspect="1"/>
          </p:cNvPicPr>
          <p:nvPr/>
        </p:nvPicPr>
        <p:blipFill>
          <a:blip r:embed="rId6"/>
          <a:stretch>
            <a:fillRect/>
          </a:stretch>
        </p:blipFill>
        <p:spPr>
          <a:xfrm>
            <a:off x="9423806" y="1925726"/>
            <a:ext cx="263347" cy="263347"/>
          </a:xfrm>
          <a:prstGeom prst="rect">
            <a:avLst/>
          </a:prstGeom>
        </p:spPr>
      </p:pic>
      <p:sp>
        <p:nvSpPr>
          <p:cNvPr id="23" name="Text 16"/>
          <p:cNvSpPr txBox="1"/>
          <p:nvPr/>
        </p:nvSpPr>
        <p:spPr>
          <a:xfrm>
            <a:off x="9921240" y="1783080"/>
            <a:ext cx="1600200" cy="548640"/>
          </a:xfrm>
          <a:prstGeom prst="rect">
            <a:avLst/>
          </a:prstGeom>
          <a:noFill/>
          <a:ln/>
        </p:spPr>
        <p:txBody>
          <a:bodyPr wrap="square" lIns="0" tIns="0" rIns="0" bIns="0" rtlCol="0" anchor="ctr"/>
          <a:lstStyle/>
          <a:p>
            <a:pPr marL="0" indent="0">
              <a:buNone/>
            </a:pPr>
            <a:r>
              <a:rPr lang="en-US" sz="1600" b="1" dirty="0">
                <a:solidFill>
                  <a:schemeClr val="tx2"/>
                </a:solidFill>
              </a:rPr>
              <a:t>Computer Science &amp; IT</a:t>
            </a:r>
            <a:endParaRPr lang="en-US" sz="1600" dirty="0"/>
          </a:p>
        </p:txBody>
      </p:sp>
      <p:sp>
        <p:nvSpPr>
          <p:cNvPr id="24" name="Text 17"/>
          <p:cNvSpPr txBox="1"/>
          <p:nvPr/>
        </p:nvSpPr>
        <p:spPr>
          <a:xfrm>
            <a:off x="9281160" y="2468880"/>
            <a:ext cx="2194560" cy="1097280"/>
          </a:xfrm>
          <a:prstGeom prst="rect">
            <a:avLst/>
          </a:prstGeom>
          <a:noFill/>
          <a:ln/>
        </p:spPr>
        <p:txBody>
          <a:bodyPr wrap="square" lIns="0" tIns="0" rIns="0" bIns="0" rtlCol="0" anchor="t"/>
          <a:lstStyle/>
          <a:p>
            <a:pPr marL="0" indent="0">
              <a:buNone/>
            </a:pPr>
            <a:r>
              <a:rPr lang="en-US" sz="1300" dirty="0">
                <a:solidFill>
                  <a:schemeClr val="tx1"/>
                </a:solidFill>
              </a:rPr>
              <a:t>Computer Science</a:t>
            </a:r>
            <a:endParaRPr lang="en-US" sz="1300" dirty="0"/>
          </a:p>
          <a:p>
            <a:pPr marL="0" indent="0">
              <a:buNone/>
            </a:pPr>
            <a:r>
              <a:rPr lang="en-US" sz="1300" dirty="0">
                <a:solidFill>
                  <a:schemeClr val="tx1"/>
                </a:solidFill>
              </a:rPr>
              <a:t>Artificial Intelligence</a:t>
            </a:r>
            <a:endParaRPr lang="en-US" sz="1300" dirty="0"/>
          </a:p>
          <a:p>
            <a:pPr marL="0" indent="0">
              <a:buNone/>
            </a:pPr>
            <a:r>
              <a:rPr lang="en-US" sz="1300" dirty="0">
                <a:solidFill>
                  <a:schemeClr val="tx1"/>
                </a:solidFill>
              </a:rPr>
              <a:t>Data Science</a:t>
            </a:r>
            <a:endParaRPr lang="en-US" sz="1300" dirty="0"/>
          </a:p>
          <a:p>
            <a:pPr marL="0" indent="0">
              <a:buNone/>
            </a:pPr>
            <a:r>
              <a:rPr lang="en-US" sz="1300" dirty="0">
                <a:solidFill>
                  <a:schemeClr val="tx1"/>
                </a:solidFill>
              </a:rPr>
              <a:t>Biomedical Informatics</a:t>
            </a:r>
            <a:endParaRPr lang="en-US" sz="1300" dirty="0"/>
          </a:p>
        </p:txBody>
      </p:sp>
      <p:sp>
        <p:nvSpPr>
          <p:cNvPr id="25" name="faculty-card-4"/>
          <p:cNvSpPr/>
          <p:nvPr/>
        </p:nvSpPr>
        <p:spPr>
          <a:xfrm>
            <a:off x="1965960" y="3931920"/>
            <a:ext cx="2606040" cy="2148840"/>
          </a:xfrm>
          <a:prstGeom prst="roundRect">
            <a:avLst>
              <a:gd name="adj" fmla="val 5106"/>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6" name="faculty-icon-4-circle"/>
          <p:cNvSpPr/>
          <p:nvPr/>
        </p:nvSpPr>
        <p:spPr>
          <a:xfrm>
            <a:off x="2194560" y="4160520"/>
            <a:ext cx="548640" cy="548640"/>
          </a:xfrm>
          <a:prstGeom prst="ellipse">
            <a:avLst/>
          </a:prstGeom>
          <a:solidFill>
            <a:schemeClr val="accent1"/>
          </a:solidFill>
          <a:ln/>
        </p:spPr>
        <p:txBody>
          <a:bodyPr/>
          <a:lstStyle/>
          <a:p>
            <a:endParaRPr lang="en-US"/>
          </a:p>
        </p:txBody>
      </p:sp>
      <p:pic>
        <p:nvPicPr>
          <p:cNvPr id="27" name="faculty-icon-4" descr="preencoded.png"/>
          <p:cNvPicPr>
            <a:picLocks noChangeAspect="1"/>
          </p:cNvPicPr>
          <p:nvPr/>
        </p:nvPicPr>
        <p:blipFill>
          <a:blip r:embed="rId7"/>
          <a:stretch>
            <a:fillRect/>
          </a:stretch>
        </p:blipFill>
        <p:spPr>
          <a:xfrm>
            <a:off x="2337206" y="4303166"/>
            <a:ext cx="263347" cy="263347"/>
          </a:xfrm>
          <a:prstGeom prst="rect">
            <a:avLst/>
          </a:prstGeom>
        </p:spPr>
      </p:pic>
      <p:sp>
        <p:nvSpPr>
          <p:cNvPr id="28" name="Text 20"/>
          <p:cNvSpPr txBox="1"/>
          <p:nvPr/>
        </p:nvSpPr>
        <p:spPr>
          <a:xfrm>
            <a:off x="2834640" y="4160520"/>
            <a:ext cx="1600200" cy="548640"/>
          </a:xfrm>
          <a:prstGeom prst="rect">
            <a:avLst/>
          </a:prstGeom>
          <a:noFill/>
          <a:ln/>
        </p:spPr>
        <p:txBody>
          <a:bodyPr wrap="square" lIns="0" tIns="0" rIns="0" bIns="0" rtlCol="0" anchor="ctr"/>
          <a:lstStyle/>
          <a:p>
            <a:pPr marL="0" indent="0">
              <a:buNone/>
            </a:pPr>
            <a:r>
              <a:rPr lang="en-US" sz="1600" b="1" dirty="0">
                <a:solidFill>
                  <a:schemeClr val="tx2"/>
                </a:solidFill>
              </a:rPr>
              <a:t>Applied Health Sciences</a:t>
            </a:r>
            <a:endParaRPr lang="en-US" sz="1600" dirty="0"/>
          </a:p>
        </p:txBody>
      </p:sp>
      <p:sp>
        <p:nvSpPr>
          <p:cNvPr id="29" name="Text 21"/>
          <p:cNvSpPr txBox="1"/>
          <p:nvPr/>
        </p:nvSpPr>
        <p:spPr>
          <a:xfrm>
            <a:off x="2194560" y="4846320"/>
            <a:ext cx="2194560" cy="1097280"/>
          </a:xfrm>
          <a:prstGeom prst="rect">
            <a:avLst/>
          </a:prstGeom>
          <a:noFill/>
          <a:ln/>
        </p:spPr>
        <p:txBody>
          <a:bodyPr wrap="square" lIns="0" tIns="0" rIns="0" bIns="0" rtlCol="0" anchor="t"/>
          <a:lstStyle/>
          <a:p>
            <a:pPr marL="0" indent="0">
              <a:buNone/>
            </a:pPr>
            <a:r>
              <a:rPr lang="en-US" sz="1300" dirty="0">
                <a:solidFill>
                  <a:schemeClr val="tx1"/>
                </a:solidFill>
              </a:rPr>
              <a:t>Medical Laboratory Technology</a:t>
            </a:r>
            <a:endParaRPr lang="en-US" sz="1300" dirty="0"/>
          </a:p>
          <a:p>
            <a:pPr marL="0" indent="0">
              <a:buNone/>
            </a:pPr>
            <a:r>
              <a:rPr lang="en-US" sz="1300" dirty="0">
                <a:solidFill>
                  <a:schemeClr val="tx1"/>
                </a:solidFill>
              </a:rPr>
              <a:t>Medical Imaging &amp; Radiologic Technology</a:t>
            </a:r>
            <a:endParaRPr lang="en-US" sz="1300" dirty="0"/>
          </a:p>
        </p:txBody>
      </p:sp>
      <p:sp>
        <p:nvSpPr>
          <p:cNvPr id="30" name="faculty-card-5"/>
          <p:cNvSpPr/>
          <p:nvPr/>
        </p:nvSpPr>
        <p:spPr>
          <a:xfrm>
            <a:off x="4800600" y="3931920"/>
            <a:ext cx="2606040" cy="2148840"/>
          </a:xfrm>
          <a:prstGeom prst="roundRect">
            <a:avLst>
              <a:gd name="adj" fmla="val 5106"/>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31" name="faculty-icon-5-circle"/>
          <p:cNvSpPr/>
          <p:nvPr/>
        </p:nvSpPr>
        <p:spPr>
          <a:xfrm>
            <a:off x="5029200" y="4160520"/>
            <a:ext cx="548640" cy="548640"/>
          </a:xfrm>
          <a:prstGeom prst="ellipse">
            <a:avLst/>
          </a:prstGeom>
          <a:solidFill>
            <a:schemeClr val="accent1"/>
          </a:solidFill>
          <a:ln/>
        </p:spPr>
        <p:txBody>
          <a:bodyPr/>
          <a:lstStyle/>
          <a:p>
            <a:endParaRPr lang="en-US"/>
          </a:p>
        </p:txBody>
      </p:sp>
      <p:pic>
        <p:nvPicPr>
          <p:cNvPr id="32" name="faculty-icon-5" descr="preencoded.png"/>
          <p:cNvPicPr>
            <a:picLocks noChangeAspect="1"/>
          </p:cNvPicPr>
          <p:nvPr/>
        </p:nvPicPr>
        <p:blipFill>
          <a:blip r:embed="rId8"/>
          <a:stretch>
            <a:fillRect/>
          </a:stretch>
        </p:blipFill>
        <p:spPr>
          <a:xfrm>
            <a:off x="5171846" y="4303166"/>
            <a:ext cx="263347" cy="263347"/>
          </a:xfrm>
          <a:prstGeom prst="rect">
            <a:avLst/>
          </a:prstGeom>
        </p:spPr>
      </p:pic>
      <p:sp>
        <p:nvSpPr>
          <p:cNvPr id="33" name="Text 24"/>
          <p:cNvSpPr txBox="1"/>
          <p:nvPr/>
        </p:nvSpPr>
        <p:spPr>
          <a:xfrm>
            <a:off x="5669280" y="4160520"/>
            <a:ext cx="1600200" cy="548640"/>
          </a:xfrm>
          <a:prstGeom prst="rect">
            <a:avLst/>
          </a:prstGeom>
          <a:noFill/>
          <a:ln/>
        </p:spPr>
        <p:txBody>
          <a:bodyPr wrap="square" lIns="0" tIns="0" rIns="0" bIns="0" rtlCol="0" anchor="ctr"/>
          <a:lstStyle/>
          <a:p>
            <a:pPr marL="0" indent="0">
              <a:buNone/>
            </a:pPr>
            <a:r>
              <a:rPr lang="en-US" sz="1600" b="1" dirty="0">
                <a:solidFill>
                  <a:schemeClr val="tx2"/>
                </a:solidFill>
              </a:rPr>
              <a:t>Business Sciences</a:t>
            </a:r>
            <a:endParaRPr lang="en-US" sz="1600" dirty="0"/>
          </a:p>
        </p:txBody>
      </p:sp>
      <p:sp>
        <p:nvSpPr>
          <p:cNvPr id="34" name="Text 25"/>
          <p:cNvSpPr txBox="1"/>
          <p:nvPr/>
        </p:nvSpPr>
        <p:spPr>
          <a:xfrm>
            <a:off x="5029200" y="4846320"/>
            <a:ext cx="2194560" cy="1097280"/>
          </a:xfrm>
          <a:prstGeom prst="rect">
            <a:avLst/>
          </a:prstGeom>
          <a:noFill/>
          <a:ln/>
        </p:spPr>
        <p:txBody>
          <a:bodyPr wrap="square" lIns="0" tIns="0" rIns="0" bIns="0" rtlCol="0" anchor="t"/>
          <a:lstStyle/>
          <a:p>
            <a:pPr marL="0" indent="0">
              <a:buNone/>
            </a:pPr>
            <a:r>
              <a:rPr lang="en-US" sz="1300" dirty="0">
                <a:solidFill>
                  <a:schemeClr val="tx1"/>
                </a:solidFill>
              </a:rPr>
              <a:t>Accounting &amp; Software Applications</a:t>
            </a:r>
            <a:endParaRPr lang="en-US" sz="1300" dirty="0"/>
          </a:p>
          <a:p>
            <a:pPr marL="0" indent="0">
              <a:buNone/>
            </a:pPr>
            <a:r>
              <a:rPr lang="en-US" sz="1300" dirty="0">
                <a:solidFill>
                  <a:schemeClr val="tx1"/>
                </a:solidFill>
              </a:rPr>
              <a:t>Digital Marketing &amp; E-Management</a:t>
            </a:r>
            <a:endParaRPr lang="en-US" sz="1300" dirty="0"/>
          </a:p>
        </p:txBody>
      </p:sp>
      <p:sp>
        <p:nvSpPr>
          <p:cNvPr id="35" name="faculty-card-6"/>
          <p:cNvSpPr/>
          <p:nvPr/>
        </p:nvSpPr>
        <p:spPr>
          <a:xfrm>
            <a:off x="7635240" y="3931920"/>
            <a:ext cx="2606040" cy="2148840"/>
          </a:xfrm>
          <a:prstGeom prst="roundRect">
            <a:avLst>
              <a:gd name="adj" fmla="val 5106"/>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36" name="faculty-icon-6-circle"/>
          <p:cNvSpPr/>
          <p:nvPr/>
        </p:nvSpPr>
        <p:spPr>
          <a:xfrm>
            <a:off x="7863840" y="4160520"/>
            <a:ext cx="548640" cy="548640"/>
          </a:xfrm>
          <a:prstGeom prst="ellipse">
            <a:avLst/>
          </a:prstGeom>
          <a:solidFill>
            <a:schemeClr val="accent1"/>
          </a:solidFill>
          <a:ln/>
        </p:spPr>
        <p:txBody>
          <a:bodyPr/>
          <a:lstStyle/>
          <a:p>
            <a:endParaRPr lang="en-US"/>
          </a:p>
        </p:txBody>
      </p:sp>
      <p:pic>
        <p:nvPicPr>
          <p:cNvPr id="37" name="faculty-icon-6" descr="preencoded.png"/>
          <p:cNvPicPr>
            <a:picLocks noChangeAspect="1"/>
          </p:cNvPicPr>
          <p:nvPr/>
        </p:nvPicPr>
        <p:blipFill>
          <a:blip r:embed="rId9"/>
          <a:stretch>
            <a:fillRect/>
          </a:stretch>
        </p:blipFill>
        <p:spPr>
          <a:xfrm>
            <a:off x="8006486" y="4303166"/>
            <a:ext cx="263347" cy="263347"/>
          </a:xfrm>
          <a:prstGeom prst="rect">
            <a:avLst/>
          </a:prstGeom>
        </p:spPr>
      </p:pic>
      <p:sp>
        <p:nvSpPr>
          <p:cNvPr id="38" name="Text 28"/>
          <p:cNvSpPr txBox="1"/>
          <p:nvPr/>
        </p:nvSpPr>
        <p:spPr>
          <a:xfrm>
            <a:off x="8503920" y="4160520"/>
            <a:ext cx="1600200" cy="548640"/>
          </a:xfrm>
          <a:prstGeom prst="rect">
            <a:avLst/>
          </a:prstGeom>
          <a:noFill/>
          <a:ln/>
        </p:spPr>
        <p:txBody>
          <a:bodyPr wrap="square" lIns="0" tIns="0" rIns="0" bIns="0" rtlCol="0" anchor="ctr"/>
          <a:lstStyle/>
          <a:p>
            <a:pPr marL="0" indent="0">
              <a:buNone/>
            </a:pPr>
            <a:r>
              <a:rPr lang="en-US" sz="1600" b="1" dirty="0">
                <a:solidFill>
                  <a:schemeClr val="tx2"/>
                </a:solidFill>
              </a:rPr>
              <a:t>Arts</a:t>
            </a:r>
            <a:endParaRPr lang="en-US" sz="1600" dirty="0"/>
          </a:p>
        </p:txBody>
      </p:sp>
      <p:sp>
        <p:nvSpPr>
          <p:cNvPr id="39" name="Text 29"/>
          <p:cNvSpPr txBox="1"/>
          <p:nvPr/>
        </p:nvSpPr>
        <p:spPr>
          <a:xfrm>
            <a:off x="7863840" y="4846320"/>
            <a:ext cx="2194560" cy="1097280"/>
          </a:xfrm>
          <a:prstGeom prst="rect">
            <a:avLst/>
          </a:prstGeom>
          <a:noFill/>
          <a:ln/>
        </p:spPr>
        <p:txBody>
          <a:bodyPr wrap="square" lIns="0" tIns="0" rIns="0" bIns="0" rtlCol="0" anchor="t"/>
          <a:lstStyle/>
          <a:p>
            <a:pPr marL="0" indent="0">
              <a:buNone/>
            </a:pPr>
            <a:r>
              <a:rPr lang="en-US" sz="1300" dirty="0">
                <a:solidFill>
                  <a:schemeClr val="tx1"/>
                </a:solidFill>
              </a:rPr>
              <a:t>English Language &amp; Translation</a:t>
            </a:r>
            <a:endParaRPr lang="en-US" sz="1300" dirty="0"/>
          </a:p>
          <a:p>
            <a:pPr marL="0" indent="0">
              <a:buNone/>
            </a:pPr>
            <a:r>
              <a:rPr lang="en-US" sz="1300" dirty="0">
                <a:solidFill>
                  <a:schemeClr val="tx1"/>
                </a:solidFill>
              </a:rPr>
              <a:t>Geomatics &amp; Artificial Intelligence</a:t>
            </a:r>
            <a:endParaRPr lang="en-US" sz="1300" dirty="0"/>
          </a:p>
        </p:txBody>
      </p:sp>
      <p:sp>
        <p:nvSpPr>
          <p:cNvPr id="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Faculty of Engineering</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A shared preparatory year, then three future-focused specializations</a:t>
            </a:r>
            <a:endParaRPr lang="en-US" sz="1500" dirty="0"/>
          </a:p>
        </p:txBody>
      </p:sp>
      <p:pic>
        <p:nvPicPr>
          <p:cNvPr id="5" name="fac-photo" descr="Engineering students in white coats at a workshop training session"/>
          <p:cNvPicPr>
            <a:picLocks noChangeAspect="1"/>
          </p:cNvPicPr>
          <p:nvPr/>
        </p:nvPicPr>
        <p:blipFill>
          <a:blip r:embed="rId3"/>
          <a:stretch>
            <a:fillRect/>
          </a:stretch>
        </p:blipFill>
        <p:spPr>
          <a:xfrm>
            <a:off x="548640" y="1600200"/>
            <a:ext cx="3886200" cy="2331720"/>
          </a:xfrm>
          <a:prstGeom prst="rect">
            <a:avLst/>
          </a:prstGeom>
        </p:spPr>
      </p:pic>
      <p:sp>
        <p:nvSpPr>
          <p:cNvPr id="6" name="fac-programs"/>
          <p:cNvSpPr/>
          <p:nvPr/>
        </p:nvSpPr>
        <p:spPr>
          <a:xfrm>
            <a:off x="548640" y="4114800"/>
            <a:ext cx="3886200" cy="2011680"/>
          </a:xfrm>
          <a:prstGeom prst="roundRect">
            <a:avLst>
              <a:gd name="adj" fmla="val 5455"/>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7" name="Text 3"/>
          <p:cNvSpPr txBox="1"/>
          <p:nvPr/>
        </p:nvSpPr>
        <p:spPr>
          <a:xfrm>
            <a:off x="777240" y="4224528"/>
            <a:ext cx="3429000" cy="365760"/>
          </a:xfrm>
          <a:prstGeom prst="rect">
            <a:avLst/>
          </a:prstGeom>
          <a:noFill/>
          <a:ln/>
        </p:spPr>
        <p:txBody>
          <a:bodyPr wrap="square" lIns="0" tIns="0" rIns="0" bIns="0" rtlCol="0" anchor="ctr"/>
          <a:lstStyle/>
          <a:p>
            <a:pPr marL="0" indent="0">
              <a:buNone/>
            </a:pPr>
            <a:r>
              <a:rPr lang="en-US" sz="1400" b="1" dirty="0">
                <a:solidFill>
                  <a:schemeClr val="accent1"/>
                </a:solidFill>
              </a:rPr>
              <a:t>Programs</a:t>
            </a:r>
            <a:endParaRPr lang="en-US" sz="1400" dirty="0"/>
          </a:p>
        </p:txBody>
      </p:sp>
      <p:sp>
        <p:nvSpPr>
          <p:cNvPr id="8" name="Text 4"/>
          <p:cNvSpPr txBox="1"/>
          <p:nvPr/>
        </p:nvSpPr>
        <p:spPr>
          <a:xfrm>
            <a:off x="777240" y="4617720"/>
            <a:ext cx="3429000" cy="141732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Mechatronics &amp; Automation Engineering</a:t>
            </a:r>
            <a:endParaRPr lang="en-US" sz="1300" dirty="0"/>
          </a:p>
          <a:p>
            <a:pPr marL="342900" indent="-342900">
              <a:spcAft>
                <a:spcPts val="300"/>
              </a:spcAft>
              <a:buSzPct val="100000"/>
              <a:buChar char="•"/>
            </a:pPr>
            <a:r>
              <a:rPr lang="en-US" sz="1300" dirty="0">
                <a:solidFill>
                  <a:schemeClr val="tx1"/>
                </a:solidFill>
              </a:rPr>
              <a:t>AI &amp; Machine Learning Engineering</a:t>
            </a:r>
            <a:endParaRPr lang="en-US" sz="1300" dirty="0"/>
          </a:p>
          <a:p>
            <a:pPr marL="342900" indent="-342900">
              <a:spcAft>
                <a:spcPts val="300"/>
              </a:spcAft>
              <a:buSzPct val="100000"/>
              <a:buChar char="•"/>
            </a:pPr>
            <a:r>
              <a:rPr lang="en-US" sz="1300" dirty="0">
                <a:solidFill>
                  <a:schemeClr val="tx1"/>
                </a:solidFill>
              </a:rPr>
              <a:t>Construction Engineering</a:t>
            </a:r>
            <a:endParaRPr lang="en-US" sz="1300" dirty="0"/>
          </a:p>
          <a:p>
            <a:pPr marL="342900" indent="-342900">
              <a:spcAft>
                <a:spcPts val="300"/>
              </a:spcAft>
              <a:buSzPct val="100000"/>
              <a:buChar char="•"/>
            </a:pPr>
            <a:r>
              <a:rPr lang="en-US" sz="1300" dirty="0">
                <a:solidFill>
                  <a:schemeClr val="tx1"/>
                </a:solidFill>
              </a:rPr>
              <a:t>Energy &amp; Electrical Power Engineering</a:t>
            </a:r>
            <a:endParaRPr lang="en-US" sz="1300" dirty="0"/>
          </a:p>
        </p:txBody>
      </p:sp>
      <p:sp>
        <p:nvSpPr>
          <p:cNvPr id="9" name="fac-fact-0"/>
          <p:cNvSpPr/>
          <p:nvPr/>
        </p:nvSpPr>
        <p:spPr>
          <a:xfrm>
            <a:off x="4709160" y="160020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0" name="fac-fact-icon-0-circle"/>
          <p:cNvSpPr/>
          <p:nvPr/>
        </p:nvSpPr>
        <p:spPr>
          <a:xfrm>
            <a:off x="4892040" y="1783080"/>
            <a:ext cx="457200" cy="457200"/>
          </a:xfrm>
          <a:prstGeom prst="ellipse">
            <a:avLst/>
          </a:prstGeom>
          <a:solidFill>
            <a:schemeClr val="accent1"/>
          </a:solidFill>
          <a:ln/>
        </p:spPr>
        <p:txBody>
          <a:bodyPr/>
          <a:lstStyle/>
          <a:p>
            <a:endParaRPr lang="en-US"/>
          </a:p>
        </p:txBody>
      </p:sp>
      <p:pic>
        <p:nvPicPr>
          <p:cNvPr id="11" name="fac-fact-icon-0" descr="preencoded.png"/>
          <p:cNvPicPr>
            <a:picLocks noChangeAspect="1"/>
          </p:cNvPicPr>
          <p:nvPr/>
        </p:nvPicPr>
        <p:blipFill>
          <a:blip r:embed="rId4"/>
          <a:stretch>
            <a:fillRect/>
          </a:stretch>
        </p:blipFill>
        <p:spPr>
          <a:xfrm>
            <a:off x="5010912" y="1901952"/>
            <a:ext cx="219456" cy="219456"/>
          </a:xfrm>
          <a:prstGeom prst="rect">
            <a:avLst/>
          </a:prstGeom>
        </p:spPr>
      </p:pic>
      <p:sp>
        <p:nvSpPr>
          <p:cNvPr id="12" name="Text 7"/>
          <p:cNvSpPr txBox="1"/>
          <p:nvPr/>
        </p:nvSpPr>
        <p:spPr>
          <a:xfrm>
            <a:off x="5486400" y="170992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Hands-on from day one</a:t>
            </a:r>
            <a:endParaRPr lang="en-US" sz="1400" dirty="0"/>
          </a:p>
          <a:p>
            <a:pPr marL="0" indent="0">
              <a:buNone/>
            </a:pPr>
            <a:r>
              <a:rPr lang="en-US" sz="1200" dirty="0">
                <a:solidFill>
                  <a:schemeClr val="tx1"/>
                </a:solidFill>
              </a:rPr>
              <a:t>Robotics projects, from line-following robots to 4- and 6-axis industrial robot models</a:t>
            </a:r>
            <a:endParaRPr lang="en-US" sz="1400" dirty="0"/>
          </a:p>
        </p:txBody>
      </p:sp>
      <p:sp>
        <p:nvSpPr>
          <p:cNvPr id="13" name="fac-fact-1"/>
          <p:cNvSpPr/>
          <p:nvPr/>
        </p:nvSpPr>
        <p:spPr>
          <a:xfrm>
            <a:off x="4709160" y="277749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4" name="fac-fact-icon-1-circle"/>
          <p:cNvSpPr/>
          <p:nvPr/>
        </p:nvSpPr>
        <p:spPr>
          <a:xfrm>
            <a:off x="4892040" y="2960370"/>
            <a:ext cx="457200" cy="457200"/>
          </a:xfrm>
          <a:prstGeom prst="ellipse">
            <a:avLst/>
          </a:prstGeom>
          <a:solidFill>
            <a:schemeClr val="accent1"/>
          </a:solidFill>
          <a:ln/>
        </p:spPr>
        <p:txBody>
          <a:bodyPr/>
          <a:lstStyle/>
          <a:p>
            <a:endParaRPr lang="en-US"/>
          </a:p>
        </p:txBody>
      </p:sp>
      <p:pic>
        <p:nvPicPr>
          <p:cNvPr id="15" name="fac-fact-icon-1" descr="preencoded.png"/>
          <p:cNvPicPr>
            <a:picLocks noChangeAspect="1"/>
          </p:cNvPicPr>
          <p:nvPr/>
        </p:nvPicPr>
        <p:blipFill>
          <a:blip r:embed="rId5"/>
          <a:stretch>
            <a:fillRect/>
          </a:stretch>
        </p:blipFill>
        <p:spPr>
          <a:xfrm>
            <a:off x="5010912" y="3079242"/>
            <a:ext cx="219456" cy="219456"/>
          </a:xfrm>
          <a:prstGeom prst="rect">
            <a:avLst/>
          </a:prstGeom>
        </p:spPr>
      </p:pic>
      <p:sp>
        <p:nvSpPr>
          <p:cNvPr id="16" name="Text 10"/>
          <p:cNvSpPr txBox="1"/>
          <p:nvPr/>
        </p:nvSpPr>
        <p:spPr>
          <a:xfrm>
            <a:off x="5486400" y="288721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Huawei ICT Academy</a:t>
            </a:r>
            <a:endParaRPr lang="en-US" sz="1400" dirty="0"/>
          </a:p>
          <a:p>
            <a:pPr marL="0" indent="0">
              <a:buNone/>
            </a:pPr>
            <a:r>
              <a:rPr lang="en-US" sz="1200" dirty="0">
                <a:solidFill>
                  <a:schemeClr val="tx1"/>
                </a:solidFill>
              </a:rPr>
              <a:t>AI students train in cloud, IoT and networking through Huawei's academy at EPNU</a:t>
            </a:r>
            <a:endParaRPr lang="en-US" sz="1400" dirty="0"/>
          </a:p>
        </p:txBody>
      </p:sp>
      <p:sp>
        <p:nvSpPr>
          <p:cNvPr id="17" name="fac-fact-2"/>
          <p:cNvSpPr/>
          <p:nvPr/>
        </p:nvSpPr>
        <p:spPr>
          <a:xfrm>
            <a:off x="4709160" y="395478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8" name="fac-fact-icon-2-circle"/>
          <p:cNvSpPr/>
          <p:nvPr/>
        </p:nvSpPr>
        <p:spPr>
          <a:xfrm>
            <a:off x="4892040" y="4137660"/>
            <a:ext cx="457200" cy="457200"/>
          </a:xfrm>
          <a:prstGeom prst="ellipse">
            <a:avLst/>
          </a:prstGeom>
          <a:solidFill>
            <a:schemeClr val="accent1"/>
          </a:solidFill>
          <a:ln/>
        </p:spPr>
        <p:txBody>
          <a:bodyPr/>
          <a:lstStyle/>
          <a:p>
            <a:endParaRPr lang="en-US"/>
          </a:p>
        </p:txBody>
      </p:sp>
      <p:pic>
        <p:nvPicPr>
          <p:cNvPr id="19" name="fac-fact-icon-2" descr="preencoded.png"/>
          <p:cNvPicPr>
            <a:picLocks noChangeAspect="1"/>
          </p:cNvPicPr>
          <p:nvPr/>
        </p:nvPicPr>
        <p:blipFill>
          <a:blip r:embed="rId6"/>
          <a:stretch>
            <a:fillRect/>
          </a:stretch>
        </p:blipFill>
        <p:spPr>
          <a:xfrm>
            <a:off x="5010912" y="4256532"/>
            <a:ext cx="219456" cy="219456"/>
          </a:xfrm>
          <a:prstGeom prst="rect">
            <a:avLst/>
          </a:prstGeom>
        </p:spPr>
      </p:pic>
      <p:sp>
        <p:nvSpPr>
          <p:cNvPr id="20" name="Text 13"/>
          <p:cNvSpPr txBox="1"/>
          <p:nvPr/>
        </p:nvSpPr>
        <p:spPr>
          <a:xfrm>
            <a:off x="5486400" y="406450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Industry training</a:t>
            </a:r>
            <a:endParaRPr lang="en-US" sz="1400" dirty="0"/>
          </a:p>
          <a:p>
            <a:pPr marL="0" indent="0">
              <a:buNone/>
            </a:pPr>
            <a:r>
              <a:rPr lang="en-US" sz="1200" dirty="0">
                <a:solidFill>
                  <a:schemeClr val="tx1"/>
                </a:solidFill>
              </a:rPr>
              <a:t>Workshops at the Suez Canal Authority Training Center; a signed protocol with BEDO for factory training and applied research</a:t>
            </a:r>
            <a:endParaRPr lang="en-US" sz="1400" dirty="0"/>
          </a:p>
        </p:txBody>
      </p:sp>
      <p:sp>
        <p:nvSpPr>
          <p:cNvPr id="21" name="fac-fact-3"/>
          <p:cNvSpPr/>
          <p:nvPr/>
        </p:nvSpPr>
        <p:spPr>
          <a:xfrm>
            <a:off x="4709160" y="513207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2" name="fac-fact-icon-3-circle"/>
          <p:cNvSpPr/>
          <p:nvPr/>
        </p:nvSpPr>
        <p:spPr>
          <a:xfrm>
            <a:off x="4892040" y="5314950"/>
            <a:ext cx="457200" cy="457200"/>
          </a:xfrm>
          <a:prstGeom prst="ellipse">
            <a:avLst/>
          </a:prstGeom>
          <a:solidFill>
            <a:schemeClr val="accent1"/>
          </a:solidFill>
          <a:ln/>
        </p:spPr>
        <p:txBody>
          <a:bodyPr/>
          <a:lstStyle/>
          <a:p>
            <a:endParaRPr lang="en-US"/>
          </a:p>
        </p:txBody>
      </p:sp>
      <p:pic>
        <p:nvPicPr>
          <p:cNvPr id="23" name="fac-fact-icon-3" descr="preencoded.png"/>
          <p:cNvPicPr>
            <a:picLocks noChangeAspect="1"/>
          </p:cNvPicPr>
          <p:nvPr/>
        </p:nvPicPr>
        <p:blipFill>
          <a:blip r:embed="rId7"/>
          <a:stretch>
            <a:fillRect/>
          </a:stretch>
        </p:blipFill>
        <p:spPr>
          <a:xfrm>
            <a:off x="5010912" y="5433822"/>
            <a:ext cx="219456" cy="219456"/>
          </a:xfrm>
          <a:prstGeom prst="rect">
            <a:avLst/>
          </a:prstGeom>
        </p:spPr>
      </p:pic>
      <p:sp>
        <p:nvSpPr>
          <p:cNvPr id="24" name="Text 16"/>
          <p:cNvSpPr txBox="1"/>
          <p:nvPr/>
        </p:nvSpPr>
        <p:spPr>
          <a:xfrm>
            <a:off x="5486400" y="524179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Competing nationally</a:t>
            </a:r>
            <a:endParaRPr lang="en-US" sz="1400" dirty="0"/>
          </a:p>
          <a:p>
            <a:pPr marL="0" indent="0">
              <a:buNone/>
            </a:pPr>
            <a:r>
              <a:rPr lang="en-US" sz="1200" dirty="0">
                <a:solidFill>
                  <a:schemeClr val="tx1"/>
                </a:solidFill>
              </a:rPr>
              <a:t>Teams at ITC-Egypt 2026 and the ICIAAI 2026 AI Hackathon</a:t>
            </a:r>
            <a:endParaRPr lang="en-US" sz="1400" dirty="0"/>
          </a:p>
        </p:txBody>
      </p:sp>
      <p:sp>
        <p:nvSpPr>
          <p:cNvPr id="25" name="director-card"/>
          <p:cNvSpPr/>
          <p:nvPr/>
        </p:nvSpPr>
        <p:spPr>
          <a:xfrm>
            <a:off x="8641080" y="1600200"/>
            <a:ext cx="3001975" cy="4526280"/>
          </a:xfrm>
          <a:prstGeom prst="roundRect">
            <a:avLst>
              <a:gd name="adj" fmla="val 4569"/>
            </a:avLst>
          </a:prstGeom>
          <a:solidFill>
            <a:schemeClr val="tx2"/>
          </a:solidFill>
          <a:ln/>
        </p:spPr>
        <p:txBody>
          <a:bodyPr/>
          <a:lstStyle/>
          <a:p>
            <a:endParaRPr lang="en-US"/>
          </a:p>
        </p:txBody>
      </p:sp>
      <p:sp>
        <p:nvSpPr>
          <p:cNvPr id="26" name="dir-icon-circle"/>
          <p:cNvSpPr/>
          <p:nvPr/>
        </p:nvSpPr>
        <p:spPr>
          <a:xfrm>
            <a:off x="8915400" y="1828800"/>
            <a:ext cx="502920" cy="502920"/>
          </a:xfrm>
          <a:prstGeom prst="ellipse">
            <a:avLst/>
          </a:prstGeom>
          <a:solidFill>
            <a:schemeClr val="accent2"/>
          </a:solidFill>
          <a:ln/>
        </p:spPr>
        <p:txBody>
          <a:bodyPr/>
          <a:lstStyle/>
          <a:p>
            <a:endParaRPr lang="en-US"/>
          </a:p>
        </p:txBody>
      </p:sp>
      <p:pic>
        <p:nvPicPr>
          <p:cNvPr id="27" name="dir-icon" descr="preencoded.png"/>
          <p:cNvPicPr>
            <a:picLocks noChangeAspect="1"/>
          </p:cNvPicPr>
          <p:nvPr/>
        </p:nvPicPr>
        <p:blipFill>
          <a:blip r:embed="rId8"/>
          <a:stretch>
            <a:fillRect/>
          </a:stretch>
        </p:blipFill>
        <p:spPr>
          <a:xfrm>
            <a:off x="9046159" y="1959559"/>
            <a:ext cx="241402" cy="241402"/>
          </a:xfrm>
          <a:prstGeom prst="rect">
            <a:avLst/>
          </a:prstGeom>
        </p:spPr>
      </p:pic>
      <p:sp>
        <p:nvSpPr>
          <p:cNvPr id="28" name="Text 19"/>
          <p:cNvSpPr txBox="1"/>
          <p:nvPr/>
        </p:nvSpPr>
        <p:spPr>
          <a:xfrm>
            <a:off x="9555480" y="1828800"/>
            <a:ext cx="1904695" cy="502920"/>
          </a:xfrm>
          <a:prstGeom prst="rect">
            <a:avLst/>
          </a:prstGeom>
          <a:noFill/>
          <a:ln/>
        </p:spPr>
        <p:txBody>
          <a:bodyPr wrap="square" lIns="0" tIns="0" rIns="0" bIns="0" rtlCol="0" anchor="ctr"/>
          <a:lstStyle/>
          <a:p>
            <a:pPr marL="0" indent="0">
              <a:buNone/>
            </a:pPr>
            <a:r>
              <a:rPr lang="en-US" sz="1500" b="1" dirty="0">
                <a:solidFill>
                  <a:srgbClr val="00D4FF"/>
                </a:solidFill>
              </a:rPr>
              <a:t>Program Directors</a:t>
            </a:r>
            <a:endParaRPr lang="en-US" sz="1500" dirty="0"/>
          </a:p>
        </p:txBody>
      </p:sp>
      <p:sp>
        <p:nvSpPr>
          <p:cNvPr id="29" name="director-0"/>
          <p:cNvSpPr txBox="1"/>
          <p:nvPr/>
        </p:nvSpPr>
        <p:spPr>
          <a:xfrm>
            <a:off x="8915400" y="2514600"/>
            <a:ext cx="2453335" cy="1623060"/>
          </a:xfrm>
          <a:prstGeom prst="rect">
            <a:avLst/>
          </a:prstGeom>
          <a:noFill/>
          <a:ln/>
        </p:spPr>
        <p:txBody>
          <a:bodyPr wrap="square" lIns="0" tIns="0" rIns="0" bIns="0" rtlCol="0" anchor="t"/>
          <a:lstStyle/>
          <a:p>
            <a:pPr marL="0" indent="0">
              <a:buNone/>
            </a:pPr>
            <a:r>
              <a:rPr lang="en-US" sz="1500" b="1" dirty="0">
                <a:solidFill>
                  <a:srgbClr val="FFFFFF"/>
                </a:solidFill>
              </a:rPr>
              <a:t>Assoc. Prof. Mohamed El-Sakka</a:t>
            </a:r>
            <a:endParaRPr lang="en-US" sz="1500" dirty="0"/>
          </a:p>
          <a:p>
            <a:pPr marL="0" indent="0">
              <a:spcAft>
                <a:spcPts val="400"/>
              </a:spcAft>
              <a:buNone/>
            </a:pPr>
            <a:r>
              <a:rPr lang="en-US" sz="1100" dirty="0">
                <a:solidFill>
                  <a:srgbClr val="00D4FF"/>
                </a:solidFill>
              </a:rPr>
              <a:t>Mechatronics &amp; Automation · Engineering Programs · IR Office</a:t>
            </a:r>
            <a:endParaRPr lang="en-US" sz="1500" dirty="0"/>
          </a:p>
          <a:p>
            <a:pPr marL="0" indent="0">
              <a:buNone/>
            </a:pPr>
            <a:r>
              <a:rPr lang="en-US" sz="1100" dirty="0">
                <a:solidFill>
                  <a:srgbClr val="DCE6F2"/>
                </a:solidFill>
              </a:rPr>
              <a:t>PhD, University of Sheffield (UK); wind-energy and CFD research at Port Said University.</a:t>
            </a:r>
            <a:endParaRPr lang="en-US" sz="1500" dirty="0"/>
          </a:p>
        </p:txBody>
      </p:sp>
      <p:sp>
        <p:nvSpPr>
          <p:cNvPr id="30" name="dir-sep"/>
          <p:cNvSpPr/>
          <p:nvPr/>
        </p:nvSpPr>
        <p:spPr>
          <a:xfrm>
            <a:off x="8915400" y="4201668"/>
            <a:ext cx="2453335" cy="0"/>
          </a:xfrm>
          <a:prstGeom prst="line">
            <a:avLst/>
          </a:prstGeom>
          <a:noFill/>
          <a:ln w="12700">
            <a:solidFill>
              <a:srgbClr val="35537F"/>
            </a:solidFill>
            <a:prstDash val="solid"/>
          </a:ln>
        </p:spPr>
        <p:txBody>
          <a:bodyPr/>
          <a:lstStyle/>
          <a:p>
            <a:endParaRPr lang="en-US"/>
          </a:p>
        </p:txBody>
      </p:sp>
      <p:sp>
        <p:nvSpPr>
          <p:cNvPr id="31" name="director-1"/>
          <p:cNvSpPr txBox="1"/>
          <p:nvPr/>
        </p:nvSpPr>
        <p:spPr>
          <a:xfrm>
            <a:off x="8915400" y="4274820"/>
            <a:ext cx="2453335" cy="1623060"/>
          </a:xfrm>
          <a:prstGeom prst="rect">
            <a:avLst/>
          </a:prstGeom>
          <a:noFill/>
          <a:ln/>
        </p:spPr>
        <p:txBody>
          <a:bodyPr wrap="square" lIns="0" tIns="0" rIns="0" bIns="0" rtlCol="0" anchor="t"/>
          <a:lstStyle/>
          <a:p>
            <a:pPr marL="0" indent="0">
              <a:buNone/>
            </a:pPr>
            <a:r>
              <a:rPr lang="en-US" sz="1500" b="1" dirty="0">
                <a:solidFill>
                  <a:srgbClr val="FFFFFF"/>
                </a:solidFill>
              </a:rPr>
              <a:t>Assoc. Prof. Asmaa Rady</a:t>
            </a:r>
            <a:endParaRPr lang="en-US" sz="1500" dirty="0"/>
          </a:p>
          <a:p>
            <a:pPr marL="0" indent="0">
              <a:spcAft>
                <a:spcPts val="400"/>
              </a:spcAft>
              <a:buNone/>
            </a:pPr>
            <a:r>
              <a:rPr lang="en-US" sz="1100" dirty="0">
                <a:solidFill>
                  <a:srgbClr val="00D4FF"/>
                </a:solidFill>
              </a:rPr>
              <a:t>AI &amp; Machine Learning · Construction · Training Center</a:t>
            </a:r>
            <a:endParaRPr lang="en-US" sz="1500" dirty="0"/>
          </a:p>
          <a:p>
            <a:pPr marL="0" indent="0">
              <a:buNone/>
            </a:pPr>
            <a:r>
              <a:rPr lang="en-US" sz="1100" dirty="0">
                <a:solidFill>
                  <a:srgbClr val="DCE6F2"/>
                </a:solidFill>
              </a:rPr>
              <a:t>PhD, University of Exeter (UK; Newton-Mosharafa scholar); research fellow, Politecnico di Torino.</a:t>
            </a:r>
            <a:endParaRPr lang="en-US" sz="1500" dirty="0"/>
          </a:p>
        </p:txBody>
      </p:sp>
      <p:sp>
        <p:nvSpPr>
          <p:cNvPr id="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Faculty of Computer Science &amp; IT</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Four-year programs built around AI, data and digital health</a:t>
            </a:r>
            <a:endParaRPr lang="en-US" sz="1500" dirty="0"/>
          </a:p>
        </p:txBody>
      </p:sp>
      <p:pic>
        <p:nvPicPr>
          <p:cNvPr id="5" name="fac-photo" descr="Computer science students competing at laptops in a programming contest"/>
          <p:cNvPicPr>
            <a:picLocks noChangeAspect="1"/>
          </p:cNvPicPr>
          <p:nvPr/>
        </p:nvPicPr>
        <p:blipFill>
          <a:blip r:embed="rId3"/>
          <a:stretch>
            <a:fillRect/>
          </a:stretch>
        </p:blipFill>
        <p:spPr>
          <a:xfrm>
            <a:off x="548640" y="1600200"/>
            <a:ext cx="3886200" cy="2331720"/>
          </a:xfrm>
          <a:prstGeom prst="rect">
            <a:avLst/>
          </a:prstGeom>
        </p:spPr>
      </p:pic>
      <p:sp>
        <p:nvSpPr>
          <p:cNvPr id="6" name="fac-programs"/>
          <p:cNvSpPr/>
          <p:nvPr/>
        </p:nvSpPr>
        <p:spPr>
          <a:xfrm>
            <a:off x="548640" y="4114800"/>
            <a:ext cx="3886200" cy="2011680"/>
          </a:xfrm>
          <a:prstGeom prst="roundRect">
            <a:avLst>
              <a:gd name="adj" fmla="val 5455"/>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7" name="Text 3"/>
          <p:cNvSpPr txBox="1"/>
          <p:nvPr/>
        </p:nvSpPr>
        <p:spPr>
          <a:xfrm>
            <a:off x="777240" y="4224528"/>
            <a:ext cx="3429000" cy="365760"/>
          </a:xfrm>
          <a:prstGeom prst="rect">
            <a:avLst/>
          </a:prstGeom>
          <a:noFill/>
          <a:ln/>
        </p:spPr>
        <p:txBody>
          <a:bodyPr wrap="square" lIns="0" tIns="0" rIns="0" bIns="0" rtlCol="0" anchor="ctr"/>
          <a:lstStyle/>
          <a:p>
            <a:pPr marL="0" indent="0">
              <a:buNone/>
            </a:pPr>
            <a:r>
              <a:rPr lang="en-US" sz="1400" b="1" dirty="0">
                <a:solidFill>
                  <a:schemeClr val="accent1"/>
                </a:solidFill>
              </a:rPr>
              <a:t>Programs</a:t>
            </a:r>
            <a:endParaRPr lang="en-US" sz="1400" dirty="0"/>
          </a:p>
        </p:txBody>
      </p:sp>
      <p:sp>
        <p:nvSpPr>
          <p:cNvPr id="8" name="Text 4"/>
          <p:cNvSpPr txBox="1"/>
          <p:nvPr/>
        </p:nvSpPr>
        <p:spPr>
          <a:xfrm>
            <a:off x="777240" y="4617720"/>
            <a:ext cx="3429000" cy="141732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Computer Science</a:t>
            </a:r>
            <a:endParaRPr lang="en-US" sz="1300" dirty="0"/>
          </a:p>
          <a:p>
            <a:pPr marL="342900" indent="-342900">
              <a:spcAft>
                <a:spcPts val="300"/>
              </a:spcAft>
              <a:buSzPct val="100000"/>
              <a:buChar char="•"/>
            </a:pPr>
            <a:r>
              <a:rPr lang="en-US" sz="1300" dirty="0">
                <a:solidFill>
                  <a:schemeClr val="tx1"/>
                </a:solidFill>
              </a:rPr>
              <a:t>Artificial Intelligence</a:t>
            </a:r>
            <a:endParaRPr lang="en-US" sz="1300" dirty="0"/>
          </a:p>
          <a:p>
            <a:pPr marL="342900" indent="-342900">
              <a:spcAft>
                <a:spcPts val="300"/>
              </a:spcAft>
              <a:buSzPct val="100000"/>
              <a:buChar char="•"/>
            </a:pPr>
            <a:r>
              <a:rPr lang="en-US" sz="1300" dirty="0">
                <a:solidFill>
                  <a:schemeClr val="tx1"/>
                </a:solidFill>
              </a:rPr>
              <a:t>Data Science in Information Systems</a:t>
            </a:r>
            <a:endParaRPr lang="en-US" sz="1300" dirty="0"/>
          </a:p>
          <a:p>
            <a:pPr marL="342900" indent="-342900">
              <a:spcAft>
                <a:spcPts val="300"/>
              </a:spcAft>
              <a:buSzPct val="100000"/>
              <a:buChar char="•"/>
            </a:pPr>
            <a:r>
              <a:rPr lang="en-US" sz="1300" dirty="0">
                <a:solidFill>
                  <a:schemeClr val="tx1"/>
                </a:solidFill>
              </a:rPr>
              <a:t>Biomedical Informatics</a:t>
            </a:r>
            <a:endParaRPr lang="en-US" sz="1300" dirty="0"/>
          </a:p>
        </p:txBody>
      </p:sp>
      <p:sp>
        <p:nvSpPr>
          <p:cNvPr id="9" name="fac-fact-0"/>
          <p:cNvSpPr/>
          <p:nvPr/>
        </p:nvSpPr>
        <p:spPr>
          <a:xfrm>
            <a:off x="4709160" y="160020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0" name="fac-fact-icon-0-circle"/>
          <p:cNvSpPr/>
          <p:nvPr/>
        </p:nvSpPr>
        <p:spPr>
          <a:xfrm>
            <a:off x="4892040" y="1783080"/>
            <a:ext cx="457200" cy="457200"/>
          </a:xfrm>
          <a:prstGeom prst="ellipse">
            <a:avLst/>
          </a:prstGeom>
          <a:solidFill>
            <a:schemeClr val="accent1"/>
          </a:solidFill>
          <a:ln/>
        </p:spPr>
        <p:txBody>
          <a:bodyPr/>
          <a:lstStyle/>
          <a:p>
            <a:endParaRPr lang="en-US"/>
          </a:p>
        </p:txBody>
      </p:sp>
      <p:pic>
        <p:nvPicPr>
          <p:cNvPr id="11" name="fac-fact-icon-0" descr="preencoded.png"/>
          <p:cNvPicPr>
            <a:picLocks noChangeAspect="1"/>
          </p:cNvPicPr>
          <p:nvPr/>
        </p:nvPicPr>
        <p:blipFill>
          <a:blip r:embed="rId4"/>
          <a:stretch>
            <a:fillRect/>
          </a:stretch>
        </p:blipFill>
        <p:spPr>
          <a:xfrm>
            <a:off x="5010912" y="1901952"/>
            <a:ext cx="219456" cy="219456"/>
          </a:xfrm>
          <a:prstGeom prst="rect">
            <a:avLst/>
          </a:prstGeom>
        </p:spPr>
      </p:pic>
      <p:sp>
        <p:nvSpPr>
          <p:cNvPr id="12" name="Text 7"/>
          <p:cNvSpPr txBox="1"/>
          <p:nvPr/>
        </p:nvSpPr>
        <p:spPr>
          <a:xfrm>
            <a:off x="5486400" y="170992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AI at the core</a:t>
            </a:r>
            <a:endParaRPr lang="en-US" sz="1400" dirty="0"/>
          </a:p>
          <a:p>
            <a:pPr marL="0" indent="0">
              <a:buNone/>
            </a:pPr>
            <a:r>
              <a:rPr lang="en-US" sz="1200" dirty="0">
                <a:solidFill>
                  <a:schemeClr val="tx1"/>
                </a:solidFill>
              </a:rPr>
              <a:t>Machine learning, intelligent systems and decision support across the programs</a:t>
            </a:r>
            <a:endParaRPr lang="en-US" sz="1400" dirty="0"/>
          </a:p>
        </p:txBody>
      </p:sp>
      <p:sp>
        <p:nvSpPr>
          <p:cNvPr id="13" name="fac-fact-1"/>
          <p:cNvSpPr/>
          <p:nvPr/>
        </p:nvSpPr>
        <p:spPr>
          <a:xfrm>
            <a:off x="4709160" y="277749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4" name="fac-fact-icon-1-circle"/>
          <p:cNvSpPr/>
          <p:nvPr/>
        </p:nvSpPr>
        <p:spPr>
          <a:xfrm>
            <a:off x="4892040" y="2960370"/>
            <a:ext cx="457200" cy="457200"/>
          </a:xfrm>
          <a:prstGeom prst="ellipse">
            <a:avLst/>
          </a:prstGeom>
          <a:solidFill>
            <a:schemeClr val="accent1"/>
          </a:solidFill>
          <a:ln/>
        </p:spPr>
        <p:txBody>
          <a:bodyPr/>
          <a:lstStyle/>
          <a:p>
            <a:endParaRPr lang="en-US"/>
          </a:p>
        </p:txBody>
      </p:sp>
      <p:pic>
        <p:nvPicPr>
          <p:cNvPr id="15" name="fac-fact-icon-1" descr="preencoded.png"/>
          <p:cNvPicPr>
            <a:picLocks noChangeAspect="1"/>
          </p:cNvPicPr>
          <p:nvPr/>
        </p:nvPicPr>
        <p:blipFill>
          <a:blip r:embed="rId5"/>
          <a:stretch>
            <a:fillRect/>
          </a:stretch>
        </p:blipFill>
        <p:spPr>
          <a:xfrm>
            <a:off x="5010912" y="3079242"/>
            <a:ext cx="219456" cy="219456"/>
          </a:xfrm>
          <a:prstGeom prst="rect">
            <a:avLst/>
          </a:prstGeom>
        </p:spPr>
      </p:pic>
      <p:sp>
        <p:nvSpPr>
          <p:cNvPr id="16" name="Text 10"/>
          <p:cNvSpPr txBox="1"/>
          <p:nvPr/>
        </p:nvSpPr>
        <p:spPr>
          <a:xfrm>
            <a:off x="5486400" y="288721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Computing meets medicine</a:t>
            </a:r>
            <a:endParaRPr lang="en-US" sz="1400" dirty="0"/>
          </a:p>
          <a:p>
            <a:pPr marL="0" indent="0">
              <a:buNone/>
            </a:pPr>
            <a:r>
              <a:rPr lang="en-US" sz="1200" dirty="0">
                <a:solidFill>
                  <a:schemeClr val="tx1"/>
                </a:solidFill>
              </a:rPr>
              <a:t>Biomedical Informatics builds systems on clinical data, biometrics and medical imaging</a:t>
            </a:r>
            <a:endParaRPr lang="en-US" sz="1400" dirty="0"/>
          </a:p>
        </p:txBody>
      </p:sp>
      <p:sp>
        <p:nvSpPr>
          <p:cNvPr id="17" name="fac-fact-2"/>
          <p:cNvSpPr/>
          <p:nvPr/>
        </p:nvSpPr>
        <p:spPr>
          <a:xfrm>
            <a:off x="4709160" y="395478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8" name="fac-fact-icon-2-circle"/>
          <p:cNvSpPr/>
          <p:nvPr/>
        </p:nvSpPr>
        <p:spPr>
          <a:xfrm>
            <a:off x="4892040" y="4137660"/>
            <a:ext cx="457200" cy="457200"/>
          </a:xfrm>
          <a:prstGeom prst="ellipse">
            <a:avLst/>
          </a:prstGeom>
          <a:solidFill>
            <a:schemeClr val="accent1"/>
          </a:solidFill>
          <a:ln/>
        </p:spPr>
        <p:txBody>
          <a:bodyPr/>
          <a:lstStyle/>
          <a:p>
            <a:endParaRPr lang="en-US"/>
          </a:p>
        </p:txBody>
      </p:sp>
      <p:pic>
        <p:nvPicPr>
          <p:cNvPr id="19" name="fac-fact-icon-2" descr="preencoded.png"/>
          <p:cNvPicPr>
            <a:picLocks noChangeAspect="1"/>
          </p:cNvPicPr>
          <p:nvPr/>
        </p:nvPicPr>
        <p:blipFill>
          <a:blip r:embed="rId6"/>
          <a:stretch>
            <a:fillRect/>
          </a:stretch>
        </p:blipFill>
        <p:spPr>
          <a:xfrm>
            <a:off x="5010912" y="4256532"/>
            <a:ext cx="219456" cy="219456"/>
          </a:xfrm>
          <a:prstGeom prst="rect">
            <a:avLst/>
          </a:prstGeom>
        </p:spPr>
      </p:pic>
      <p:sp>
        <p:nvSpPr>
          <p:cNvPr id="20" name="Text 13"/>
          <p:cNvSpPr txBox="1"/>
          <p:nvPr/>
        </p:nvSpPr>
        <p:spPr>
          <a:xfrm>
            <a:off x="5486400" y="406450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Competitive programmers</a:t>
            </a:r>
            <a:endParaRPr lang="en-US" sz="1400" dirty="0"/>
          </a:p>
          <a:p>
            <a:pPr marL="0" indent="0">
              <a:buNone/>
            </a:pPr>
            <a:r>
              <a:rPr lang="en-US" sz="1200" dirty="0">
                <a:solidFill>
                  <a:schemeClr val="tx1"/>
                </a:solidFill>
              </a:rPr>
              <a:t>Qualified for the Egyptian Collegiate Programming Contest (ECPC) 2026; ICPC-style community contests on campus</a:t>
            </a:r>
            <a:endParaRPr lang="en-US" sz="1400" dirty="0"/>
          </a:p>
        </p:txBody>
      </p:sp>
      <p:sp>
        <p:nvSpPr>
          <p:cNvPr id="21" name="fac-fact-3"/>
          <p:cNvSpPr/>
          <p:nvPr/>
        </p:nvSpPr>
        <p:spPr>
          <a:xfrm>
            <a:off x="4709160" y="513207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2" name="fac-fact-icon-3-circle"/>
          <p:cNvSpPr/>
          <p:nvPr/>
        </p:nvSpPr>
        <p:spPr>
          <a:xfrm>
            <a:off x="4892040" y="5314950"/>
            <a:ext cx="457200" cy="457200"/>
          </a:xfrm>
          <a:prstGeom prst="ellipse">
            <a:avLst/>
          </a:prstGeom>
          <a:solidFill>
            <a:schemeClr val="accent1"/>
          </a:solidFill>
          <a:ln/>
        </p:spPr>
        <p:txBody>
          <a:bodyPr/>
          <a:lstStyle/>
          <a:p>
            <a:endParaRPr lang="en-US"/>
          </a:p>
        </p:txBody>
      </p:sp>
      <p:pic>
        <p:nvPicPr>
          <p:cNvPr id="23" name="fac-fact-icon-3" descr="preencoded.png"/>
          <p:cNvPicPr>
            <a:picLocks noChangeAspect="1"/>
          </p:cNvPicPr>
          <p:nvPr/>
        </p:nvPicPr>
        <p:blipFill>
          <a:blip r:embed="rId7"/>
          <a:stretch>
            <a:fillRect/>
          </a:stretch>
        </p:blipFill>
        <p:spPr>
          <a:xfrm>
            <a:off x="5010912" y="5433822"/>
            <a:ext cx="219456" cy="219456"/>
          </a:xfrm>
          <a:prstGeom prst="rect">
            <a:avLst/>
          </a:prstGeom>
        </p:spPr>
      </p:pic>
      <p:sp>
        <p:nvSpPr>
          <p:cNvPr id="24" name="Text 16"/>
          <p:cNvSpPr txBox="1"/>
          <p:nvPr/>
        </p:nvSpPr>
        <p:spPr>
          <a:xfrm>
            <a:off x="5486400" y="524179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Skills partners</a:t>
            </a:r>
            <a:endParaRPr lang="en-US" sz="1400" dirty="0"/>
          </a:p>
          <a:p>
            <a:pPr marL="0" indent="0">
              <a:buNone/>
            </a:pPr>
            <a:r>
              <a:rPr lang="en-US" sz="1200" dirty="0">
                <a:solidFill>
                  <a:schemeClr val="tx1"/>
                </a:solidFill>
              </a:rPr>
              <a:t>Cooperation talks with ITI and Creativa Port Said on digital-skills training</a:t>
            </a:r>
            <a:endParaRPr lang="en-US" sz="1400" dirty="0"/>
          </a:p>
        </p:txBody>
      </p:sp>
      <p:sp>
        <p:nvSpPr>
          <p:cNvPr id="25" name="director-card"/>
          <p:cNvSpPr/>
          <p:nvPr/>
        </p:nvSpPr>
        <p:spPr>
          <a:xfrm>
            <a:off x="8641080" y="1600200"/>
            <a:ext cx="3001975" cy="4526280"/>
          </a:xfrm>
          <a:prstGeom prst="roundRect">
            <a:avLst>
              <a:gd name="adj" fmla="val 4569"/>
            </a:avLst>
          </a:prstGeom>
          <a:solidFill>
            <a:schemeClr val="tx2"/>
          </a:solidFill>
          <a:ln/>
        </p:spPr>
        <p:txBody>
          <a:bodyPr/>
          <a:lstStyle/>
          <a:p>
            <a:endParaRPr lang="en-US"/>
          </a:p>
        </p:txBody>
      </p:sp>
      <p:sp>
        <p:nvSpPr>
          <p:cNvPr id="26" name="dir-icon-circle"/>
          <p:cNvSpPr/>
          <p:nvPr/>
        </p:nvSpPr>
        <p:spPr>
          <a:xfrm>
            <a:off x="8915400" y="1828800"/>
            <a:ext cx="502920" cy="502920"/>
          </a:xfrm>
          <a:prstGeom prst="ellipse">
            <a:avLst/>
          </a:prstGeom>
          <a:solidFill>
            <a:schemeClr val="accent2"/>
          </a:solidFill>
          <a:ln/>
        </p:spPr>
        <p:txBody>
          <a:bodyPr/>
          <a:lstStyle/>
          <a:p>
            <a:endParaRPr lang="en-US"/>
          </a:p>
        </p:txBody>
      </p:sp>
      <p:pic>
        <p:nvPicPr>
          <p:cNvPr id="27" name="dir-icon" descr="preencoded.png"/>
          <p:cNvPicPr>
            <a:picLocks noChangeAspect="1"/>
          </p:cNvPicPr>
          <p:nvPr/>
        </p:nvPicPr>
        <p:blipFill>
          <a:blip r:embed="rId8"/>
          <a:stretch>
            <a:fillRect/>
          </a:stretch>
        </p:blipFill>
        <p:spPr>
          <a:xfrm>
            <a:off x="9046159" y="1959559"/>
            <a:ext cx="241402" cy="241402"/>
          </a:xfrm>
          <a:prstGeom prst="rect">
            <a:avLst/>
          </a:prstGeom>
        </p:spPr>
      </p:pic>
      <p:sp>
        <p:nvSpPr>
          <p:cNvPr id="28" name="Text 19"/>
          <p:cNvSpPr txBox="1"/>
          <p:nvPr/>
        </p:nvSpPr>
        <p:spPr>
          <a:xfrm>
            <a:off x="9555480" y="1828800"/>
            <a:ext cx="1904695" cy="502920"/>
          </a:xfrm>
          <a:prstGeom prst="rect">
            <a:avLst/>
          </a:prstGeom>
          <a:noFill/>
          <a:ln/>
        </p:spPr>
        <p:txBody>
          <a:bodyPr wrap="square" lIns="0" tIns="0" rIns="0" bIns="0" rtlCol="0" anchor="ctr"/>
          <a:lstStyle/>
          <a:p>
            <a:pPr marL="0" indent="0">
              <a:buNone/>
            </a:pPr>
            <a:r>
              <a:rPr lang="en-US" sz="1500" b="1" dirty="0">
                <a:solidFill>
                  <a:srgbClr val="00D4FF"/>
                </a:solidFill>
              </a:rPr>
              <a:t>Program Director</a:t>
            </a:r>
            <a:endParaRPr lang="en-US" sz="1500" dirty="0"/>
          </a:p>
        </p:txBody>
      </p:sp>
      <p:sp>
        <p:nvSpPr>
          <p:cNvPr id="29" name="director-0"/>
          <p:cNvSpPr txBox="1"/>
          <p:nvPr/>
        </p:nvSpPr>
        <p:spPr>
          <a:xfrm>
            <a:off x="8915400" y="2514600"/>
            <a:ext cx="2453335" cy="3383280"/>
          </a:xfrm>
          <a:prstGeom prst="rect">
            <a:avLst/>
          </a:prstGeom>
          <a:noFill/>
          <a:ln/>
        </p:spPr>
        <p:txBody>
          <a:bodyPr wrap="square" lIns="0" tIns="0" rIns="0" bIns="0" rtlCol="0" anchor="t"/>
          <a:lstStyle/>
          <a:p>
            <a:pPr marL="0" indent="0">
              <a:buNone/>
            </a:pPr>
            <a:r>
              <a:rPr lang="en-US" sz="1700" b="1" dirty="0">
                <a:solidFill>
                  <a:srgbClr val="FFFFFF"/>
                </a:solidFill>
              </a:rPr>
              <a:t>Prof. Osama El-Baksawy</a:t>
            </a:r>
            <a:endParaRPr lang="en-US" sz="1700" dirty="0"/>
          </a:p>
          <a:p>
            <a:pPr marL="0" indent="0">
              <a:spcAft>
                <a:spcPts val="800"/>
              </a:spcAft>
              <a:buNone/>
            </a:pPr>
            <a:r>
              <a:rPr lang="en-US" sz="1200" dirty="0">
                <a:solidFill>
                  <a:srgbClr val="00D4FF"/>
                </a:solidFill>
              </a:rPr>
              <a:t>Director of the Faculty's Programs · Quality Assurance Center</a:t>
            </a:r>
            <a:endParaRPr lang="en-US" sz="1700" dirty="0"/>
          </a:p>
          <a:p>
            <a:pPr marL="0" indent="0">
              <a:buNone/>
            </a:pPr>
            <a:r>
              <a:rPr lang="en-US" sz="1300" dirty="0">
                <a:solidFill>
                  <a:srgbClr val="DCE6F2"/>
                </a:solidFill>
              </a:rPr>
              <a:t>Faculty member in Electrical Power &amp; Machines Engineering at Port Said University. His research covers renewable energy, fractional-order control and metaheuristic optimization, with 24 indexed papers and 780+ citations (h-index 15, OpenAlex).</a:t>
            </a:r>
            <a:endParaRPr lang="en-US" sz="1700" dirty="0"/>
          </a:p>
        </p:txBody>
      </p:sp>
      <p:sp>
        <p:nvSpPr>
          <p:cNvPr id="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Faculty of Medicine</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An integrated, English-medium MBBCh with early clinical exposure</a:t>
            </a:r>
            <a:endParaRPr lang="en-US" sz="1500" dirty="0"/>
          </a:p>
        </p:txBody>
      </p:sp>
      <p:pic>
        <p:nvPicPr>
          <p:cNvPr id="5" name="fac-photo" descr="Medical student measuring a patient's blood pressure at a clinical outreach"/>
          <p:cNvPicPr>
            <a:picLocks noChangeAspect="1"/>
          </p:cNvPicPr>
          <p:nvPr/>
        </p:nvPicPr>
        <p:blipFill>
          <a:blip r:embed="rId3"/>
          <a:stretch>
            <a:fillRect/>
          </a:stretch>
        </p:blipFill>
        <p:spPr>
          <a:xfrm>
            <a:off x="548640" y="1600200"/>
            <a:ext cx="3886200" cy="2331720"/>
          </a:xfrm>
          <a:prstGeom prst="rect">
            <a:avLst/>
          </a:prstGeom>
        </p:spPr>
      </p:pic>
      <p:sp>
        <p:nvSpPr>
          <p:cNvPr id="6" name="fac-programs"/>
          <p:cNvSpPr/>
          <p:nvPr/>
        </p:nvSpPr>
        <p:spPr>
          <a:xfrm>
            <a:off x="548640" y="4114800"/>
            <a:ext cx="3886200" cy="2011680"/>
          </a:xfrm>
          <a:prstGeom prst="roundRect">
            <a:avLst>
              <a:gd name="adj" fmla="val 5455"/>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7" name="Text 3"/>
          <p:cNvSpPr txBox="1"/>
          <p:nvPr/>
        </p:nvSpPr>
        <p:spPr>
          <a:xfrm>
            <a:off x="777240" y="4224528"/>
            <a:ext cx="3429000" cy="365760"/>
          </a:xfrm>
          <a:prstGeom prst="rect">
            <a:avLst/>
          </a:prstGeom>
          <a:noFill/>
          <a:ln/>
        </p:spPr>
        <p:txBody>
          <a:bodyPr wrap="square" lIns="0" tIns="0" rIns="0" bIns="0" rtlCol="0" anchor="ctr"/>
          <a:lstStyle/>
          <a:p>
            <a:pPr marL="0" indent="0">
              <a:buNone/>
            </a:pPr>
            <a:r>
              <a:rPr lang="en-US" sz="1400" b="1" dirty="0">
                <a:solidFill>
                  <a:schemeClr val="accent1"/>
                </a:solidFill>
              </a:rPr>
              <a:t>Programs</a:t>
            </a:r>
            <a:endParaRPr lang="en-US" sz="1400" dirty="0"/>
          </a:p>
        </p:txBody>
      </p:sp>
      <p:sp>
        <p:nvSpPr>
          <p:cNvPr id="8" name="Text 4"/>
          <p:cNvSpPr txBox="1"/>
          <p:nvPr/>
        </p:nvSpPr>
        <p:spPr>
          <a:xfrm>
            <a:off x="777240" y="4617720"/>
            <a:ext cx="3429000" cy="141732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Bachelor of Medicine &amp; Surgery (MBBCh)</a:t>
            </a:r>
            <a:endParaRPr lang="en-US" sz="1300" dirty="0"/>
          </a:p>
          <a:p>
            <a:pPr marL="342900" indent="-342900">
              <a:spcAft>
                <a:spcPts val="300"/>
              </a:spcAft>
              <a:buSzPct val="100000"/>
              <a:buChar char="•"/>
            </a:pPr>
            <a:r>
              <a:rPr lang="en-US" sz="1300" dirty="0">
                <a:solidFill>
                  <a:schemeClr val="tx1"/>
                </a:solidFill>
              </a:rPr>
              <a:t>5 years (10 semesters) + 2-year internship</a:t>
            </a:r>
            <a:endParaRPr lang="en-US" sz="1300" dirty="0"/>
          </a:p>
          <a:p>
            <a:pPr marL="342900" indent="-342900">
              <a:spcAft>
                <a:spcPts val="300"/>
              </a:spcAft>
              <a:buSzPct val="100000"/>
              <a:buChar char="•"/>
            </a:pPr>
            <a:r>
              <a:rPr lang="en-US" sz="1300" dirty="0">
                <a:solidFill>
                  <a:schemeClr val="tx1"/>
                </a:solidFill>
              </a:rPr>
              <a:t>ECTS credit system, taught in English</a:t>
            </a:r>
            <a:endParaRPr lang="en-US" sz="1300" dirty="0"/>
          </a:p>
        </p:txBody>
      </p:sp>
      <p:sp>
        <p:nvSpPr>
          <p:cNvPr id="9" name="fac-fact-0"/>
          <p:cNvSpPr/>
          <p:nvPr/>
        </p:nvSpPr>
        <p:spPr>
          <a:xfrm>
            <a:off x="4709160" y="160020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0" name="fac-fact-icon-0-circle"/>
          <p:cNvSpPr/>
          <p:nvPr/>
        </p:nvSpPr>
        <p:spPr>
          <a:xfrm>
            <a:off x="4892040" y="1783080"/>
            <a:ext cx="457200" cy="457200"/>
          </a:xfrm>
          <a:prstGeom prst="ellipse">
            <a:avLst/>
          </a:prstGeom>
          <a:solidFill>
            <a:schemeClr val="accent1"/>
          </a:solidFill>
          <a:ln/>
        </p:spPr>
        <p:txBody>
          <a:bodyPr/>
          <a:lstStyle/>
          <a:p>
            <a:endParaRPr lang="en-US"/>
          </a:p>
        </p:txBody>
      </p:sp>
      <p:pic>
        <p:nvPicPr>
          <p:cNvPr id="11" name="fac-fact-icon-0" descr="preencoded.png"/>
          <p:cNvPicPr>
            <a:picLocks noChangeAspect="1"/>
          </p:cNvPicPr>
          <p:nvPr/>
        </p:nvPicPr>
        <p:blipFill>
          <a:blip r:embed="rId4"/>
          <a:stretch>
            <a:fillRect/>
          </a:stretch>
        </p:blipFill>
        <p:spPr>
          <a:xfrm>
            <a:off x="5010912" y="1901952"/>
            <a:ext cx="219456" cy="219456"/>
          </a:xfrm>
          <a:prstGeom prst="rect">
            <a:avLst/>
          </a:prstGeom>
        </p:spPr>
      </p:pic>
      <p:sp>
        <p:nvSpPr>
          <p:cNvPr id="12" name="Text 7"/>
          <p:cNvSpPr txBox="1"/>
          <p:nvPr/>
        </p:nvSpPr>
        <p:spPr>
          <a:xfrm>
            <a:off x="5486400" y="170992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Integrated curriculum</a:t>
            </a:r>
            <a:endParaRPr lang="en-US" sz="1400" dirty="0"/>
          </a:p>
          <a:p>
            <a:pPr marL="0" indent="0">
              <a:buNone/>
            </a:pPr>
            <a:r>
              <a:rPr lang="en-US" sz="1200" dirty="0">
                <a:solidFill>
                  <a:schemeClr val="tx1"/>
                </a:solidFill>
              </a:rPr>
              <a:t>Basic sciences, clinical training and community service taught together</a:t>
            </a:r>
            <a:endParaRPr lang="en-US" sz="1400" dirty="0"/>
          </a:p>
        </p:txBody>
      </p:sp>
      <p:sp>
        <p:nvSpPr>
          <p:cNvPr id="13" name="fac-fact-1"/>
          <p:cNvSpPr/>
          <p:nvPr/>
        </p:nvSpPr>
        <p:spPr>
          <a:xfrm>
            <a:off x="4709160" y="277749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4" name="fac-fact-icon-1-circle"/>
          <p:cNvSpPr/>
          <p:nvPr/>
        </p:nvSpPr>
        <p:spPr>
          <a:xfrm>
            <a:off x="4892040" y="2960370"/>
            <a:ext cx="457200" cy="457200"/>
          </a:xfrm>
          <a:prstGeom prst="ellipse">
            <a:avLst/>
          </a:prstGeom>
          <a:solidFill>
            <a:schemeClr val="accent1"/>
          </a:solidFill>
          <a:ln/>
        </p:spPr>
        <p:txBody>
          <a:bodyPr/>
          <a:lstStyle/>
          <a:p>
            <a:endParaRPr lang="en-US"/>
          </a:p>
        </p:txBody>
      </p:sp>
      <p:pic>
        <p:nvPicPr>
          <p:cNvPr id="15" name="fac-fact-icon-1" descr="preencoded.png"/>
          <p:cNvPicPr>
            <a:picLocks noChangeAspect="1"/>
          </p:cNvPicPr>
          <p:nvPr/>
        </p:nvPicPr>
        <p:blipFill>
          <a:blip r:embed="rId5"/>
          <a:stretch>
            <a:fillRect/>
          </a:stretch>
        </p:blipFill>
        <p:spPr>
          <a:xfrm>
            <a:off x="5010912" y="3079242"/>
            <a:ext cx="219456" cy="219456"/>
          </a:xfrm>
          <a:prstGeom prst="rect">
            <a:avLst/>
          </a:prstGeom>
        </p:spPr>
      </p:pic>
      <p:sp>
        <p:nvSpPr>
          <p:cNvPr id="16" name="Text 10"/>
          <p:cNvSpPr txBox="1"/>
          <p:nvPr/>
        </p:nvSpPr>
        <p:spPr>
          <a:xfrm>
            <a:off x="5486400" y="288721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Community medicine in Sinai</a:t>
            </a:r>
            <a:endParaRPr lang="en-US" sz="1400" dirty="0"/>
          </a:p>
          <a:p>
            <a:pPr marL="0" indent="0">
              <a:buNone/>
            </a:pPr>
            <a:r>
              <a:rPr lang="en-US" sz="1200" dirty="0">
                <a:solidFill>
                  <a:schemeClr val="tx1"/>
                </a:solidFill>
              </a:rPr>
              <a:t>Students train with medical convoys at primary-care units in North Sinai</a:t>
            </a:r>
            <a:endParaRPr lang="en-US" sz="1400" dirty="0"/>
          </a:p>
        </p:txBody>
      </p:sp>
      <p:sp>
        <p:nvSpPr>
          <p:cNvPr id="17" name="fac-fact-2"/>
          <p:cNvSpPr/>
          <p:nvPr/>
        </p:nvSpPr>
        <p:spPr>
          <a:xfrm>
            <a:off x="4709160" y="395478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8" name="fac-fact-icon-2-circle"/>
          <p:cNvSpPr/>
          <p:nvPr/>
        </p:nvSpPr>
        <p:spPr>
          <a:xfrm>
            <a:off x="4892040" y="4137660"/>
            <a:ext cx="457200" cy="457200"/>
          </a:xfrm>
          <a:prstGeom prst="ellipse">
            <a:avLst/>
          </a:prstGeom>
          <a:solidFill>
            <a:schemeClr val="accent1"/>
          </a:solidFill>
          <a:ln/>
        </p:spPr>
        <p:txBody>
          <a:bodyPr/>
          <a:lstStyle/>
          <a:p>
            <a:endParaRPr lang="en-US"/>
          </a:p>
        </p:txBody>
      </p:sp>
      <p:pic>
        <p:nvPicPr>
          <p:cNvPr id="19" name="fac-fact-icon-2" descr="preencoded.png"/>
          <p:cNvPicPr>
            <a:picLocks noChangeAspect="1"/>
          </p:cNvPicPr>
          <p:nvPr/>
        </p:nvPicPr>
        <p:blipFill>
          <a:blip r:embed="rId6"/>
          <a:stretch>
            <a:fillRect/>
          </a:stretch>
        </p:blipFill>
        <p:spPr>
          <a:xfrm>
            <a:off x="5010912" y="4256532"/>
            <a:ext cx="219456" cy="219456"/>
          </a:xfrm>
          <a:prstGeom prst="rect">
            <a:avLst/>
          </a:prstGeom>
        </p:spPr>
      </p:pic>
      <p:sp>
        <p:nvSpPr>
          <p:cNvPr id="20" name="Text 13"/>
          <p:cNvSpPr txBox="1"/>
          <p:nvPr/>
        </p:nvSpPr>
        <p:spPr>
          <a:xfrm>
            <a:off x="5486400" y="406450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Student research</a:t>
            </a:r>
            <a:endParaRPr lang="en-US" sz="1400" dirty="0"/>
          </a:p>
          <a:p>
            <a:pPr marL="0" indent="0">
              <a:buNone/>
            </a:pPr>
            <a:r>
              <a:rPr lang="en-US" sz="1200" dirty="0">
                <a:solidFill>
                  <a:schemeClr val="tx1"/>
                </a:solidFill>
              </a:rPr>
              <a:t>Medical students present papers at national conferences, including Ain Shams and Suez Canal universities</a:t>
            </a:r>
            <a:endParaRPr lang="en-US" sz="1400" dirty="0"/>
          </a:p>
        </p:txBody>
      </p:sp>
      <p:sp>
        <p:nvSpPr>
          <p:cNvPr id="21" name="fac-fact-3"/>
          <p:cNvSpPr/>
          <p:nvPr/>
        </p:nvSpPr>
        <p:spPr>
          <a:xfrm>
            <a:off x="4709160" y="513207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2" name="fac-fact-icon-3-circle"/>
          <p:cNvSpPr/>
          <p:nvPr/>
        </p:nvSpPr>
        <p:spPr>
          <a:xfrm>
            <a:off x="4892040" y="5314950"/>
            <a:ext cx="457200" cy="457200"/>
          </a:xfrm>
          <a:prstGeom prst="ellipse">
            <a:avLst/>
          </a:prstGeom>
          <a:solidFill>
            <a:schemeClr val="accent1"/>
          </a:solidFill>
          <a:ln/>
        </p:spPr>
        <p:txBody>
          <a:bodyPr/>
          <a:lstStyle/>
          <a:p>
            <a:endParaRPr lang="en-US"/>
          </a:p>
        </p:txBody>
      </p:sp>
      <p:pic>
        <p:nvPicPr>
          <p:cNvPr id="23" name="fac-fact-icon-3" descr="preencoded.png"/>
          <p:cNvPicPr>
            <a:picLocks noChangeAspect="1"/>
          </p:cNvPicPr>
          <p:nvPr/>
        </p:nvPicPr>
        <p:blipFill>
          <a:blip r:embed="rId7"/>
          <a:stretch>
            <a:fillRect/>
          </a:stretch>
        </p:blipFill>
        <p:spPr>
          <a:xfrm>
            <a:off x="5010912" y="5433822"/>
            <a:ext cx="219456" cy="219456"/>
          </a:xfrm>
          <a:prstGeom prst="rect">
            <a:avLst/>
          </a:prstGeom>
        </p:spPr>
      </p:pic>
      <p:sp>
        <p:nvSpPr>
          <p:cNvPr id="24" name="Text 16"/>
          <p:cNvSpPr txBox="1"/>
          <p:nvPr/>
        </p:nvSpPr>
        <p:spPr>
          <a:xfrm>
            <a:off x="5486400" y="524179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Clinical partners</a:t>
            </a:r>
            <a:endParaRPr lang="en-US" sz="1400" dirty="0"/>
          </a:p>
          <a:p>
            <a:pPr marL="0" indent="0">
              <a:buNone/>
            </a:pPr>
            <a:r>
              <a:rPr lang="en-US" sz="1200" dirty="0">
                <a:solidFill>
                  <a:schemeClr val="tx1"/>
                </a:solidFill>
              </a:rPr>
              <a:t>Port Said University's new university hospital; a signed protocol with Ahl Masr Hospital; MoU with 57357</a:t>
            </a:r>
            <a:endParaRPr lang="en-US" sz="1400" dirty="0"/>
          </a:p>
        </p:txBody>
      </p:sp>
      <p:sp>
        <p:nvSpPr>
          <p:cNvPr id="25" name="director-card"/>
          <p:cNvSpPr/>
          <p:nvPr/>
        </p:nvSpPr>
        <p:spPr>
          <a:xfrm>
            <a:off x="8641080" y="1600200"/>
            <a:ext cx="3001975" cy="4526280"/>
          </a:xfrm>
          <a:prstGeom prst="roundRect">
            <a:avLst>
              <a:gd name="adj" fmla="val 4569"/>
            </a:avLst>
          </a:prstGeom>
          <a:solidFill>
            <a:schemeClr val="tx2"/>
          </a:solidFill>
          <a:ln/>
        </p:spPr>
        <p:txBody>
          <a:bodyPr/>
          <a:lstStyle/>
          <a:p>
            <a:endParaRPr lang="en-US"/>
          </a:p>
        </p:txBody>
      </p:sp>
      <p:sp>
        <p:nvSpPr>
          <p:cNvPr id="26" name="dir-icon-circle"/>
          <p:cNvSpPr/>
          <p:nvPr/>
        </p:nvSpPr>
        <p:spPr>
          <a:xfrm>
            <a:off x="8915400" y="1828800"/>
            <a:ext cx="502920" cy="502920"/>
          </a:xfrm>
          <a:prstGeom prst="ellipse">
            <a:avLst/>
          </a:prstGeom>
          <a:solidFill>
            <a:schemeClr val="accent2"/>
          </a:solidFill>
          <a:ln/>
        </p:spPr>
        <p:txBody>
          <a:bodyPr/>
          <a:lstStyle/>
          <a:p>
            <a:endParaRPr lang="en-US"/>
          </a:p>
        </p:txBody>
      </p:sp>
      <p:pic>
        <p:nvPicPr>
          <p:cNvPr id="27" name="dir-icon" descr="preencoded.png"/>
          <p:cNvPicPr>
            <a:picLocks noChangeAspect="1"/>
          </p:cNvPicPr>
          <p:nvPr/>
        </p:nvPicPr>
        <p:blipFill>
          <a:blip r:embed="rId8"/>
          <a:stretch>
            <a:fillRect/>
          </a:stretch>
        </p:blipFill>
        <p:spPr>
          <a:xfrm>
            <a:off x="9046159" y="1959559"/>
            <a:ext cx="241402" cy="241402"/>
          </a:xfrm>
          <a:prstGeom prst="rect">
            <a:avLst/>
          </a:prstGeom>
        </p:spPr>
      </p:pic>
      <p:sp>
        <p:nvSpPr>
          <p:cNvPr id="28" name="Text 19"/>
          <p:cNvSpPr txBox="1"/>
          <p:nvPr/>
        </p:nvSpPr>
        <p:spPr>
          <a:xfrm>
            <a:off x="9555480" y="1828800"/>
            <a:ext cx="1904695" cy="502920"/>
          </a:xfrm>
          <a:prstGeom prst="rect">
            <a:avLst/>
          </a:prstGeom>
          <a:noFill/>
          <a:ln/>
        </p:spPr>
        <p:txBody>
          <a:bodyPr wrap="square" lIns="0" tIns="0" rIns="0" bIns="0" rtlCol="0" anchor="ctr"/>
          <a:lstStyle/>
          <a:p>
            <a:pPr marL="0" indent="0">
              <a:buNone/>
            </a:pPr>
            <a:r>
              <a:rPr lang="en-US" sz="1500" b="1" dirty="0">
                <a:solidFill>
                  <a:srgbClr val="00D4FF"/>
                </a:solidFill>
              </a:rPr>
              <a:t>Program Director</a:t>
            </a:r>
            <a:endParaRPr lang="en-US" sz="1500" dirty="0"/>
          </a:p>
        </p:txBody>
      </p:sp>
      <p:sp>
        <p:nvSpPr>
          <p:cNvPr id="29" name="director-0"/>
          <p:cNvSpPr txBox="1"/>
          <p:nvPr/>
        </p:nvSpPr>
        <p:spPr>
          <a:xfrm>
            <a:off x="8915400" y="2514600"/>
            <a:ext cx="2453335" cy="3383280"/>
          </a:xfrm>
          <a:prstGeom prst="rect">
            <a:avLst/>
          </a:prstGeom>
          <a:noFill/>
          <a:ln/>
        </p:spPr>
        <p:txBody>
          <a:bodyPr wrap="square" lIns="0" tIns="0" rIns="0" bIns="0" rtlCol="0" anchor="t"/>
          <a:lstStyle/>
          <a:p>
            <a:pPr marL="0" indent="0">
              <a:buNone/>
            </a:pPr>
            <a:r>
              <a:rPr lang="en-US" sz="1700" b="1" dirty="0">
                <a:solidFill>
                  <a:srgbClr val="FFFFFF"/>
                </a:solidFill>
              </a:rPr>
              <a:t>Assoc. Prof. Sherine El-Khouly</a:t>
            </a:r>
            <a:endParaRPr lang="en-US" sz="1700" dirty="0"/>
          </a:p>
          <a:p>
            <a:pPr marL="0" indent="0">
              <a:spcAft>
                <a:spcPts val="800"/>
              </a:spcAft>
              <a:buNone/>
            </a:pPr>
            <a:r>
              <a:rPr lang="en-US" sz="1200" dirty="0">
                <a:solidFill>
                  <a:srgbClr val="00D4FF"/>
                </a:solidFill>
              </a:rPr>
              <a:t>Program Director, Medicine &amp; Surgery</a:t>
            </a:r>
            <a:endParaRPr lang="en-US" sz="1700" dirty="0"/>
          </a:p>
          <a:p>
            <a:pPr marL="0" indent="0">
              <a:buNone/>
            </a:pPr>
            <a:r>
              <a:rPr lang="en-US" sz="1300" dirty="0">
                <a:solidFill>
                  <a:srgbClr val="DCE6F2"/>
                </a:solidFill>
              </a:rPr>
              <a:t>Leads the alignment of medical training and learning outcomes with Egypt's healthcare needs. She supervises student research, clinical training and community medical convoys, and holds a professional diploma (grade: Excellent) from GAHAR, Egypt's healthcare accreditation authority.</a:t>
            </a:r>
            <a:endParaRPr lang="en-US" sz="1700" dirty="0"/>
          </a:p>
        </p:txBody>
      </p:sp>
      <p:sp>
        <p:nvSpPr>
          <p:cNvPr id="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Faculty of Pharmacy</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Clinical Pharmacy (PharmD) with a strong research and industry base</a:t>
            </a:r>
            <a:endParaRPr lang="en-US" sz="1500" dirty="0"/>
          </a:p>
        </p:txBody>
      </p:sp>
      <p:pic>
        <p:nvPicPr>
          <p:cNvPr id="5" name="fac-photo" descr="Pharmacy students receiving certificates of achievement at a faculty event"/>
          <p:cNvPicPr>
            <a:picLocks noChangeAspect="1"/>
          </p:cNvPicPr>
          <p:nvPr/>
        </p:nvPicPr>
        <p:blipFill>
          <a:blip r:embed="rId3"/>
          <a:stretch>
            <a:fillRect/>
          </a:stretch>
        </p:blipFill>
        <p:spPr>
          <a:xfrm>
            <a:off x="548640" y="1600200"/>
            <a:ext cx="3886200" cy="2331720"/>
          </a:xfrm>
          <a:prstGeom prst="rect">
            <a:avLst/>
          </a:prstGeom>
        </p:spPr>
      </p:pic>
      <p:sp>
        <p:nvSpPr>
          <p:cNvPr id="6" name="fac-programs"/>
          <p:cNvSpPr/>
          <p:nvPr/>
        </p:nvSpPr>
        <p:spPr>
          <a:xfrm>
            <a:off x="548640" y="4114800"/>
            <a:ext cx="3886200" cy="2011680"/>
          </a:xfrm>
          <a:prstGeom prst="roundRect">
            <a:avLst>
              <a:gd name="adj" fmla="val 5455"/>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7" name="Text 3"/>
          <p:cNvSpPr txBox="1"/>
          <p:nvPr/>
        </p:nvSpPr>
        <p:spPr>
          <a:xfrm>
            <a:off x="777240" y="4224528"/>
            <a:ext cx="3429000" cy="365760"/>
          </a:xfrm>
          <a:prstGeom prst="rect">
            <a:avLst/>
          </a:prstGeom>
          <a:noFill/>
          <a:ln/>
        </p:spPr>
        <p:txBody>
          <a:bodyPr wrap="square" lIns="0" tIns="0" rIns="0" bIns="0" rtlCol="0" anchor="ctr"/>
          <a:lstStyle/>
          <a:p>
            <a:pPr marL="0" indent="0">
              <a:buNone/>
            </a:pPr>
            <a:r>
              <a:rPr lang="en-US" sz="1400" b="1" dirty="0">
                <a:solidFill>
                  <a:schemeClr val="accent1"/>
                </a:solidFill>
              </a:rPr>
              <a:t>Programs</a:t>
            </a:r>
            <a:endParaRPr lang="en-US" sz="1400" dirty="0"/>
          </a:p>
        </p:txBody>
      </p:sp>
      <p:sp>
        <p:nvSpPr>
          <p:cNvPr id="8" name="Text 4"/>
          <p:cNvSpPr txBox="1"/>
          <p:nvPr/>
        </p:nvSpPr>
        <p:spPr>
          <a:xfrm>
            <a:off x="777240" y="4617720"/>
            <a:ext cx="3429000" cy="141732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Bachelor of Pharmacy: PharmD (Clinical Pharmacy)</a:t>
            </a:r>
            <a:endParaRPr lang="en-US" sz="1300" dirty="0"/>
          </a:p>
          <a:p>
            <a:pPr marL="342900" indent="-342900">
              <a:spcAft>
                <a:spcPts val="300"/>
              </a:spcAft>
              <a:buSzPct val="100000"/>
              <a:buChar char="•"/>
            </a:pPr>
            <a:r>
              <a:rPr lang="en-US" sz="1300" dirty="0">
                <a:solidFill>
                  <a:schemeClr val="tx1"/>
                </a:solidFill>
              </a:rPr>
              <a:t>10 semesters, taught in English</a:t>
            </a:r>
            <a:endParaRPr lang="en-US" sz="1300" dirty="0"/>
          </a:p>
        </p:txBody>
      </p:sp>
      <p:sp>
        <p:nvSpPr>
          <p:cNvPr id="9" name="fac-fact-0"/>
          <p:cNvSpPr/>
          <p:nvPr/>
        </p:nvSpPr>
        <p:spPr>
          <a:xfrm>
            <a:off x="4709160" y="160020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0" name="fac-fact-icon-0-circle"/>
          <p:cNvSpPr/>
          <p:nvPr/>
        </p:nvSpPr>
        <p:spPr>
          <a:xfrm>
            <a:off x="4892040" y="1783080"/>
            <a:ext cx="457200" cy="457200"/>
          </a:xfrm>
          <a:prstGeom prst="ellipse">
            <a:avLst/>
          </a:prstGeom>
          <a:solidFill>
            <a:schemeClr val="accent1"/>
          </a:solidFill>
          <a:ln/>
        </p:spPr>
        <p:txBody>
          <a:bodyPr/>
          <a:lstStyle/>
          <a:p>
            <a:endParaRPr lang="en-US"/>
          </a:p>
        </p:txBody>
      </p:sp>
      <p:pic>
        <p:nvPicPr>
          <p:cNvPr id="11" name="fac-fact-icon-0" descr="preencoded.png"/>
          <p:cNvPicPr>
            <a:picLocks noChangeAspect="1"/>
          </p:cNvPicPr>
          <p:nvPr/>
        </p:nvPicPr>
        <p:blipFill>
          <a:blip r:embed="rId4"/>
          <a:stretch>
            <a:fillRect/>
          </a:stretch>
        </p:blipFill>
        <p:spPr>
          <a:xfrm>
            <a:off x="5010912" y="1901952"/>
            <a:ext cx="219456" cy="219456"/>
          </a:xfrm>
          <a:prstGeom prst="rect">
            <a:avLst/>
          </a:prstGeom>
        </p:spPr>
      </p:pic>
      <p:sp>
        <p:nvSpPr>
          <p:cNvPr id="12" name="Text 7"/>
          <p:cNvSpPr txBox="1"/>
          <p:nvPr/>
        </p:nvSpPr>
        <p:spPr>
          <a:xfrm>
            <a:off x="5486400" y="170992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Modern labs</a:t>
            </a:r>
            <a:endParaRPr lang="en-US" sz="1400" dirty="0"/>
          </a:p>
          <a:p>
            <a:pPr marL="0" indent="0">
              <a:buNone/>
            </a:pPr>
            <a:r>
              <a:rPr lang="en-US" sz="1200" dirty="0">
                <a:solidFill>
                  <a:schemeClr val="tx1"/>
                </a:solidFill>
              </a:rPr>
              <a:t>HPLC and UV-Vis instruments, plus clinical simulation rooms for dose calculation</a:t>
            </a:r>
            <a:endParaRPr lang="en-US" sz="1400" dirty="0"/>
          </a:p>
        </p:txBody>
      </p:sp>
      <p:sp>
        <p:nvSpPr>
          <p:cNvPr id="13" name="fac-fact-1"/>
          <p:cNvSpPr/>
          <p:nvPr/>
        </p:nvSpPr>
        <p:spPr>
          <a:xfrm>
            <a:off x="4709160" y="277749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4" name="fac-fact-icon-1-circle"/>
          <p:cNvSpPr/>
          <p:nvPr/>
        </p:nvSpPr>
        <p:spPr>
          <a:xfrm>
            <a:off x="4892040" y="2960370"/>
            <a:ext cx="457200" cy="457200"/>
          </a:xfrm>
          <a:prstGeom prst="ellipse">
            <a:avLst/>
          </a:prstGeom>
          <a:solidFill>
            <a:schemeClr val="accent1"/>
          </a:solidFill>
          <a:ln/>
        </p:spPr>
        <p:txBody>
          <a:bodyPr/>
          <a:lstStyle/>
          <a:p>
            <a:endParaRPr lang="en-US"/>
          </a:p>
        </p:txBody>
      </p:sp>
      <p:pic>
        <p:nvPicPr>
          <p:cNvPr id="15" name="fac-fact-icon-1" descr="preencoded.png"/>
          <p:cNvPicPr>
            <a:picLocks noChangeAspect="1"/>
          </p:cNvPicPr>
          <p:nvPr/>
        </p:nvPicPr>
        <p:blipFill>
          <a:blip r:embed="rId5"/>
          <a:stretch>
            <a:fillRect/>
          </a:stretch>
        </p:blipFill>
        <p:spPr>
          <a:xfrm>
            <a:off x="5010912" y="3079242"/>
            <a:ext cx="219456" cy="219456"/>
          </a:xfrm>
          <a:prstGeom prst="rect">
            <a:avLst/>
          </a:prstGeom>
        </p:spPr>
      </p:pic>
      <p:sp>
        <p:nvSpPr>
          <p:cNvPr id="16" name="Text 10"/>
          <p:cNvSpPr txBox="1"/>
          <p:nvPr/>
        </p:nvSpPr>
        <p:spPr>
          <a:xfrm>
            <a:off x="5486400" y="288721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Industry partners</a:t>
            </a:r>
            <a:endParaRPr lang="en-US" sz="1400" dirty="0"/>
          </a:p>
          <a:p>
            <a:pPr marL="0" indent="0">
              <a:buNone/>
            </a:pPr>
            <a:r>
              <a:rPr lang="en-US" sz="1200" dirty="0">
                <a:solidFill>
                  <a:schemeClr val="tx1"/>
                </a:solidFill>
              </a:rPr>
              <a:t>EIPICO, EVA Pharma, Lavender Life and Royal Cosmetics</a:t>
            </a:r>
            <a:endParaRPr lang="en-US" sz="1400" dirty="0"/>
          </a:p>
        </p:txBody>
      </p:sp>
      <p:sp>
        <p:nvSpPr>
          <p:cNvPr id="17" name="fac-fact-2"/>
          <p:cNvSpPr/>
          <p:nvPr/>
        </p:nvSpPr>
        <p:spPr>
          <a:xfrm>
            <a:off x="4709160" y="395478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8" name="fac-fact-icon-2-circle"/>
          <p:cNvSpPr/>
          <p:nvPr/>
        </p:nvSpPr>
        <p:spPr>
          <a:xfrm>
            <a:off x="4892040" y="4137660"/>
            <a:ext cx="457200" cy="457200"/>
          </a:xfrm>
          <a:prstGeom prst="ellipse">
            <a:avLst/>
          </a:prstGeom>
          <a:solidFill>
            <a:schemeClr val="accent1"/>
          </a:solidFill>
          <a:ln/>
        </p:spPr>
        <p:txBody>
          <a:bodyPr/>
          <a:lstStyle/>
          <a:p>
            <a:endParaRPr lang="en-US"/>
          </a:p>
        </p:txBody>
      </p:sp>
      <p:pic>
        <p:nvPicPr>
          <p:cNvPr id="19" name="fac-fact-icon-2" descr="preencoded.png"/>
          <p:cNvPicPr>
            <a:picLocks noChangeAspect="1"/>
          </p:cNvPicPr>
          <p:nvPr/>
        </p:nvPicPr>
        <p:blipFill>
          <a:blip r:embed="rId6"/>
          <a:stretch>
            <a:fillRect/>
          </a:stretch>
        </p:blipFill>
        <p:spPr>
          <a:xfrm>
            <a:off x="5010912" y="4256532"/>
            <a:ext cx="219456" cy="219456"/>
          </a:xfrm>
          <a:prstGeom prst="rect">
            <a:avLst/>
          </a:prstGeom>
        </p:spPr>
      </p:pic>
      <p:sp>
        <p:nvSpPr>
          <p:cNvPr id="20" name="Text 13"/>
          <p:cNvSpPr txBox="1"/>
          <p:nvPr/>
        </p:nvSpPr>
        <p:spPr>
          <a:xfrm>
            <a:off x="5486400" y="406450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First international partner</a:t>
            </a:r>
            <a:endParaRPr lang="en-US" sz="1400" dirty="0"/>
          </a:p>
          <a:p>
            <a:pPr marL="0" indent="0">
              <a:buNone/>
            </a:pPr>
            <a:r>
              <a:rPr lang="en-US" sz="1200" dirty="0">
                <a:solidFill>
                  <a:schemeClr val="tx1"/>
                </a:solidFill>
              </a:rPr>
              <a:t>Leads the Universiti Putra Malaysia partnership and joint webinars</a:t>
            </a:r>
            <a:endParaRPr lang="en-US" sz="1400" dirty="0"/>
          </a:p>
        </p:txBody>
      </p:sp>
      <p:sp>
        <p:nvSpPr>
          <p:cNvPr id="21" name="fac-fact-3"/>
          <p:cNvSpPr/>
          <p:nvPr/>
        </p:nvSpPr>
        <p:spPr>
          <a:xfrm>
            <a:off x="4709160" y="513207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2" name="fac-fact-icon-3-circle"/>
          <p:cNvSpPr/>
          <p:nvPr/>
        </p:nvSpPr>
        <p:spPr>
          <a:xfrm>
            <a:off x="4892040" y="5314950"/>
            <a:ext cx="457200" cy="457200"/>
          </a:xfrm>
          <a:prstGeom prst="ellipse">
            <a:avLst/>
          </a:prstGeom>
          <a:solidFill>
            <a:schemeClr val="accent1"/>
          </a:solidFill>
          <a:ln/>
        </p:spPr>
        <p:txBody>
          <a:bodyPr/>
          <a:lstStyle/>
          <a:p>
            <a:endParaRPr lang="en-US"/>
          </a:p>
        </p:txBody>
      </p:sp>
      <p:pic>
        <p:nvPicPr>
          <p:cNvPr id="23" name="fac-fact-icon-3" descr="preencoded.png"/>
          <p:cNvPicPr>
            <a:picLocks noChangeAspect="1"/>
          </p:cNvPicPr>
          <p:nvPr/>
        </p:nvPicPr>
        <p:blipFill>
          <a:blip r:embed="rId7"/>
          <a:stretch>
            <a:fillRect/>
          </a:stretch>
        </p:blipFill>
        <p:spPr>
          <a:xfrm>
            <a:off x="5010912" y="5433822"/>
            <a:ext cx="219456" cy="219456"/>
          </a:xfrm>
          <a:prstGeom prst="rect">
            <a:avLst/>
          </a:prstGeom>
        </p:spPr>
      </p:pic>
      <p:sp>
        <p:nvSpPr>
          <p:cNvPr id="24" name="Text 16"/>
          <p:cNvSpPr txBox="1"/>
          <p:nvPr/>
        </p:nvSpPr>
        <p:spPr>
          <a:xfrm>
            <a:off x="5486400" y="524179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Research-active</a:t>
            </a:r>
            <a:endParaRPr lang="en-US" sz="1400" dirty="0"/>
          </a:p>
          <a:p>
            <a:pPr marL="0" indent="0">
              <a:buNone/>
            </a:pPr>
            <a:r>
              <a:rPr lang="en-US" sz="1200" dirty="0">
                <a:solidFill>
                  <a:schemeClr val="tx1"/>
                </a:solidFill>
              </a:rPr>
              <a:t>Pharmacy and medicinal chemistry account for most of EPNU's international papers</a:t>
            </a:r>
            <a:endParaRPr lang="en-US" sz="1400" dirty="0"/>
          </a:p>
        </p:txBody>
      </p:sp>
      <p:sp>
        <p:nvSpPr>
          <p:cNvPr id="25" name="director-card"/>
          <p:cNvSpPr/>
          <p:nvPr/>
        </p:nvSpPr>
        <p:spPr>
          <a:xfrm>
            <a:off x="8641080" y="1600200"/>
            <a:ext cx="3001975" cy="4526280"/>
          </a:xfrm>
          <a:prstGeom prst="roundRect">
            <a:avLst>
              <a:gd name="adj" fmla="val 4569"/>
            </a:avLst>
          </a:prstGeom>
          <a:solidFill>
            <a:schemeClr val="tx2"/>
          </a:solidFill>
          <a:ln/>
        </p:spPr>
        <p:txBody>
          <a:bodyPr/>
          <a:lstStyle/>
          <a:p>
            <a:endParaRPr lang="en-US"/>
          </a:p>
        </p:txBody>
      </p:sp>
      <p:sp>
        <p:nvSpPr>
          <p:cNvPr id="26" name="dir-icon-circle"/>
          <p:cNvSpPr/>
          <p:nvPr/>
        </p:nvSpPr>
        <p:spPr>
          <a:xfrm>
            <a:off x="8915400" y="1828800"/>
            <a:ext cx="502920" cy="502920"/>
          </a:xfrm>
          <a:prstGeom prst="ellipse">
            <a:avLst/>
          </a:prstGeom>
          <a:solidFill>
            <a:schemeClr val="accent2"/>
          </a:solidFill>
          <a:ln/>
        </p:spPr>
        <p:txBody>
          <a:bodyPr/>
          <a:lstStyle/>
          <a:p>
            <a:endParaRPr lang="en-US"/>
          </a:p>
        </p:txBody>
      </p:sp>
      <p:pic>
        <p:nvPicPr>
          <p:cNvPr id="27" name="dir-icon" descr="preencoded.png"/>
          <p:cNvPicPr>
            <a:picLocks noChangeAspect="1"/>
          </p:cNvPicPr>
          <p:nvPr/>
        </p:nvPicPr>
        <p:blipFill>
          <a:blip r:embed="rId8"/>
          <a:stretch>
            <a:fillRect/>
          </a:stretch>
        </p:blipFill>
        <p:spPr>
          <a:xfrm>
            <a:off x="9046159" y="1959559"/>
            <a:ext cx="241402" cy="241402"/>
          </a:xfrm>
          <a:prstGeom prst="rect">
            <a:avLst/>
          </a:prstGeom>
        </p:spPr>
      </p:pic>
      <p:sp>
        <p:nvSpPr>
          <p:cNvPr id="28" name="Text 19"/>
          <p:cNvSpPr txBox="1"/>
          <p:nvPr/>
        </p:nvSpPr>
        <p:spPr>
          <a:xfrm>
            <a:off x="9555480" y="1828800"/>
            <a:ext cx="1904695" cy="502920"/>
          </a:xfrm>
          <a:prstGeom prst="rect">
            <a:avLst/>
          </a:prstGeom>
          <a:noFill/>
          <a:ln/>
        </p:spPr>
        <p:txBody>
          <a:bodyPr wrap="square" lIns="0" tIns="0" rIns="0" bIns="0" rtlCol="0" anchor="ctr"/>
          <a:lstStyle/>
          <a:p>
            <a:pPr marL="0" indent="0">
              <a:buNone/>
            </a:pPr>
            <a:r>
              <a:rPr lang="en-US" sz="1500" b="1" dirty="0">
                <a:solidFill>
                  <a:srgbClr val="00D4FF"/>
                </a:solidFill>
              </a:rPr>
              <a:t>Program Director</a:t>
            </a:r>
            <a:endParaRPr lang="en-US" sz="1500" dirty="0"/>
          </a:p>
        </p:txBody>
      </p:sp>
      <p:sp>
        <p:nvSpPr>
          <p:cNvPr id="29" name="director-0"/>
          <p:cNvSpPr txBox="1"/>
          <p:nvPr/>
        </p:nvSpPr>
        <p:spPr>
          <a:xfrm>
            <a:off x="8915400" y="2514600"/>
            <a:ext cx="2453335" cy="3383280"/>
          </a:xfrm>
          <a:prstGeom prst="rect">
            <a:avLst/>
          </a:prstGeom>
          <a:noFill/>
          <a:ln/>
        </p:spPr>
        <p:txBody>
          <a:bodyPr wrap="square" lIns="0" tIns="0" rIns="0" bIns="0" rtlCol="0" anchor="t"/>
          <a:lstStyle/>
          <a:p>
            <a:pPr marL="0" indent="0">
              <a:buNone/>
            </a:pPr>
            <a:r>
              <a:rPr lang="en-US" sz="1700" b="1" dirty="0">
                <a:solidFill>
                  <a:srgbClr val="FFFFFF"/>
                </a:solidFill>
              </a:rPr>
              <a:t>Assoc. Prof. Mohamed Yasser</a:t>
            </a:r>
            <a:endParaRPr lang="en-US" sz="1700" dirty="0"/>
          </a:p>
          <a:p>
            <a:pPr marL="0" indent="0">
              <a:spcAft>
                <a:spcPts val="800"/>
              </a:spcAft>
              <a:buNone/>
            </a:pPr>
            <a:r>
              <a:rPr lang="en-US" sz="1200" dirty="0">
                <a:solidFill>
                  <a:srgbClr val="00D4FF"/>
                </a:solidFill>
              </a:rPr>
              <a:t>Program Director, Clinical Pharmacy · Entrepreneurship Club</a:t>
            </a:r>
            <a:endParaRPr lang="en-US" sz="1700" dirty="0"/>
          </a:p>
          <a:p>
            <a:pPr marL="0" indent="0">
              <a:buNone/>
            </a:pPr>
            <a:r>
              <a:rPr lang="en-US" sz="1300" dirty="0">
                <a:solidFill>
                  <a:srgbClr val="DCE6F2"/>
                </a:solidFill>
              </a:rPr>
              <a:t>Faculty member in the Department of Pharmaceutics, Faculty of Pharmacy, Port Said University. His interests include pharmaceutical and cosmetic formulation, and he champions entrepreneurship and innovation among EPNU's pharmacy students.</a:t>
            </a:r>
            <a:endParaRPr lang="en-US" sz="1700" dirty="0"/>
          </a:p>
        </p:txBody>
      </p:sp>
      <p:sp>
        <p:nvSpPr>
          <p:cNvPr id="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Faculty of Applied Health Sciences Technology</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Training the technologists behind modern diagnostics</a:t>
            </a:r>
            <a:endParaRPr lang="en-US" sz="1500" dirty="0"/>
          </a:p>
        </p:txBody>
      </p:sp>
      <p:pic>
        <p:nvPicPr>
          <p:cNvPr id="5" name="fac-photo" descr="Applied health sciences students using microscopes in a clinical laboratory"/>
          <p:cNvPicPr>
            <a:picLocks noChangeAspect="1"/>
          </p:cNvPicPr>
          <p:nvPr/>
        </p:nvPicPr>
        <p:blipFill>
          <a:blip r:embed="rId3"/>
          <a:stretch>
            <a:fillRect/>
          </a:stretch>
        </p:blipFill>
        <p:spPr>
          <a:xfrm>
            <a:off x="548640" y="1600200"/>
            <a:ext cx="3886200" cy="2331720"/>
          </a:xfrm>
          <a:prstGeom prst="rect">
            <a:avLst/>
          </a:prstGeom>
        </p:spPr>
      </p:pic>
      <p:sp>
        <p:nvSpPr>
          <p:cNvPr id="6" name="fac-programs"/>
          <p:cNvSpPr/>
          <p:nvPr/>
        </p:nvSpPr>
        <p:spPr>
          <a:xfrm>
            <a:off x="548640" y="4114800"/>
            <a:ext cx="3886200" cy="2011680"/>
          </a:xfrm>
          <a:prstGeom prst="roundRect">
            <a:avLst>
              <a:gd name="adj" fmla="val 5455"/>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7" name="Text 3"/>
          <p:cNvSpPr txBox="1"/>
          <p:nvPr/>
        </p:nvSpPr>
        <p:spPr>
          <a:xfrm>
            <a:off x="777240" y="4224528"/>
            <a:ext cx="3429000" cy="365760"/>
          </a:xfrm>
          <a:prstGeom prst="rect">
            <a:avLst/>
          </a:prstGeom>
          <a:noFill/>
          <a:ln/>
        </p:spPr>
        <p:txBody>
          <a:bodyPr wrap="square" lIns="0" tIns="0" rIns="0" bIns="0" rtlCol="0" anchor="ctr"/>
          <a:lstStyle/>
          <a:p>
            <a:pPr marL="0" indent="0">
              <a:buNone/>
            </a:pPr>
            <a:r>
              <a:rPr lang="en-US" sz="1400" b="1" dirty="0">
                <a:solidFill>
                  <a:schemeClr val="accent1"/>
                </a:solidFill>
              </a:rPr>
              <a:t>Programs</a:t>
            </a:r>
            <a:endParaRPr lang="en-US" sz="1400" dirty="0"/>
          </a:p>
        </p:txBody>
      </p:sp>
      <p:sp>
        <p:nvSpPr>
          <p:cNvPr id="8" name="Text 4"/>
          <p:cNvSpPr txBox="1"/>
          <p:nvPr/>
        </p:nvSpPr>
        <p:spPr>
          <a:xfrm>
            <a:off x="777240" y="4617720"/>
            <a:ext cx="3429000" cy="141732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Medical Laboratory Technology</a:t>
            </a:r>
            <a:endParaRPr lang="en-US" sz="1300" dirty="0"/>
          </a:p>
          <a:p>
            <a:pPr marL="342900" indent="-342900">
              <a:spcAft>
                <a:spcPts val="300"/>
              </a:spcAft>
              <a:buSzPct val="100000"/>
              <a:buChar char="•"/>
            </a:pPr>
            <a:r>
              <a:rPr lang="en-US" sz="1300" dirty="0">
                <a:solidFill>
                  <a:schemeClr val="tx1"/>
                </a:solidFill>
              </a:rPr>
              <a:t>Medical Imaging &amp; Radiologic Technology</a:t>
            </a:r>
            <a:endParaRPr lang="en-US" sz="1300" dirty="0"/>
          </a:p>
          <a:p>
            <a:pPr marL="342900" indent="-342900">
              <a:spcAft>
                <a:spcPts val="300"/>
              </a:spcAft>
              <a:buSzPct val="100000"/>
              <a:buChar char="•"/>
            </a:pPr>
            <a:r>
              <a:rPr lang="en-US" sz="1300" dirty="0">
                <a:solidFill>
                  <a:schemeClr val="tx1"/>
                </a:solidFill>
              </a:rPr>
              <a:t>Taught in English (131 credit hours)</a:t>
            </a:r>
            <a:endParaRPr lang="en-US" sz="1300" dirty="0"/>
          </a:p>
        </p:txBody>
      </p:sp>
      <p:sp>
        <p:nvSpPr>
          <p:cNvPr id="9" name="fac-fact-0"/>
          <p:cNvSpPr/>
          <p:nvPr/>
        </p:nvSpPr>
        <p:spPr>
          <a:xfrm>
            <a:off x="4709160" y="160020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0" name="fac-fact-icon-0-circle"/>
          <p:cNvSpPr/>
          <p:nvPr/>
        </p:nvSpPr>
        <p:spPr>
          <a:xfrm>
            <a:off x="4892040" y="1783080"/>
            <a:ext cx="457200" cy="457200"/>
          </a:xfrm>
          <a:prstGeom prst="ellipse">
            <a:avLst/>
          </a:prstGeom>
          <a:solidFill>
            <a:schemeClr val="accent1"/>
          </a:solidFill>
          <a:ln/>
        </p:spPr>
        <p:txBody>
          <a:bodyPr/>
          <a:lstStyle/>
          <a:p>
            <a:endParaRPr lang="en-US"/>
          </a:p>
        </p:txBody>
      </p:sp>
      <p:pic>
        <p:nvPicPr>
          <p:cNvPr id="11" name="fac-fact-icon-0" descr="preencoded.png"/>
          <p:cNvPicPr>
            <a:picLocks noChangeAspect="1"/>
          </p:cNvPicPr>
          <p:nvPr/>
        </p:nvPicPr>
        <p:blipFill>
          <a:blip r:embed="rId4"/>
          <a:stretch>
            <a:fillRect/>
          </a:stretch>
        </p:blipFill>
        <p:spPr>
          <a:xfrm>
            <a:off x="5010912" y="1901952"/>
            <a:ext cx="219456" cy="219456"/>
          </a:xfrm>
          <a:prstGeom prst="rect">
            <a:avLst/>
          </a:prstGeom>
        </p:spPr>
      </p:pic>
      <p:sp>
        <p:nvSpPr>
          <p:cNvPr id="12" name="Text 7"/>
          <p:cNvSpPr txBox="1"/>
          <p:nvPr/>
        </p:nvSpPr>
        <p:spPr>
          <a:xfrm>
            <a:off x="5486400" y="170992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Diagnostic labs</a:t>
            </a:r>
            <a:endParaRPr lang="en-US" sz="1400" dirty="0"/>
          </a:p>
          <a:p>
            <a:pPr marL="0" indent="0">
              <a:buNone/>
            </a:pPr>
            <a:r>
              <a:rPr lang="en-US" sz="1200" dirty="0">
                <a:solidFill>
                  <a:schemeClr val="tx1"/>
                </a:solidFill>
              </a:rPr>
              <a:t>Hematology, biochemistry, microbiology and microscopy labs</a:t>
            </a:r>
            <a:endParaRPr lang="en-US" sz="1400" dirty="0"/>
          </a:p>
        </p:txBody>
      </p:sp>
      <p:sp>
        <p:nvSpPr>
          <p:cNvPr id="13" name="fac-fact-1"/>
          <p:cNvSpPr/>
          <p:nvPr/>
        </p:nvSpPr>
        <p:spPr>
          <a:xfrm>
            <a:off x="4709160" y="277749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4" name="fac-fact-icon-1-circle"/>
          <p:cNvSpPr/>
          <p:nvPr/>
        </p:nvSpPr>
        <p:spPr>
          <a:xfrm>
            <a:off x="4892040" y="2960370"/>
            <a:ext cx="457200" cy="457200"/>
          </a:xfrm>
          <a:prstGeom prst="ellipse">
            <a:avLst/>
          </a:prstGeom>
          <a:solidFill>
            <a:schemeClr val="accent1"/>
          </a:solidFill>
          <a:ln/>
        </p:spPr>
        <p:txBody>
          <a:bodyPr/>
          <a:lstStyle/>
          <a:p>
            <a:endParaRPr lang="en-US"/>
          </a:p>
        </p:txBody>
      </p:sp>
      <p:pic>
        <p:nvPicPr>
          <p:cNvPr id="15" name="fac-fact-icon-1" descr="preencoded.png"/>
          <p:cNvPicPr>
            <a:picLocks noChangeAspect="1"/>
          </p:cNvPicPr>
          <p:nvPr/>
        </p:nvPicPr>
        <p:blipFill>
          <a:blip r:embed="rId5"/>
          <a:stretch>
            <a:fillRect/>
          </a:stretch>
        </p:blipFill>
        <p:spPr>
          <a:xfrm>
            <a:off x="5010912" y="3079242"/>
            <a:ext cx="219456" cy="219456"/>
          </a:xfrm>
          <a:prstGeom prst="rect">
            <a:avLst/>
          </a:prstGeom>
        </p:spPr>
      </p:pic>
      <p:sp>
        <p:nvSpPr>
          <p:cNvPr id="16" name="Text 10"/>
          <p:cNvSpPr txBox="1"/>
          <p:nvPr/>
        </p:nvSpPr>
        <p:spPr>
          <a:xfrm>
            <a:off x="5486400" y="288721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Imaging training</a:t>
            </a:r>
            <a:endParaRPr lang="en-US" sz="1400" dirty="0"/>
          </a:p>
          <a:p>
            <a:pPr marL="0" indent="0">
              <a:buNone/>
            </a:pPr>
            <a:r>
              <a:rPr lang="en-US" sz="1200" dirty="0">
                <a:solidFill>
                  <a:schemeClr val="tx1"/>
                </a:solidFill>
              </a:rPr>
              <a:t>Training on X-ray, CT and MRI equipment, with radiation protection and quality standards</a:t>
            </a:r>
            <a:endParaRPr lang="en-US" sz="1400" dirty="0"/>
          </a:p>
        </p:txBody>
      </p:sp>
      <p:sp>
        <p:nvSpPr>
          <p:cNvPr id="17" name="fac-fact-2"/>
          <p:cNvSpPr/>
          <p:nvPr/>
        </p:nvSpPr>
        <p:spPr>
          <a:xfrm>
            <a:off x="4709160" y="395478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8" name="fac-fact-icon-2-circle"/>
          <p:cNvSpPr/>
          <p:nvPr/>
        </p:nvSpPr>
        <p:spPr>
          <a:xfrm>
            <a:off x="4892040" y="4137660"/>
            <a:ext cx="457200" cy="457200"/>
          </a:xfrm>
          <a:prstGeom prst="ellipse">
            <a:avLst/>
          </a:prstGeom>
          <a:solidFill>
            <a:schemeClr val="accent1"/>
          </a:solidFill>
          <a:ln/>
        </p:spPr>
        <p:txBody>
          <a:bodyPr/>
          <a:lstStyle/>
          <a:p>
            <a:endParaRPr lang="en-US"/>
          </a:p>
        </p:txBody>
      </p:sp>
      <p:pic>
        <p:nvPicPr>
          <p:cNvPr id="19" name="fac-fact-icon-2" descr="preencoded.png"/>
          <p:cNvPicPr>
            <a:picLocks noChangeAspect="1"/>
          </p:cNvPicPr>
          <p:nvPr/>
        </p:nvPicPr>
        <p:blipFill>
          <a:blip r:embed="rId6"/>
          <a:stretch>
            <a:fillRect/>
          </a:stretch>
        </p:blipFill>
        <p:spPr>
          <a:xfrm>
            <a:off x="5010912" y="4256532"/>
            <a:ext cx="219456" cy="219456"/>
          </a:xfrm>
          <a:prstGeom prst="rect">
            <a:avLst/>
          </a:prstGeom>
        </p:spPr>
      </p:pic>
      <p:sp>
        <p:nvSpPr>
          <p:cNvPr id="20" name="Text 13"/>
          <p:cNvSpPr txBox="1"/>
          <p:nvPr/>
        </p:nvSpPr>
        <p:spPr>
          <a:xfrm>
            <a:off x="5486400" y="406450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Hospital training network</a:t>
            </a:r>
            <a:endParaRPr lang="en-US" sz="1400" dirty="0"/>
          </a:p>
          <a:p>
            <a:pPr marL="0" indent="0">
              <a:buNone/>
            </a:pPr>
            <a:r>
              <a:rPr lang="en-US" sz="1200" dirty="0">
                <a:solidFill>
                  <a:schemeClr val="tx1"/>
                </a:solidFill>
              </a:rPr>
              <a:t>Port Said University Hospital, Saudi German Hospital Cairo, Ahl Masr Hospital and 57357</a:t>
            </a:r>
            <a:endParaRPr lang="en-US" sz="1400" dirty="0"/>
          </a:p>
        </p:txBody>
      </p:sp>
      <p:sp>
        <p:nvSpPr>
          <p:cNvPr id="21" name="fac-fact-3"/>
          <p:cNvSpPr/>
          <p:nvPr/>
        </p:nvSpPr>
        <p:spPr>
          <a:xfrm>
            <a:off x="4709160" y="513207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2" name="fac-fact-icon-3-circle"/>
          <p:cNvSpPr/>
          <p:nvPr/>
        </p:nvSpPr>
        <p:spPr>
          <a:xfrm>
            <a:off x="4892040" y="5314950"/>
            <a:ext cx="457200" cy="457200"/>
          </a:xfrm>
          <a:prstGeom prst="ellipse">
            <a:avLst/>
          </a:prstGeom>
          <a:solidFill>
            <a:schemeClr val="accent1"/>
          </a:solidFill>
          <a:ln/>
        </p:spPr>
        <p:txBody>
          <a:bodyPr/>
          <a:lstStyle/>
          <a:p>
            <a:endParaRPr lang="en-US"/>
          </a:p>
        </p:txBody>
      </p:sp>
      <p:pic>
        <p:nvPicPr>
          <p:cNvPr id="23" name="fac-fact-icon-3" descr="preencoded.png"/>
          <p:cNvPicPr>
            <a:picLocks noChangeAspect="1"/>
          </p:cNvPicPr>
          <p:nvPr/>
        </p:nvPicPr>
        <p:blipFill>
          <a:blip r:embed="rId7"/>
          <a:stretch>
            <a:fillRect/>
          </a:stretch>
        </p:blipFill>
        <p:spPr>
          <a:xfrm>
            <a:off x="5010912" y="5433822"/>
            <a:ext cx="219456" cy="219456"/>
          </a:xfrm>
          <a:prstGeom prst="rect">
            <a:avLst/>
          </a:prstGeom>
        </p:spPr>
      </p:pic>
      <p:sp>
        <p:nvSpPr>
          <p:cNvPr id="24" name="Text 16"/>
          <p:cNvSpPr txBox="1"/>
          <p:nvPr/>
        </p:nvSpPr>
        <p:spPr>
          <a:xfrm>
            <a:off x="5486400" y="524179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57357 MoU</a:t>
            </a:r>
            <a:endParaRPr lang="en-US" sz="1400" dirty="0"/>
          </a:p>
          <a:p>
            <a:pPr marL="0" indent="0">
              <a:buNone/>
            </a:pPr>
            <a:r>
              <a:rPr lang="en-US" sz="1200" dirty="0">
                <a:solidFill>
                  <a:schemeClr val="tx1"/>
                </a:solidFill>
              </a:rPr>
              <a:t>A signed MoU with the 57357 Group covers practical training and research</a:t>
            </a:r>
            <a:endParaRPr lang="en-US" sz="1400" dirty="0"/>
          </a:p>
        </p:txBody>
      </p:sp>
      <p:sp>
        <p:nvSpPr>
          <p:cNvPr id="25" name="director-card"/>
          <p:cNvSpPr/>
          <p:nvPr/>
        </p:nvSpPr>
        <p:spPr>
          <a:xfrm>
            <a:off x="8641080" y="1600200"/>
            <a:ext cx="3001975" cy="4526280"/>
          </a:xfrm>
          <a:prstGeom prst="roundRect">
            <a:avLst>
              <a:gd name="adj" fmla="val 4569"/>
            </a:avLst>
          </a:prstGeom>
          <a:solidFill>
            <a:schemeClr val="tx2"/>
          </a:solidFill>
          <a:ln/>
        </p:spPr>
        <p:txBody>
          <a:bodyPr/>
          <a:lstStyle/>
          <a:p>
            <a:endParaRPr lang="en-US"/>
          </a:p>
        </p:txBody>
      </p:sp>
      <p:sp>
        <p:nvSpPr>
          <p:cNvPr id="26" name="dir-icon-circle"/>
          <p:cNvSpPr/>
          <p:nvPr/>
        </p:nvSpPr>
        <p:spPr>
          <a:xfrm>
            <a:off x="8915400" y="1828800"/>
            <a:ext cx="502920" cy="502920"/>
          </a:xfrm>
          <a:prstGeom prst="ellipse">
            <a:avLst/>
          </a:prstGeom>
          <a:solidFill>
            <a:schemeClr val="accent2"/>
          </a:solidFill>
          <a:ln/>
        </p:spPr>
        <p:txBody>
          <a:bodyPr/>
          <a:lstStyle/>
          <a:p>
            <a:endParaRPr lang="en-US"/>
          </a:p>
        </p:txBody>
      </p:sp>
      <p:pic>
        <p:nvPicPr>
          <p:cNvPr id="27" name="dir-icon" descr="preencoded.png"/>
          <p:cNvPicPr>
            <a:picLocks noChangeAspect="1"/>
          </p:cNvPicPr>
          <p:nvPr/>
        </p:nvPicPr>
        <p:blipFill>
          <a:blip r:embed="rId8"/>
          <a:stretch>
            <a:fillRect/>
          </a:stretch>
        </p:blipFill>
        <p:spPr>
          <a:xfrm>
            <a:off x="9046159" y="1959559"/>
            <a:ext cx="241402" cy="241402"/>
          </a:xfrm>
          <a:prstGeom prst="rect">
            <a:avLst/>
          </a:prstGeom>
        </p:spPr>
      </p:pic>
      <p:sp>
        <p:nvSpPr>
          <p:cNvPr id="28" name="Text 19"/>
          <p:cNvSpPr txBox="1"/>
          <p:nvPr/>
        </p:nvSpPr>
        <p:spPr>
          <a:xfrm>
            <a:off x="9555480" y="1828800"/>
            <a:ext cx="1904695" cy="502920"/>
          </a:xfrm>
          <a:prstGeom prst="rect">
            <a:avLst/>
          </a:prstGeom>
          <a:noFill/>
          <a:ln/>
        </p:spPr>
        <p:txBody>
          <a:bodyPr wrap="square" lIns="0" tIns="0" rIns="0" bIns="0" rtlCol="0" anchor="ctr"/>
          <a:lstStyle/>
          <a:p>
            <a:pPr marL="0" indent="0">
              <a:buNone/>
            </a:pPr>
            <a:r>
              <a:rPr lang="en-US" sz="1500" b="1" dirty="0">
                <a:solidFill>
                  <a:srgbClr val="00D4FF"/>
                </a:solidFill>
              </a:rPr>
              <a:t>Program Director</a:t>
            </a:r>
            <a:endParaRPr lang="en-US" sz="1500" dirty="0"/>
          </a:p>
        </p:txBody>
      </p:sp>
      <p:sp>
        <p:nvSpPr>
          <p:cNvPr id="29" name="director-0"/>
          <p:cNvSpPr txBox="1"/>
          <p:nvPr/>
        </p:nvSpPr>
        <p:spPr>
          <a:xfrm>
            <a:off x="8915400" y="2514600"/>
            <a:ext cx="2453335" cy="3383280"/>
          </a:xfrm>
          <a:prstGeom prst="rect">
            <a:avLst/>
          </a:prstGeom>
          <a:noFill/>
          <a:ln/>
        </p:spPr>
        <p:txBody>
          <a:bodyPr wrap="square" lIns="0" tIns="0" rIns="0" bIns="0" rtlCol="0" anchor="t"/>
          <a:lstStyle/>
          <a:p>
            <a:pPr marL="0" indent="0">
              <a:buNone/>
            </a:pPr>
            <a:r>
              <a:rPr lang="en-US" sz="1700" b="1" dirty="0">
                <a:solidFill>
                  <a:srgbClr val="FFFFFF"/>
                </a:solidFill>
              </a:rPr>
              <a:t>Dr. Salma Khairallah</a:t>
            </a:r>
            <a:endParaRPr lang="en-US" sz="1700" dirty="0"/>
          </a:p>
          <a:p>
            <a:pPr marL="0" indent="0">
              <a:spcAft>
                <a:spcPts val="800"/>
              </a:spcAft>
              <a:buNone/>
            </a:pPr>
            <a:r>
              <a:rPr lang="en-US" sz="1200" dirty="0">
                <a:solidFill>
                  <a:srgbClr val="00D4FF"/>
                </a:solidFill>
              </a:rPr>
              <a:t>Director of the Faculty's Programs</a:t>
            </a:r>
            <a:endParaRPr lang="en-US" sz="1700" dirty="0"/>
          </a:p>
          <a:p>
            <a:pPr marL="0" indent="0">
              <a:buNone/>
            </a:pPr>
            <a:r>
              <a:rPr lang="en-US" sz="1300" dirty="0">
                <a:solidFill>
                  <a:srgbClr val="DCE6F2"/>
                </a:solidFill>
              </a:rPr>
              <a:t>Directs both the Medical Laboratory and Medical Imaging programs. She holds a PhD in Biochemistry from Port Said University's Faculty of Science, where she previously directed the Biochemistry &amp; Microbiology program.</a:t>
            </a:r>
            <a:endParaRPr lang="en-US" sz="1700" dirty="0"/>
          </a:p>
        </p:txBody>
      </p:sp>
      <p:sp>
        <p:nvSpPr>
          <p:cNvPr id="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Faculty of Business Sciences</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Accounting and marketing for a digital economy</a:t>
            </a:r>
            <a:endParaRPr lang="en-US" sz="1500" dirty="0"/>
          </a:p>
        </p:txBody>
      </p:sp>
      <p:pic>
        <p:nvPicPr>
          <p:cNvPr id="5" name="fac-photo" descr="Students in business attire meeting around a conference table"/>
          <p:cNvPicPr>
            <a:picLocks noChangeAspect="1"/>
          </p:cNvPicPr>
          <p:nvPr/>
        </p:nvPicPr>
        <p:blipFill>
          <a:blip r:embed="rId3"/>
          <a:stretch>
            <a:fillRect/>
          </a:stretch>
        </p:blipFill>
        <p:spPr>
          <a:xfrm>
            <a:off x="548640" y="1600200"/>
            <a:ext cx="3886200" cy="2331720"/>
          </a:xfrm>
          <a:prstGeom prst="rect">
            <a:avLst/>
          </a:prstGeom>
        </p:spPr>
      </p:pic>
      <p:sp>
        <p:nvSpPr>
          <p:cNvPr id="6" name="fac-programs"/>
          <p:cNvSpPr/>
          <p:nvPr/>
        </p:nvSpPr>
        <p:spPr>
          <a:xfrm>
            <a:off x="548640" y="4114800"/>
            <a:ext cx="3886200" cy="2011680"/>
          </a:xfrm>
          <a:prstGeom prst="roundRect">
            <a:avLst>
              <a:gd name="adj" fmla="val 5455"/>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7" name="Text 3"/>
          <p:cNvSpPr txBox="1"/>
          <p:nvPr/>
        </p:nvSpPr>
        <p:spPr>
          <a:xfrm>
            <a:off x="777240" y="4224528"/>
            <a:ext cx="3429000" cy="365760"/>
          </a:xfrm>
          <a:prstGeom prst="rect">
            <a:avLst/>
          </a:prstGeom>
          <a:noFill/>
          <a:ln/>
        </p:spPr>
        <p:txBody>
          <a:bodyPr wrap="square" lIns="0" tIns="0" rIns="0" bIns="0" rtlCol="0" anchor="ctr"/>
          <a:lstStyle/>
          <a:p>
            <a:pPr marL="0" indent="0">
              <a:buNone/>
            </a:pPr>
            <a:r>
              <a:rPr lang="en-US" sz="1400" b="1" dirty="0">
                <a:solidFill>
                  <a:schemeClr val="accent1"/>
                </a:solidFill>
              </a:rPr>
              <a:t>Programs</a:t>
            </a:r>
            <a:endParaRPr lang="en-US" sz="1400" dirty="0"/>
          </a:p>
        </p:txBody>
      </p:sp>
      <p:sp>
        <p:nvSpPr>
          <p:cNvPr id="8" name="Text 4"/>
          <p:cNvSpPr txBox="1"/>
          <p:nvPr/>
        </p:nvSpPr>
        <p:spPr>
          <a:xfrm>
            <a:off x="777240" y="4617720"/>
            <a:ext cx="3429000" cy="141732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Accounting &amp; Software Applications</a:t>
            </a:r>
            <a:endParaRPr lang="en-US" sz="1300" dirty="0"/>
          </a:p>
          <a:p>
            <a:pPr marL="342900" indent="-342900">
              <a:spcAft>
                <a:spcPts val="300"/>
              </a:spcAft>
              <a:buSzPct val="100000"/>
              <a:buChar char="•"/>
            </a:pPr>
            <a:r>
              <a:rPr lang="en-US" sz="1300" dirty="0">
                <a:solidFill>
                  <a:schemeClr val="tx1"/>
                </a:solidFill>
              </a:rPr>
              <a:t>Digital Marketing &amp; E-Management</a:t>
            </a:r>
            <a:endParaRPr lang="en-US" sz="1300" dirty="0"/>
          </a:p>
        </p:txBody>
      </p:sp>
      <p:sp>
        <p:nvSpPr>
          <p:cNvPr id="9" name="fac-fact-0"/>
          <p:cNvSpPr/>
          <p:nvPr/>
        </p:nvSpPr>
        <p:spPr>
          <a:xfrm>
            <a:off x="4709160" y="160020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0" name="fac-fact-icon-0-circle"/>
          <p:cNvSpPr/>
          <p:nvPr/>
        </p:nvSpPr>
        <p:spPr>
          <a:xfrm>
            <a:off x="4892040" y="1783080"/>
            <a:ext cx="457200" cy="457200"/>
          </a:xfrm>
          <a:prstGeom prst="ellipse">
            <a:avLst/>
          </a:prstGeom>
          <a:solidFill>
            <a:schemeClr val="accent1"/>
          </a:solidFill>
          <a:ln/>
        </p:spPr>
        <p:txBody>
          <a:bodyPr/>
          <a:lstStyle/>
          <a:p>
            <a:endParaRPr lang="en-US"/>
          </a:p>
        </p:txBody>
      </p:sp>
      <p:pic>
        <p:nvPicPr>
          <p:cNvPr id="11" name="fac-fact-icon-0" descr="preencoded.png"/>
          <p:cNvPicPr>
            <a:picLocks noChangeAspect="1"/>
          </p:cNvPicPr>
          <p:nvPr/>
        </p:nvPicPr>
        <p:blipFill>
          <a:blip r:embed="rId4"/>
          <a:stretch>
            <a:fillRect/>
          </a:stretch>
        </p:blipFill>
        <p:spPr>
          <a:xfrm>
            <a:off x="5010912" y="1901952"/>
            <a:ext cx="219456" cy="219456"/>
          </a:xfrm>
          <a:prstGeom prst="rect">
            <a:avLst/>
          </a:prstGeom>
        </p:spPr>
      </p:pic>
      <p:sp>
        <p:nvSpPr>
          <p:cNvPr id="12" name="Text 7"/>
          <p:cNvSpPr txBox="1"/>
          <p:nvPr/>
        </p:nvSpPr>
        <p:spPr>
          <a:xfrm>
            <a:off x="5486400" y="170992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Digital accounting</a:t>
            </a:r>
            <a:endParaRPr lang="en-US" sz="1400" dirty="0"/>
          </a:p>
          <a:p>
            <a:pPr marL="0" indent="0">
              <a:buNone/>
            </a:pPr>
            <a:r>
              <a:rPr lang="en-US" sz="1200" dirty="0">
                <a:solidFill>
                  <a:schemeClr val="tx1"/>
                </a:solidFill>
              </a:rPr>
              <a:t>Accounting information systems, financial software and financial analysis</a:t>
            </a:r>
            <a:endParaRPr lang="en-US" sz="1400" dirty="0"/>
          </a:p>
        </p:txBody>
      </p:sp>
      <p:sp>
        <p:nvSpPr>
          <p:cNvPr id="13" name="fac-fact-1"/>
          <p:cNvSpPr/>
          <p:nvPr/>
        </p:nvSpPr>
        <p:spPr>
          <a:xfrm>
            <a:off x="4709160" y="277749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4" name="fac-fact-icon-1-circle"/>
          <p:cNvSpPr/>
          <p:nvPr/>
        </p:nvSpPr>
        <p:spPr>
          <a:xfrm>
            <a:off x="4892040" y="2960370"/>
            <a:ext cx="457200" cy="457200"/>
          </a:xfrm>
          <a:prstGeom prst="ellipse">
            <a:avLst/>
          </a:prstGeom>
          <a:solidFill>
            <a:schemeClr val="accent1"/>
          </a:solidFill>
          <a:ln/>
        </p:spPr>
        <p:txBody>
          <a:bodyPr/>
          <a:lstStyle/>
          <a:p>
            <a:endParaRPr lang="en-US"/>
          </a:p>
        </p:txBody>
      </p:sp>
      <p:pic>
        <p:nvPicPr>
          <p:cNvPr id="15" name="fac-fact-icon-1" descr="preencoded.png"/>
          <p:cNvPicPr>
            <a:picLocks noChangeAspect="1"/>
          </p:cNvPicPr>
          <p:nvPr/>
        </p:nvPicPr>
        <p:blipFill>
          <a:blip r:embed="rId5"/>
          <a:stretch>
            <a:fillRect/>
          </a:stretch>
        </p:blipFill>
        <p:spPr>
          <a:xfrm>
            <a:off x="5010912" y="3079242"/>
            <a:ext cx="219456" cy="219456"/>
          </a:xfrm>
          <a:prstGeom prst="rect">
            <a:avLst/>
          </a:prstGeom>
        </p:spPr>
      </p:pic>
      <p:sp>
        <p:nvSpPr>
          <p:cNvPr id="16" name="Text 10"/>
          <p:cNvSpPr txBox="1"/>
          <p:nvPr/>
        </p:nvSpPr>
        <p:spPr>
          <a:xfrm>
            <a:off x="5486400" y="288721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Digital marketing</a:t>
            </a:r>
            <a:endParaRPr lang="en-US" sz="1400" dirty="0"/>
          </a:p>
          <a:p>
            <a:pPr marL="0" indent="0">
              <a:buNone/>
            </a:pPr>
            <a:r>
              <a:rPr lang="en-US" sz="1200" dirty="0">
                <a:solidFill>
                  <a:schemeClr val="tx1"/>
                </a:solidFill>
              </a:rPr>
              <a:t>Campaigns, e-commerce, platform management and consumer analytics</a:t>
            </a:r>
            <a:endParaRPr lang="en-US" sz="1400" dirty="0"/>
          </a:p>
        </p:txBody>
      </p:sp>
      <p:sp>
        <p:nvSpPr>
          <p:cNvPr id="17" name="fac-fact-2"/>
          <p:cNvSpPr/>
          <p:nvPr/>
        </p:nvSpPr>
        <p:spPr>
          <a:xfrm>
            <a:off x="4709160" y="395478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8" name="fac-fact-icon-2-circle"/>
          <p:cNvSpPr/>
          <p:nvPr/>
        </p:nvSpPr>
        <p:spPr>
          <a:xfrm>
            <a:off x="4892040" y="4137660"/>
            <a:ext cx="457200" cy="457200"/>
          </a:xfrm>
          <a:prstGeom prst="ellipse">
            <a:avLst/>
          </a:prstGeom>
          <a:solidFill>
            <a:schemeClr val="accent1"/>
          </a:solidFill>
          <a:ln/>
        </p:spPr>
        <p:txBody>
          <a:bodyPr/>
          <a:lstStyle/>
          <a:p>
            <a:endParaRPr lang="en-US"/>
          </a:p>
        </p:txBody>
      </p:sp>
      <p:pic>
        <p:nvPicPr>
          <p:cNvPr id="19" name="fac-fact-icon-2" descr="preencoded.png"/>
          <p:cNvPicPr>
            <a:picLocks noChangeAspect="1"/>
          </p:cNvPicPr>
          <p:nvPr/>
        </p:nvPicPr>
        <p:blipFill>
          <a:blip r:embed="rId6"/>
          <a:stretch>
            <a:fillRect/>
          </a:stretch>
        </p:blipFill>
        <p:spPr>
          <a:xfrm>
            <a:off x="5010912" y="4256532"/>
            <a:ext cx="219456" cy="219456"/>
          </a:xfrm>
          <a:prstGeom prst="rect">
            <a:avLst/>
          </a:prstGeom>
        </p:spPr>
      </p:pic>
      <p:sp>
        <p:nvSpPr>
          <p:cNvPr id="20" name="Text 13"/>
          <p:cNvSpPr txBox="1"/>
          <p:nvPr/>
        </p:nvSpPr>
        <p:spPr>
          <a:xfrm>
            <a:off x="5486400" y="406450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First cohort</a:t>
            </a:r>
            <a:endParaRPr lang="en-US" sz="1400" dirty="0"/>
          </a:p>
          <a:p>
            <a:pPr marL="0" indent="0">
              <a:buNone/>
            </a:pPr>
            <a:r>
              <a:rPr lang="en-US" sz="1200" dirty="0">
                <a:solidFill>
                  <a:schemeClr val="tx1"/>
                </a:solidFill>
              </a:rPr>
              <a:t>The faculty welcomed its first cohort with a dedicated orientation day</a:t>
            </a:r>
            <a:endParaRPr lang="en-US" sz="1400" dirty="0"/>
          </a:p>
        </p:txBody>
      </p:sp>
      <p:sp>
        <p:nvSpPr>
          <p:cNvPr id="21" name="fac-fact-3"/>
          <p:cNvSpPr/>
          <p:nvPr/>
        </p:nvSpPr>
        <p:spPr>
          <a:xfrm>
            <a:off x="4709160" y="5132070"/>
            <a:ext cx="3657600" cy="994410"/>
          </a:xfrm>
          <a:prstGeom prst="roundRect">
            <a:avLst>
              <a:gd name="adj" fmla="val 1103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2" name="fac-fact-icon-3-circle"/>
          <p:cNvSpPr/>
          <p:nvPr/>
        </p:nvSpPr>
        <p:spPr>
          <a:xfrm>
            <a:off x="4892040" y="5314950"/>
            <a:ext cx="457200" cy="457200"/>
          </a:xfrm>
          <a:prstGeom prst="ellipse">
            <a:avLst/>
          </a:prstGeom>
          <a:solidFill>
            <a:schemeClr val="accent1"/>
          </a:solidFill>
          <a:ln/>
        </p:spPr>
        <p:txBody>
          <a:bodyPr/>
          <a:lstStyle/>
          <a:p>
            <a:endParaRPr lang="en-US"/>
          </a:p>
        </p:txBody>
      </p:sp>
      <p:pic>
        <p:nvPicPr>
          <p:cNvPr id="23" name="fac-fact-icon-3" descr="preencoded.png"/>
          <p:cNvPicPr>
            <a:picLocks noChangeAspect="1"/>
          </p:cNvPicPr>
          <p:nvPr/>
        </p:nvPicPr>
        <p:blipFill>
          <a:blip r:embed="rId7"/>
          <a:stretch>
            <a:fillRect/>
          </a:stretch>
        </p:blipFill>
        <p:spPr>
          <a:xfrm>
            <a:off x="5010912" y="5433822"/>
            <a:ext cx="219456" cy="219456"/>
          </a:xfrm>
          <a:prstGeom prst="rect">
            <a:avLst/>
          </a:prstGeom>
        </p:spPr>
      </p:pic>
      <p:sp>
        <p:nvSpPr>
          <p:cNvPr id="24" name="Text 16"/>
          <p:cNvSpPr txBox="1"/>
          <p:nvPr/>
        </p:nvSpPr>
        <p:spPr>
          <a:xfrm>
            <a:off x="5486400" y="5241798"/>
            <a:ext cx="2743200" cy="774954"/>
          </a:xfrm>
          <a:prstGeom prst="rect">
            <a:avLst/>
          </a:prstGeom>
          <a:noFill/>
          <a:ln/>
        </p:spPr>
        <p:txBody>
          <a:bodyPr wrap="square" lIns="0" tIns="0" rIns="0" bIns="0" rtlCol="0" anchor="ctr"/>
          <a:lstStyle/>
          <a:p>
            <a:pPr marL="0" indent="0">
              <a:buNone/>
            </a:pPr>
            <a:r>
              <a:rPr lang="en-US" sz="1400" b="1" dirty="0">
                <a:solidFill>
                  <a:schemeClr val="tx2"/>
                </a:solidFill>
              </a:rPr>
              <a:t>Career-ready</a:t>
            </a:r>
            <a:endParaRPr lang="en-US" sz="1400" dirty="0"/>
          </a:p>
          <a:p>
            <a:pPr marL="0" indent="0">
              <a:buNone/>
            </a:pPr>
            <a:r>
              <a:rPr lang="en-US" sz="1200" dirty="0">
                <a:solidFill>
                  <a:schemeClr val="tx1"/>
                </a:solidFill>
              </a:rPr>
              <a:t>Pathways to accounting, auditing, taxation, banking, marketing and e-commerce roles</a:t>
            </a:r>
            <a:endParaRPr lang="en-US" sz="1400" dirty="0"/>
          </a:p>
        </p:txBody>
      </p:sp>
      <p:sp>
        <p:nvSpPr>
          <p:cNvPr id="25" name="director-card"/>
          <p:cNvSpPr/>
          <p:nvPr/>
        </p:nvSpPr>
        <p:spPr>
          <a:xfrm>
            <a:off x="8641080" y="1600200"/>
            <a:ext cx="3001975" cy="4526280"/>
          </a:xfrm>
          <a:prstGeom prst="roundRect">
            <a:avLst>
              <a:gd name="adj" fmla="val 4569"/>
            </a:avLst>
          </a:prstGeom>
          <a:solidFill>
            <a:schemeClr val="tx2"/>
          </a:solidFill>
          <a:ln/>
        </p:spPr>
        <p:txBody>
          <a:bodyPr/>
          <a:lstStyle/>
          <a:p>
            <a:endParaRPr lang="en-US"/>
          </a:p>
        </p:txBody>
      </p:sp>
      <p:sp>
        <p:nvSpPr>
          <p:cNvPr id="26" name="dir-icon-circle"/>
          <p:cNvSpPr/>
          <p:nvPr/>
        </p:nvSpPr>
        <p:spPr>
          <a:xfrm>
            <a:off x="8915400" y="1828800"/>
            <a:ext cx="502920" cy="502920"/>
          </a:xfrm>
          <a:prstGeom prst="ellipse">
            <a:avLst/>
          </a:prstGeom>
          <a:solidFill>
            <a:schemeClr val="accent2"/>
          </a:solidFill>
          <a:ln/>
        </p:spPr>
        <p:txBody>
          <a:bodyPr/>
          <a:lstStyle/>
          <a:p>
            <a:endParaRPr lang="en-US"/>
          </a:p>
        </p:txBody>
      </p:sp>
      <p:pic>
        <p:nvPicPr>
          <p:cNvPr id="27" name="dir-icon" descr="preencoded.png"/>
          <p:cNvPicPr>
            <a:picLocks noChangeAspect="1"/>
          </p:cNvPicPr>
          <p:nvPr/>
        </p:nvPicPr>
        <p:blipFill>
          <a:blip r:embed="rId8"/>
          <a:stretch>
            <a:fillRect/>
          </a:stretch>
        </p:blipFill>
        <p:spPr>
          <a:xfrm>
            <a:off x="9046159" y="1959559"/>
            <a:ext cx="241402" cy="241402"/>
          </a:xfrm>
          <a:prstGeom prst="rect">
            <a:avLst/>
          </a:prstGeom>
        </p:spPr>
      </p:pic>
      <p:sp>
        <p:nvSpPr>
          <p:cNvPr id="28" name="Text 19"/>
          <p:cNvSpPr txBox="1"/>
          <p:nvPr/>
        </p:nvSpPr>
        <p:spPr>
          <a:xfrm>
            <a:off x="9555480" y="1828800"/>
            <a:ext cx="1904695" cy="502920"/>
          </a:xfrm>
          <a:prstGeom prst="rect">
            <a:avLst/>
          </a:prstGeom>
          <a:noFill/>
          <a:ln/>
        </p:spPr>
        <p:txBody>
          <a:bodyPr wrap="square" lIns="0" tIns="0" rIns="0" bIns="0" rtlCol="0" anchor="ctr"/>
          <a:lstStyle/>
          <a:p>
            <a:pPr marL="0" indent="0">
              <a:buNone/>
            </a:pPr>
            <a:r>
              <a:rPr lang="en-US" sz="1500" b="1" dirty="0">
                <a:solidFill>
                  <a:srgbClr val="00D4FF"/>
                </a:solidFill>
              </a:rPr>
              <a:t>Program Director</a:t>
            </a:r>
            <a:endParaRPr lang="en-US" sz="1500" dirty="0"/>
          </a:p>
        </p:txBody>
      </p:sp>
      <p:sp>
        <p:nvSpPr>
          <p:cNvPr id="29" name="director-0"/>
          <p:cNvSpPr txBox="1"/>
          <p:nvPr/>
        </p:nvSpPr>
        <p:spPr>
          <a:xfrm>
            <a:off x="8915400" y="2514600"/>
            <a:ext cx="2453335" cy="3383280"/>
          </a:xfrm>
          <a:prstGeom prst="rect">
            <a:avLst/>
          </a:prstGeom>
          <a:noFill/>
          <a:ln/>
        </p:spPr>
        <p:txBody>
          <a:bodyPr wrap="square" lIns="0" tIns="0" rIns="0" bIns="0" rtlCol="0" anchor="t"/>
          <a:lstStyle/>
          <a:p>
            <a:pPr marL="0" indent="0">
              <a:buNone/>
            </a:pPr>
            <a:r>
              <a:rPr lang="en-US" sz="1700" b="1" dirty="0">
                <a:solidFill>
                  <a:srgbClr val="FFFFFF"/>
                </a:solidFill>
              </a:rPr>
              <a:t>Dr. Ali Gomaa</a:t>
            </a:r>
            <a:endParaRPr lang="en-US" sz="1700" dirty="0"/>
          </a:p>
          <a:p>
            <a:pPr marL="0" indent="0">
              <a:spcAft>
                <a:spcPts val="800"/>
              </a:spcAft>
              <a:buNone/>
            </a:pPr>
            <a:r>
              <a:rPr lang="en-US" sz="1200" dirty="0">
                <a:solidFill>
                  <a:srgbClr val="00D4FF"/>
                </a:solidFill>
              </a:rPr>
              <a:t>Program Director, Accounting &amp; Software Applications</a:t>
            </a:r>
            <a:endParaRPr lang="en-US" sz="1700" dirty="0"/>
          </a:p>
          <a:p>
            <a:pPr marL="0" indent="0">
              <a:buNone/>
            </a:pPr>
            <a:r>
              <a:rPr lang="en-US" sz="1300" dirty="0">
                <a:solidFill>
                  <a:srgbClr val="DCE6F2"/>
                </a:solidFill>
              </a:rPr>
              <a:t>Leads the Accounting &amp; Software Applications program, which prepares students for accounting, auditing, financial analysis, taxation and financial-software careers.</a:t>
            </a:r>
            <a:endParaRPr lang="en-US" sz="1700" dirty="0"/>
          </a:p>
        </p:txBody>
      </p:sp>
      <p:sp>
        <p:nvSpPr>
          <p:cNvPr id="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Built on International Academic Standards</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Rules and standards that support credit transfer, exchange and joint programs</a:t>
            </a:r>
            <a:endParaRPr lang="en-US" sz="1500" dirty="0"/>
          </a:p>
        </p:txBody>
      </p:sp>
      <p:pic>
        <p:nvPicPr>
          <p:cNvPr id="5" name="lab-photo" descr="Students in a modern EPNU laboratory"/>
          <p:cNvPicPr>
            <a:picLocks noChangeAspect="1"/>
          </p:cNvPicPr>
          <p:nvPr/>
        </p:nvPicPr>
        <p:blipFill>
          <a:blip r:embed="rId3"/>
          <a:stretch>
            <a:fillRect/>
          </a:stretch>
        </p:blipFill>
        <p:spPr>
          <a:xfrm>
            <a:off x="7894015" y="1600200"/>
            <a:ext cx="3749040" cy="4526280"/>
          </a:xfrm>
          <a:prstGeom prst="rect">
            <a:avLst/>
          </a:prstGeom>
        </p:spPr>
      </p:pic>
      <p:sp>
        <p:nvSpPr>
          <p:cNvPr id="6" name="std-card-0"/>
          <p:cNvSpPr/>
          <p:nvPr/>
        </p:nvSpPr>
        <p:spPr>
          <a:xfrm>
            <a:off x="548640" y="1600200"/>
            <a:ext cx="3154680" cy="1371600"/>
          </a:xfrm>
          <a:prstGeom prst="roundRect">
            <a:avLst>
              <a:gd name="adj" fmla="val 8000"/>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7" name="std-icon-0-circle"/>
          <p:cNvSpPr/>
          <p:nvPr/>
        </p:nvSpPr>
        <p:spPr>
          <a:xfrm>
            <a:off x="731520" y="1801368"/>
            <a:ext cx="502920" cy="502920"/>
          </a:xfrm>
          <a:prstGeom prst="ellipse">
            <a:avLst/>
          </a:prstGeom>
          <a:solidFill>
            <a:schemeClr val="accent1"/>
          </a:solidFill>
          <a:ln/>
        </p:spPr>
        <p:txBody>
          <a:bodyPr/>
          <a:lstStyle/>
          <a:p>
            <a:endParaRPr lang="en-US"/>
          </a:p>
        </p:txBody>
      </p:sp>
      <p:pic>
        <p:nvPicPr>
          <p:cNvPr id="8" name="std-icon-0" descr="preencoded.png"/>
          <p:cNvPicPr>
            <a:picLocks noChangeAspect="1"/>
          </p:cNvPicPr>
          <p:nvPr/>
        </p:nvPicPr>
        <p:blipFill>
          <a:blip r:embed="rId4"/>
          <a:stretch>
            <a:fillRect/>
          </a:stretch>
        </p:blipFill>
        <p:spPr>
          <a:xfrm>
            <a:off x="862279" y="1932127"/>
            <a:ext cx="241402" cy="241402"/>
          </a:xfrm>
          <a:prstGeom prst="rect">
            <a:avLst/>
          </a:prstGeom>
        </p:spPr>
      </p:pic>
      <p:sp>
        <p:nvSpPr>
          <p:cNvPr id="9" name="Text 4"/>
          <p:cNvSpPr txBox="1"/>
          <p:nvPr/>
        </p:nvSpPr>
        <p:spPr>
          <a:xfrm>
            <a:off x="1371600" y="1764792"/>
            <a:ext cx="2194560" cy="1097280"/>
          </a:xfrm>
          <a:prstGeom prst="rect">
            <a:avLst/>
          </a:prstGeom>
          <a:noFill/>
          <a:ln/>
        </p:spPr>
        <p:txBody>
          <a:bodyPr wrap="square" lIns="0" tIns="0" rIns="0" bIns="0" rtlCol="0" anchor="t"/>
          <a:lstStyle/>
          <a:p>
            <a:pPr marL="0" indent="0">
              <a:buNone/>
            </a:pPr>
            <a:r>
              <a:rPr lang="en-US" sz="1500" b="1" dirty="0">
                <a:solidFill>
                  <a:schemeClr val="tx2"/>
                </a:solidFill>
              </a:rPr>
              <a:t>English-medium instruction</a:t>
            </a:r>
            <a:endParaRPr lang="en-US" sz="1500" dirty="0"/>
          </a:p>
          <a:p>
            <a:pPr marL="0" indent="0">
              <a:buNone/>
            </a:pPr>
            <a:r>
              <a:rPr lang="en-US" sz="1250" dirty="0">
                <a:solidFill>
                  <a:schemeClr val="tx1"/>
                </a:solidFill>
              </a:rPr>
              <a:t>English is the official language of teaching, textbooks and exams</a:t>
            </a:r>
            <a:endParaRPr lang="en-US" sz="1500" dirty="0"/>
          </a:p>
        </p:txBody>
      </p:sp>
      <p:sp>
        <p:nvSpPr>
          <p:cNvPr id="10" name="std-card-1"/>
          <p:cNvSpPr/>
          <p:nvPr/>
        </p:nvSpPr>
        <p:spPr>
          <a:xfrm>
            <a:off x="3931920" y="1600200"/>
            <a:ext cx="3154680" cy="1371600"/>
          </a:xfrm>
          <a:prstGeom prst="roundRect">
            <a:avLst>
              <a:gd name="adj" fmla="val 8000"/>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1" name="std-icon-1-circle"/>
          <p:cNvSpPr/>
          <p:nvPr/>
        </p:nvSpPr>
        <p:spPr>
          <a:xfrm>
            <a:off x="4114800" y="1801368"/>
            <a:ext cx="502920" cy="502920"/>
          </a:xfrm>
          <a:prstGeom prst="ellipse">
            <a:avLst/>
          </a:prstGeom>
          <a:solidFill>
            <a:schemeClr val="accent1"/>
          </a:solidFill>
          <a:ln/>
        </p:spPr>
        <p:txBody>
          <a:bodyPr/>
          <a:lstStyle/>
          <a:p>
            <a:endParaRPr lang="en-US"/>
          </a:p>
        </p:txBody>
      </p:sp>
      <p:pic>
        <p:nvPicPr>
          <p:cNvPr id="12" name="std-icon-1" descr="preencoded.png"/>
          <p:cNvPicPr>
            <a:picLocks noChangeAspect="1"/>
          </p:cNvPicPr>
          <p:nvPr/>
        </p:nvPicPr>
        <p:blipFill>
          <a:blip r:embed="rId5"/>
          <a:stretch>
            <a:fillRect/>
          </a:stretch>
        </p:blipFill>
        <p:spPr>
          <a:xfrm>
            <a:off x="4245559" y="1932127"/>
            <a:ext cx="241402" cy="241402"/>
          </a:xfrm>
          <a:prstGeom prst="rect">
            <a:avLst/>
          </a:prstGeom>
        </p:spPr>
      </p:pic>
      <p:sp>
        <p:nvSpPr>
          <p:cNvPr id="13" name="Text 7"/>
          <p:cNvSpPr txBox="1"/>
          <p:nvPr/>
        </p:nvSpPr>
        <p:spPr>
          <a:xfrm>
            <a:off x="4754880" y="1764792"/>
            <a:ext cx="2194560" cy="1097280"/>
          </a:xfrm>
          <a:prstGeom prst="rect">
            <a:avLst/>
          </a:prstGeom>
          <a:noFill/>
          <a:ln/>
        </p:spPr>
        <p:txBody>
          <a:bodyPr wrap="square" lIns="0" tIns="0" rIns="0" bIns="0" rtlCol="0" anchor="t"/>
          <a:lstStyle/>
          <a:p>
            <a:pPr marL="0" indent="0">
              <a:buNone/>
            </a:pPr>
            <a:r>
              <a:rPr lang="en-US" sz="1500" b="1" dirty="0">
                <a:solidFill>
                  <a:schemeClr val="tx2"/>
                </a:solidFill>
              </a:rPr>
              <a:t>Credit hours ≈ ECTS</a:t>
            </a:r>
            <a:endParaRPr lang="en-US" sz="1500" dirty="0"/>
          </a:p>
          <a:p>
            <a:pPr marL="0" indent="0">
              <a:buNone/>
            </a:pPr>
            <a:r>
              <a:rPr lang="en-US" sz="1250" dirty="0">
                <a:solidFill>
                  <a:schemeClr val="tx1"/>
                </a:solidFill>
              </a:rPr>
              <a:t>One semester's load ≈ 30 ECTS (750 hours of student workload)</a:t>
            </a:r>
            <a:endParaRPr lang="en-US" sz="1500" dirty="0"/>
          </a:p>
        </p:txBody>
      </p:sp>
      <p:sp>
        <p:nvSpPr>
          <p:cNvPr id="14" name="std-card-2"/>
          <p:cNvSpPr/>
          <p:nvPr/>
        </p:nvSpPr>
        <p:spPr>
          <a:xfrm>
            <a:off x="548640" y="3172968"/>
            <a:ext cx="3154680" cy="1371600"/>
          </a:xfrm>
          <a:prstGeom prst="roundRect">
            <a:avLst>
              <a:gd name="adj" fmla="val 8000"/>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5" name="std-icon-2-circle"/>
          <p:cNvSpPr/>
          <p:nvPr/>
        </p:nvSpPr>
        <p:spPr>
          <a:xfrm>
            <a:off x="731520" y="3374136"/>
            <a:ext cx="502920" cy="502920"/>
          </a:xfrm>
          <a:prstGeom prst="ellipse">
            <a:avLst/>
          </a:prstGeom>
          <a:solidFill>
            <a:schemeClr val="accent1"/>
          </a:solidFill>
          <a:ln/>
        </p:spPr>
        <p:txBody>
          <a:bodyPr/>
          <a:lstStyle/>
          <a:p>
            <a:endParaRPr lang="en-US"/>
          </a:p>
        </p:txBody>
      </p:sp>
      <p:pic>
        <p:nvPicPr>
          <p:cNvPr id="16" name="std-icon-2" descr="preencoded.png"/>
          <p:cNvPicPr>
            <a:picLocks noChangeAspect="1"/>
          </p:cNvPicPr>
          <p:nvPr/>
        </p:nvPicPr>
        <p:blipFill>
          <a:blip r:embed="rId6"/>
          <a:stretch>
            <a:fillRect/>
          </a:stretch>
        </p:blipFill>
        <p:spPr>
          <a:xfrm>
            <a:off x="862279" y="3504895"/>
            <a:ext cx="241402" cy="241402"/>
          </a:xfrm>
          <a:prstGeom prst="rect">
            <a:avLst/>
          </a:prstGeom>
        </p:spPr>
      </p:pic>
      <p:sp>
        <p:nvSpPr>
          <p:cNvPr id="17" name="Text 10"/>
          <p:cNvSpPr txBox="1"/>
          <p:nvPr/>
        </p:nvSpPr>
        <p:spPr>
          <a:xfrm>
            <a:off x="1371600" y="3337560"/>
            <a:ext cx="2194560" cy="1097280"/>
          </a:xfrm>
          <a:prstGeom prst="rect">
            <a:avLst/>
          </a:prstGeom>
          <a:noFill/>
          <a:ln/>
        </p:spPr>
        <p:txBody>
          <a:bodyPr wrap="square" lIns="0" tIns="0" rIns="0" bIns="0" rtlCol="0" anchor="t"/>
          <a:lstStyle/>
          <a:p>
            <a:pPr marL="0" indent="0">
              <a:buNone/>
            </a:pPr>
            <a:r>
              <a:rPr lang="en-US" sz="1500" b="1" dirty="0">
                <a:solidFill>
                  <a:schemeClr val="tx2"/>
                </a:solidFill>
              </a:rPr>
              <a:t>Bilingual certificates</a:t>
            </a:r>
            <a:endParaRPr lang="en-US" sz="1500" dirty="0"/>
          </a:p>
          <a:p>
            <a:pPr marL="0" indent="0">
              <a:buNone/>
            </a:pPr>
            <a:r>
              <a:rPr lang="en-US" sz="1250" dirty="0">
                <a:solidFill>
                  <a:schemeClr val="tx1"/>
                </a:solidFill>
              </a:rPr>
              <a:t>Graduation certificates issued in Arabic and English</a:t>
            </a:r>
            <a:endParaRPr lang="en-US" sz="1500" dirty="0"/>
          </a:p>
        </p:txBody>
      </p:sp>
      <p:sp>
        <p:nvSpPr>
          <p:cNvPr id="18" name="std-card-3"/>
          <p:cNvSpPr/>
          <p:nvPr/>
        </p:nvSpPr>
        <p:spPr>
          <a:xfrm>
            <a:off x="3931920" y="3172968"/>
            <a:ext cx="3154680" cy="1371600"/>
          </a:xfrm>
          <a:prstGeom prst="roundRect">
            <a:avLst>
              <a:gd name="adj" fmla="val 8000"/>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9" name="std-icon-3-circle"/>
          <p:cNvSpPr/>
          <p:nvPr/>
        </p:nvSpPr>
        <p:spPr>
          <a:xfrm>
            <a:off x="4114800" y="3374136"/>
            <a:ext cx="502920" cy="502920"/>
          </a:xfrm>
          <a:prstGeom prst="ellipse">
            <a:avLst/>
          </a:prstGeom>
          <a:solidFill>
            <a:schemeClr val="accent1"/>
          </a:solidFill>
          <a:ln/>
        </p:spPr>
        <p:txBody>
          <a:bodyPr/>
          <a:lstStyle/>
          <a:p>
            <a:endParaRPr lang="en-US"/>
          </a:p>
        </p:txBody>
      </p:sp>
      <p:pic>
        <p:nvPicPr>
          <p:cNvPr id="20" name="std-icon-3" descr="preencoded.png"/>
          <p:cNvPicPr>
            <a:picLocks noChangeAspect="1"/>
          </p:cNvPicPr>
          <p:nvPr/>
        </p:nvPicPr>
        <p:blipFill>
          <a:blip r:embed="rId7"/>
          <a:stretch>
            <a:fillRect/>
          </a:stretch>
        </p:blipFill>
        <p:spPr>
          <a:xfrm>
            <a:off x="4245559" y="3504895"/>
            <a:ext cx="241402" cy="241402"/>
          </a:xfrm>
          <a:prstGeom prst="rect">
            <a:avLst/>
          </a:prstGeom>
        </p:spPr>
      </p:pic>
      <p:sp>
        <p:nvSpPr>
          <p:cNvPr id="21" name="Text 13"/>
          <p:cNvSpPr txBox="1"/>
          <p:nvPr/>
        </p:nvSpPr>
        <p:spPr>
          <a:xfrm>
            <a:off x="4754880" y="3337560"/>
            <a:ext cx="2194560" cy="1097280"/>
          </a:xfrm>
          <a:prstGeom prst="rect">
            <a:avLst/>
          </a:prstGeom>
          <a:noFill/>
          <a:ln/>
        </p:spPr>
        <p:txBody>
          <a:bodyPr wrap="square" lIns="0" tIns="0" rIns="0" bIns="0" rtlCol="0" anchor="t"/>
          <a:lstStyle/>
          <a:p>
            <a:pPr marL="0" indent="0">
              <a:buNone/>
            </a:pPr>
            <a:r>
              <a:rPr lang="en-US" sz="1500" b="1" dirty="0">
                <a:solidFill>
                  <a:schemeClr val="tx2"/>
                </a:solidFill>
              </a:rPr>
              <a:t>Mobility-ready rules</a:t>
            </a:r>
            <a:endParaRPr lang="en-US" sz="1500" dirty="0"/>
          </a:p>
          <a:p>
            <a:pPr marL="0" indent="0">
              <a:buNone/>
            </a:pPr>
            <a:r>
              <a:rPr lang="en-US" sz="1250" dirty="0">
                <a:solidFill>
                  <a:schemeClr val="tx1"/>
                </a:solidFill>
              </a:rPr>
              <a:t>Non-degree and auditor registration; transfer with course equivalency</a:t>
            </a:r>
            <a:endParaRPr lang="en-US" sz="1500" dirty="0"/>
          </a:p>
        </p:txBody>
      </p:sp>
      <p:sp>
        <p:nvSpPr>
          <p:cNvPr id="22" name="std-card-4"/>
          <p:cNvSpPr/>
          <p:nvPr/>
        </p:nvSpPr>
        <p:spPr>
          <a:xfrm>
            <a:off x="548640" y="4745736"/>
            <a:ext cx="3154680" cy="1371600"/>
          </a:xfrm>
          <a:prstGeom prst="roundRect">
            <a:avLst>
              <a:gd name="adj" fmla="val 8000"/>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3" name="std-icon-4-circle"/>
          <p:cNvSpPr/>
          <p:nvPr/>
        </p:nvSpPr>
        <p:spPr>
          <a:xfrm>
            <a:off x="731520" y="4946904"/>
            <a:ext cx="502920" cy="502920"/>
          </a:xfrm>
          <a:prstGeom prst="ellipse">
            <a:avLst/>
          </a:prstGeom>
          <a:solidFill>
            <a:schemeClr val="accent1"/>
          </a:solidFill>
          <a:ln/>
        </p:spPr>
        <p:txBody>
          <a:bodyPr/>
          <a:lstStyle/>
          <a:p>
            <a:endParaRPr lang="en-US"/>
          </a:p>
        </p:txBody>
      </p:sp>
      <p:pic>
        <p:nvPicPr>
          <p:cNvPr id="24" name="std-icon-4" descr="preencoded.png"/>
          <p:cNvPicPr>
            <a:picLocks noChangeAspect="1"/>
          </p:cNvPicPr>
          <p:nvPr/>
        </p:nvPicPr>
        <p:blipFill>
          <a:blip r:embed="rId8"/>
          <a:stretch>
            <a:fillRect/>
          </a:stretch>
        </p:blipFill>
        <p:spPr>
          <a:xfrm>
            <a:off x="862279" y="5077663"/>
            <a:ext cx="241402" cy="241402"/>
          </a:xfrm>
          <a:prstGeom prst="rect">
            <a:avLst/>
          </a:prstGeom>
        </p:spPr>
      </p:pic>
      <p:sp>
        <p:nvSpPr>
          <p:cNvPr id="25" name="Text 16"/>
          <p:cNvSpPr txBox="1"/>
          <p:nvPr/>
        </p:nvSpPr>
        <p:spPr>
          <a:xfrm>
            <a:off x="1371600" y="4910328"/>
            <a:ext cx="2194560" cy="1097280"/>
          </a:xfrm>
          <a:prstGeom prst="rect">
            <a:avLst/>
          </a:prstGeom>
          <a:noFill/>
          <a:ln/>
        </p:spPr>
        <p:txBody>
          <a:bodyPr wrap="square" lIns="0" tIns="0" rIns="0" bIns="0" rtlCol="0" anchor="t"/>
          <a:lstStyle/>
          <a:p>
            <a:pPr marL="0" indent="0">
              <a:buNone/>
            </a:pPr>
            <a:r>
              <a:rPr lang="en-US" sz="1500" b="1" dirty="0">
                <a:solidFill>
                  <a:schemeClr val="tx2"/>
                </a:solidFill>
              </a:rPr>
              <a:t>International entry routes</a:t>
            </a:r>
            <a:endParaRPr lang="en-US" sz="1500" dirty="0"/>
          </a:p>
          <a:p>
            <a:pPr marL="0" indent="0">
              <a:buNone/>
            </a:pPr>
            <a:r>
              <a:rPr lang="en-US" sz="1250" dirty="0">
                <a:solidFill>
                  <a:schemeClr val="tx1"/>
                </a:solidFill>
              </a:rPr>
              <a:t>Admission rules accept IGCSE, the Nile International Certificate and foreign certificates</a:t>
            </a:r>
            <a:endParaRPr lang="en-US" sz="1500" dirty="0"/>
          </a:p>
        </p:txBody>
      </p:sp>
      <p:sp>
        <p:nvSpPr>
          <p:cNvPr id="26" name="std-card-5"/>
          <p:cNvSpPr/>
          <p:nvPr/>
        </p:nvSpPr>
        <p:spPr>
          <a:xfrm>
            <a:off x="3931920" y="4745736"/>
            <a:ext cx="3154680" cy="1371600"/>
          </a:xfrm>
          <a:prstGeom prst="roundRect">
            <a:avLst>
              <a:gd name="adj" fmla="val 8000"/>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7" name="std-icon-5-circle"/>
          <p:cNvSpPr/>
          <p:nvPr/>
        </p:nvSpPr>
        <p:spPr>
          <a:xfrm>
            <a:off x="4114800" y="4946904"/>
            <a:ext cx="502920" cy="502920"/>
          </a:xfrm>
          <a:prstGeom prst="ellipse">
            <a:avLst/>
          </a:prstGeom>
          <a:solidFill>
            <a:schemeClr val="accent1"/>
          </a:solidFill>
          <a:ln/>
        </p:spPr>
        <p:txBody>
          <a:bodyPr/>
          <a:lstStyle/>
          <a:p>
            <a:endParaRPr lang="en-US"/>
          </a:p>
        </p:txBody>
      </p:sp>
      <p:pic>
        <p:nvPicPr>
          <p:cNvPr id="28" name="std-icon-5" descr="preencoded.png"/>
          <p:cNvPicPr>
            <a:picLocks noChangeAspect="1"/>
          </p:cNvPicPr>
          <p:nvPr/>
        </p:nvPicPr>
        <p:blipFill>
          <a:blip r:embed="rId9"/>
          <a:stretch>
            <a:fillRect/>
          </a:stretch>
        </p:blipFill>
        <p:spPr>
          <a:xfrm>
            <a:off x="4245559" y="5077663"/>
            <a:ext cx="241402" cy="241402"/>
          </a:xfrm>
          <a:prstGeom prst="rect">
            <a:avLst/>
          </a:prstGeom>
        </p:spPr>
      </p:pic>
      <p:sp>
        <p:nvSpPr>
          <p:cNvPr id="29" name="Text 19"/>
          <p:cNvSpPr txBox="1"/>
          <p:nvPr/>
        </p:nvSpPr>
        <p:spPr>
          <a:xfrm>
            <a:off x="4754880" y="4910328"/>
            <a:ext cx="2194560" cy="1097280"/>
          </a:xfrm>
          <a:prstGeom prst="rect">
            <a:avLst/>
          </a:prstGeom>
          <a:noFill/>
          <a:ln/>
        </p:spPr>
        <p:txBody>
          <a:bodyPr wrap="square" lIns="0" tIns="0" rIns="0" bIns="0" rtlCol="0" anchor="t"/>
          <a:lstStyle/>
          <a:p>
            <a:pPr marL="0" indent="0">
              <a:buNone/>
            </a:pPr>
            <a:r>
              <a:rPr lang="en-US" sz="1500" b="1" dirty="0">
                <a:solidFill>
                  <a:schemeClr val="tx2"/>
                </a:solidFill>
              </a:rPr>
              <a:t>Huawei ICT Academy</a:t>
            </a:r>
            <a:endParaRPr lang="en-US" sz="1500" dirty="0"/>
          </a:p>
          <a:p>
            <a:pPr marL="0" indent="0">
              <a:buNone/>
            </a:pPr>
            <a:r>
              <a:rPr lang="en-US" sz="1250" dirty="0">
                <a:solidFill>
                  <a:schemeClr val="tx1"/>
                </a:solidFill>
              </a:rPr>
              <a:t>Training in AI, cloud, networks, IoT and modern communications</a:t>
            </a:r>
            <a:endParaRPr lang="en-US" sz="1500" dirty="0"/>
          </a:p>
        </p:txBody>
      </p:sp>
      <p:sp>
        <p:nvSpPr>
          <p:cNvPr id="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Research with International Reach</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A young university already publishing with leading international publishers</a:t>
            </a:r>
            <a:endParaRPr lang="en-US" sz="1500" dirty="0"/>
          </a:p>
        </p:txBody>
      </p:sp>
      <p:sp>
        <p:nvSpPr>
          <p:cNvPr id="5" name="research-hero"/>
          <p:cNvSpPr/>
          <p:nvPr/>
        </p:nvSpPr>
        <p:spPr>
          <a:xfrm>
            <a:off x="548640" y="1600200"/>
            <a:ext cx="3749040" cy="4526280"/>
          </a:xfrm>
          <a:prstGeom prst="roundRect">
            <a:avLst>
              <a:gd name="adj" fmla="val 3659"/>
            </a:avLst>
          </a:prstGeom>
          <a:solidFill>
            <a:schemeClr val="tx2"/>
          </a:solidFill>
          <a:ln/>
        </p:spPr>
        <p:txBody>
          <a:bodyPr/>
          <a:lstStyle/>
          <a:p>
            <a:endParaRPr lang="en-US"/>
          </a:p>
        </p:txBody>
      </p:sp>
      <p:sp>
        <p:nvSpPr>
          <p:cNvPr id="6" name="Text 3"/>
          <p:cNvSpPr txBox="1"/>
          <p:nvPr/>
        </p:nvSpPr>
        <p:spPr>
          <a:xfrm>
            <a:off x="914400" y="1783080"/>
            <a:ext cx="3108960" cy="1371600"/>
          </a:xfrm>
          <a:prstGeom prst="rect">
            <a:avLst/>
          </a:prstGeom>
          <a:noFill/>
          <a:ln/>
        </p:spPr>
        <p:txBody>
          <a:bodyPr wrap="square" lIns="0" tIns="0" rIns="0" bIns="0" rtlCol="0" anchor="ctr"/>
          <a:lstStyle/>
          <a:p>
            <a:pPr marL="0" indent="0">
              <a:buNone/>
            </a:pPr>
            <a:r>
              <a:rPr lang="en-US" sz="8800" b="1" dirty="0">
                <a:solidFill>
                  <a:srgbClr val="00D4FF"/>
                </a:solidFill>
                <a:latin typeface="Arial" pitchFamily="34" charset="0"/>
                <a:ea typeface="Arial" pitchFamily="34" charset="-122"/>
                <a:cs typeface="Arial" pitchFamily="34" charset="-120"/>
              </a:rPr>
              <a:t>80+</a:t>
            </a:r>
            <a:endParaRPr lang="en-US" sz="8800" dirty="0"/>
          </a:p>
        </p:txBody>
      </p:sp>
      <p:sp>
        <p:nvSpPr>
          <p:cNvPr id="7" name="Text 4"/>
          <p:cNvSpPr txBox="1"/>
          <p:nvPr/>
        </p:nvSpPr>
        <p:spPr>
          <a:xfrm>
            <a:off x="914400" y="3200400"/>
            <a:ext cx="3017520" cy="1463040"/>
          </a:xfrm>
          <a:prstGeom prst="rect">
            <a:avLst/>
          </a:prstGeom>
          <a:noFill/>
          <a:ln/>
        </p:spPr>
        <p:txBody>
          <a:bodyPr wrap="square" lIns="0" tIns="0" rIns="0" bIns="0" rtlCol="0" anchor="t"/>
          <a:lstStyle/>
          <a:p>
            <a:pPr marL="0" indent="0">
              <a:buNone/>
            </a:pPr>
            <a:r>
              <a:rPr lang="en-US" sz="1900" b="1" dirty="0">
                <a:solidFill>
                  <a:srgbClr val="FFFFFF"/>
                </a:solidFill>
              </a:rPr>
              <a:t>peer-reviewed international publications</a:t>
            </a:r>
            <a:endParaRPr lang="en-US" sz="1900" dirty="0"/>
          </a:p>
          <a:p>
            <a:pPr marL="0" indent="0">
              <a:buNone/>
            </a:pPr>
            <a:r>
              <a:rPr lang="en-US" sz="1400" dirty="0">
                <a:solidFill>
                  <a:srgbClr val="C9D8EC"/>
                </a:solidFill>
              </a:rPr>
              <a:t>carry the EPNU affiliation, 2024 to October 2026, well beyond the 50+ milestone</a:t>
            </a:r>
            <a:endParaRPr lang="en-US" sz="1900" dirty="0"/>
          </a:p>
        </p:txBody>
      </p:sp>
      <p:sp>
        <p:nvSpPr>
          <p:cNvPr id="9" name="research-chart-card"/>
          <p:cNvSpPr/>
          <p:nvPr/>
        </p:nvSpPr>
        <p:spPr>
          <a:xfrm>
            <a:off x="4526280" y="1600200"/>
            <a:ext cx="3457804" cy="4526280"/>
          </a:xfrm>
          <a:prstGeom prst="roundRect">
            <a:avLst>
              <a:gd name="adj" fmla="val 3173"/>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0" name="Text 6"/>
          <p:cNvSpPr txBox="1"/>
          <p:nvPr/>
        </p:nvSpPr>
        <p:spPr>
          <a:xfrm>
            <a:off x="4754880" y="1737360"/>
            <a:ext cx="3009748" cy="365760"/>
          </a:xfrm>
          <a:prstGeom prst="rect">
            <a:avLst/>
          </a:prstGeom>
          <a:noFill/>
          <a:ln/>
        </p:spPr>
        <p:txBody>
          <a:bodyPr wrap="square" lIns="0" tIns="0" rIns="0" bIns="0" rtlCol="0" anchor="ctr"/>
          <a:lstStyle/>
          <a:p>
            <a:pPr marL="0" indent="0">
              <a:buNone/>
            </a:pPr>
            <a:r>
              <a:rPr lang="en-US" sz="1400" b="1" dirty="0">
                <a:solidFill>
                  <a:schemeClr val="tx2"/>
                </a:solidFill>
              </a:rPr>
              <a:t>Publications per year</a:t>
            </a:r>
            <a:endParaRPr lang="en-US" sz="1400" dirty="0"/>
          </a:p>
        </p:txBody>
      </p:sp>
      <p:graphicFrame>
        <p:nvGraphicFramePr>
          <p:cNvPr id="11" name="research-chart"/>
          <p:cNvGraphicFramePr/>
          <p:nvPr/>
        </p:nvGraphicFramePr>
        <p:xfrm>
          <a:off x="4663440" y="2148840"/>
          <a:ext cx="3192628"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12" name="research-fact-0"/>
          <p:cNvSpPr/>
          <p:nvPr/>
        </p:nvSpPr>
        <p:spPr>
          <a:xfrm>
            <a:off x="8185252" y="1600200"/>
            <a:ext cx="3457804" cy="1386840"/>
          </a:xfrm>
          <a:prstGeom prst="roundRect">
            <a:avLst>
              <a:gd name="adj" fmla="val 7912"/>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3" name="research-icon-0-circle"/>
          <p:cNvSpPr/>
          <p:nvPr/>
        </p:nvSpPr>
        <p:spPr>
          <a:xfrm>
            <a:off x="8368132" y="2065020"/>
            <a:ext cx="457200" cy="457200"/>
          </a:xfrm>
          <a:prstGeom prst="ellipse">
            <a:avLst/>
          </a:prstGeom>
          <a:solidFill>
            <a:schemeClr val="accent1"/>
          </a:solidFill>
          <a:ln/>
        </p:spPr>
        <p:txBody>
          <a:bodyPr/>
          <a:lstStyle/>
          <a:p>
            <a:endParaRPr lang="en-US"/>
          </a:p>
        </p:txBody>
      </p:sp>
      <p:pic>
        <p:nvPicPr>
          <p:cNvPr id="14" name="research-icon-0" descr="preencoded.png"/>
          <p:cNvPicPr>
            <a:picLocks noChangeAspect="1"/>
          </p:cNvPicPr>
          <p:nvPr/>
        </p:nvPicPr>
        <p:blipFill>
          <a:blip r:embed="rId4"/>
          <a:stretch>
            <a:fillRect/>
          </a:stretch>
        </p:blipFill>
        <p:spPr>
          <a:xfrm>
            <a:off x="8487004" y="2183892"/>
            <a:ext cx="219456" cy="219456"/>
          </a:xfrm>
          <a:prstGeom prst="rect">
            <a:avLst/>
          </a:prstGeom>
        </p:spPr>
      </p:pic>
      <p:sp>
        <p:nvSpPr>
          <p:cNvPr id="15" name="Text 9"/>
          <p:cNvSpPr txBox="1"/>
          <p:nvPr/>
        </p:nvSpPr>
        <p:spPr>
          <a:xfrm>
            <a:off x="8962492" y="1673352"/>
            <a:ext cx="2543404" cy="1240536"/>
          </a:xfrm>
          <a:prstGeom prst="rect">
            <a:avLst/>
          </a:prstGeom>
          <a:noFill/>
          <a:ln/>
        </p:spPr>
        <p:txBody>
          <a:bodyPr wrap="square" lIns="0" tIns="0" rIns="0" bIns="0" rtlCol="0" anchor="ctr"/>
          <a:lstStyle/>
          <a:p>
            <a:pPr marL="0" indent="0">
              <a:buNone/>
            </a:pPr>
            <a:r>
              <a:rPr lang="en-US" sz="1400" b="1" dirty="0">
                <a:solidFill>
                  <a:schemeClr val="tx2"/>
                </a:solidFill>
              </a:rPr>
              <a:t>Top-tier publishers</a:t>
            </a:r>
            <a:endParaRPr lang="en-US" sz="1400" dirty="0"/>
          </a:p>
          <a:p>
            <a:pPr marL="0" indent="0">
              <a:buNone/>
            </a:pPr>
            <a:r>
              <a:rPr lang="en-US" sz="1200" dirty="0">
                <a:solidFill>
                  <a:schemeClr val="tx1"/>
                </a:solidFill>
              </a:rPr>
              <a:t>98% with international publishers: Elsevier, Springer Nature, the Royal Society of Chemistry and Wiley</a:t>
            </a:r>
            <a:endParaRPr lang="en-US" sz="1400" dirty="0"/>
          </a:p>
        </p:txBody>
      </p:sp>
      <p:sp>
        <p:nvSpPr>
          <p:cNvPr id="16" name="research-fact-1"/>
          <p:cNvSpPr/>
          <p:nvPr/>
        </p:nvSpPr>
        <p:spPr>
          <a:xfrm>
            <a:off x="8185252" y="3169920"/>
            <a:ext cx="3457804" cy="1386840"/>
          </a:xfrm>
          <a:prstGeom prst="roundRect">
            <a:avLst>
              <a:gd name="adj" fmla="val 7912"/>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7" name="research-icon-1-circle"/>
          <p:cNvSpPr/>
          <p:nvPr/>
        </p:nvSpPr>
        <p:spPr>
          <a:xfrm>
            <a:off x="8368132" y="3634740"/>
            <a:ext cx="457200" cy="457200"/>
          </a:xfrm>
          <a:prstGeom prst="ellipse">
            <a:avLst/>
          </a:prstGeom>
          <a:solidFill>
            <a:schemeClr val="accent1"/>
          </a:solidFill>
          <a:ln/>
        </p:spPr>
        <p:txBody>
          <a:bodyPr/>
          <a:lstStyle/>
          <a:p>
            <a:endParaRPr lang="en-US"/>
          </a:p>
        </p:txBody>
      </p:sp>
      <p:pic>
        <p:nvPicPr>
          <p:cNvPr id="18" name="research-icon-1" descr="preencoded.png"/>
          <p:cNvPicPr>
            <a:picLocks noChangeAspect="1"/>
          </p:cNvPicPr>
          <p:nvPr/>
        </p:nvPicPr>
        <p:blipFill>
          <a:blip r:embed="rId5"/>
          <a:stretch>
            <a:fillRect/>
          </a:stretch>
        </p:blipFill>
        <p:spPr>
          <a:xfrm>
            <a:off x="8487004" y="3753612"/>
            <a:ext cx="219456" cy="219456"/>
          </a:xfrm>
          <a:prstGeom prst="rect">
            <a:avLst/>
          </a:prstGeom>
        </p:spPr>
      </p:pic>
      <p:sp>
        <p:nvSpPr>
          <p:cNvPr id="19" name="Text 12"/>
          <p:cNvSpPr txBox="1"/>
          <p:nvPr/>
        </p:nvSpPr>
        <p:spPr>
          <a:xfrm>
            <a:off x="8962492" y="3243072"/>
            <a:ext cx="2543404" cy="1240536"/>
          </a:xfrm>
          <a:prstGeom prst="rect">
            <a:avLst/>
          </a:prstGeom>
          <a:noFill/>
          <a:ln/>
        </p:spPr>
        <p:txBody>
          <a:bodyPr wrap="square" lIns="0" tIns="0" rIns="0" bIns="0" rtlCol="0" anchor="ctr"/>
          <a:lstStyle/>
          <a:p>
            <a:pPr marL="0" indent="0">
              <a:buNone/>
            </a:pPr>
            <a:r>
              <a:rPr lang="en-US" sz="1400" b="1" dirty="0">
                <a:solidFill>
                  <a:schemeClr val="tx2"/>
                </a:solidFill>
              </a:rPr>
              <a:t>Co-authors in 15 countries</a:t>
            </a:r>
            <a:endParaRPr lang="en-US" sz="1400" dirty="0"/>
          </a:p>
          <a:p>
            <a:pPr marL="0" indent="0">
              <a:buNone/>
            </a:pPr>
            <a:r>
              <a:rPr lang="en-US" sz="1200" dirty="0">
                <a:solidFill>
                  <a:schemeClr val="tx1"/>
                </a:solidFill>
              </a:rPr>
              <a:t>Nearly two-thirds of papers are internationally co-authored: Saudi Arabia, Jordan, the US, the UK, China, Japan, Malaysia and others</a:t>
            </a:r>
            <a:endParaRPr lang="en-US" sz="1400" dirty="0"/>
          </a:p>
        </p:txBody>
      </p:sp>
      <p:sp>
        <p:nvSpPr>
          <p:cNvPr id="20" name="research-fact-2"/>
          <p:cNvSpPr/>
          <p:nvPr/>
        </p:nvSpPr>
        <p:spPr>
          <a:xfrm>
            <a:off x="8185252" y="4739640"/>
            <a:ext cx="3457804" cy="1386840"/>
          </a:xfrm>
          <a:prstGeom prst="roundRect">
            <a:avLst>
              <a:gd name="adj" fmla="val 7912"/>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1" name="research-icon-2-circle"/>
          <p:cNvSpPr/>
          <p:nvPr/>
        </p:nvSpPr>
        <p:spPr>
          <a:xfrm>
            <a:off x="8368132" y="5204460"/>
            <a:ext cx="457200" cy="457200"/>
          </a:xfrm>
          <a:prstGeom prst="ellipse">
            <a:avLst/>
          </a:prstGeom>
          <a:solidFill>
            <a:schemeClr val="accent1"/>
          </a:solidFill>
          <a:ln/>
        </p:spPr>
        <p:txBody>
          <a:bodyPr/>
          <a:lstStyle/>
          <a:p>
            <a:endParaRPr lang="en-US"/>
          </a:p>
        </p:txBody>
      </p:sp>
      <p:pic>
        <p:nvPicPr>
          <p:cNvPr id="22" name="research-icon-2" descr="preencoded.png"/>
          <p:cNvPicPr>
            <a:picLocks noChangeAspect="1"/>
          </p:cNvPicPr>
          <p:nvPr/>
        </p:nvPicPr>
        <p:blipFill>
          <a:blip r:embed="rId6"/>
          <a:stretch>
            <a:fillRect/>
          </a:stretch>
        </p:blipFill>
        <p:spPr>
          <a:xfrm>
            <a:off x="8487004" y="5323332"/>
            <a:ext cx="219456" cy="219456"/>
          </a:xfrm>
          <a:prstGeom prst="rect">
            <a:avLst/>
          </a:prstGeom>
        </p:spPr>
      </p:pic>
      <p:sp>
        <p:nvSpPr>
          <p:cNvPr id="23" name="Text 15"/>
          <p:cNvSpPr txBox="1"/>
          <p:nvPr/>
        </p:nvSpPr>
        <p:spPr>
          <a:xfrm>
            <a:off x="8962492" y="4812792"/>
            <a:ext cx="2543404" cy="1240536"/>
          </a:xfrm>
          <a:prstGeom prst="rect">
            <a:avLst/>
          </a:prstGeom>
          <a:noFill/>
          <a:ln/>
        </p:spPr>
        <p:txBody>
          <a:bodyPr wrap="square" lIns="0" tIns="0" rIns="0" bIns="0" rtlCol="0" anchor="ctr"/>
          <a:lstStyle/>
          <a:p>
            <a:pPr marL="0" indent="0">
              <a:buNone/>
            </a:pPr>
            <a:r>
              <a:rPr lang="en-US" sz="1400" b="1" dirty="0">
                <a:solidFill>
                  <a:schemeClr val="tx2"/>
                </a:solidFill>
              </a:rPr>
              <a:t>Research strengths</a:t>
            </a:r>
            <a:endParaRPr lang="en-US" sz="1400" dirty="0"/>
          </a:p>
          <a:p>
            <a:pPr marL="0" indent="0">
              <a:buNone/>
            </a:pPr>
            <a:r>
              <a:rPr lang="en-US" sz="1200" dirty="0">
                <a:solidFill>
                  <a:schemeClr val="tx1"/>
                </a:solidFill>
              </a:rPr>
              <a:t>Medicinal chemistry and pharmacy, medicine, and renewable-energy engineering</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3" name="seal-watermark" descr="preencoded.png"/>
          <p:cNvPicPr>
            <a:picLocks noChangeAspect="1"/>
          </p:cNvPicPr>
          <p:nvPr/>
        </p:nvPicPr>
        <p:blipFill>
          <a:blip r:embed="rId3">
            <a:alphaModFix amt="12000"/>
          </a:blip>
          <a:stretch>
            <a:fillRect/>
          </a:stretch>
        </p:blipFill>
        <p:spPr>
          <a:xfrm>
            <a:off x="8001000" y="1828800"/>
            <a:ext cx="3931920" cy="3931920"/>
          </a:xfrm>
          <a:prstGeom prst="rect">
            <a:avLst/>
          </a:prstGeom>
        </p:spPr>
      </p:pic>
      <p:sp>
        <p:nvSpPr>
          <p:cNvPr id="4" name="section-number"/>
          <p:cNvSpPr txBox="1"/>
          <p:nvPr/>
        </p:nvSpPr>
        <p:spPr>
          <a:xfrm>
            <a:off x="1097280" y="1874520"/>
            <a:ext cx="2743200" cy="822960"/>
          </a:xfrm>
          <a:prstGeom prst="rect">
            <a:avLst/>
          </a:prstGeom>
          <a:noFill/>
          <a:ln/>
        </p:spPr>
        <p:txBody>
          <a:bodyPr wrap="square" lIns="0" tIns="0" rIns="0" bIns="0" rtlCol="0" anchor="ctr"/>
          <a:lstStyle/>
          <a:p>
            <a:pPr marL="0" indent="0">
              <a:buNone/>
            </a:pPr>
            <a:r>
              <a:rPr lang="en-US" sz="5400" b="1" dirty="0">
                <a:solidFill>
                  <a:schemeClr val="accent1"/>
                </a:solidFill>
                <a:latin typeface="Arial" pitchFamily="34" charset="0"/>
                <a:ea typeface="Arial" pitchFamily="34" charset="-122"/>
                <a:cs typeface="Arial" pitchFamily="34" charset="-120"/>
              </a:rPr>
              <a:t>03</a:t>
            </a:r>
            <a:endParaRPr lang="en-US" sz="5400" dirty="0"/>
          </a:p>
        </p:txBody>
      </p:sp>
      <p:sp>
        <p:nvSpPr>
          <p:cNvPr id="5" name="Text 0"/>
          <p:cNvSpPr>
            <a:spLocks noGrp="1"/>
          </p:cNvSpPr>
          <p:nvPr>
            <p:ph type="title" idx="101" hasCustomPrompt="1"/>
          </p:nvPr>
        </p:nvSpPr>
        <p:spPr>
          <a:xfrm>
            <a:off x="1097280" y="2788920"/>
            <a:ext cx="8686800" cy="914400"/>
          </a:xfrm>
          <a:prstGeom prst="rect">
            <a:avLst/>
          </a:prstGeom>
          <a:noFill/>
          <a:ln/>
        </p:spPr>
        <p:txBody>
          <a:bodyPr wrap="square" lIns="0" tIns="0" rIns="0" bIns="0" rtlCol="0" anchor="t"/>
          <a:lstStyle/>
          <a:p>
            <a:pPr marL="0" indent="0" algn="l">
              <a:buNone/>
            </a:pPr>
            <a:r>
              <a:rPr lang="en-US" sz="4400" b="1" dirty="0">
                <a:solidFill>
                  <a:schemeClr val="bg1"/>
                </a:solidFill>
                <a:latin typeface="Arial" pitchFamily="34" charset="0"/>
                <a:ea typeface="Arial" pitchFamily="34" charset="-122"/>
                <a:cs typeface="Arial" pitchFamily="34" charset="-120"/>
              </a:rPr>
              <a:t>International Relations</a:t>
            </a:r>
            <a:endParaRPr lang="en-US" sz="4400" dirty="0"/>
          </a:p>
        </p:txBody>
      </p:sp>
      <p:sp>
        <p:nvSpPr>
          <p:cNvPr id="6" name="Text 0"/>
          <p:cNvSpPr>
            <a:spLocks noGrp="1"/>
          </p:cNvSpPr>
          <p:nvPr>
            <p:ph type="body" idx="102" hasCustomPrompt="1"/>
          </p:nvPr>
        </p:nvSpPr>
        <p:spPr>
          <a:xfrm>
            <a:off x="1097280" y="3794760"/>
            <a:ext cx="6675120" cy="731520"/>
          </a:xfrm>
          <a:prstGeom prst="rect">
            <a:avLst/>
          </a:prstGeom>
          <a:noFill/>
          <a:ln/>
        </p:spPr>
        <p:txBody>
          <a:bodyPr wrap="square" lIns="0" tIns="0" rIns="0" bIns="0" rtlCol="0" anchor="t"/>
          <a:lstStyle/>
          <a:p>
            <a:pPr marL="0" indent="0" algn="l">
              <a:buNone/>
            </a:pPr>
            <a:r>
              <a:rPr lang="en-US" sz="1800" dirty="0">
                <a:solidFill>
                  <a:schemeClr val="accent2"/>
                </a:solidFill>
              </a:rPr>
              <a:t>"Global Openness" is one of the university's four pillars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C"/>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Internationalization Is a National Priority</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Egypt's national universities are being directed to go global, and EPNU is aligned</a:t>
            </a:r>
            <a:endParaRPr lang="en-US" sz="1500" dirty="0"/>
          </a:p>
        </p:txBody>
      </p:sp>
      <p:sp>
        <p:nvSpPr>
          <p:cNvPr id="5" name="timeline-line"/>
          <p:cNvSpPr/>
          <p:nvPr/>
        </p:nvSpPr>
        <p:spPr>
          <a:xfrm>
            <a:off x="822960" y="2148840"/>
            <a:ext cx="10506456" cy="0"/>
          </a:xfrm>
          <a:prstGeom prst="line">
            <a:avLst/>
          </a:prstGeom>
          <a:noFill/>
          <a:ln w="31750">
            <a:solidFill>
              <a:srgbClr val="0077FF"/>
            </a:solidFill>
            <a:prstDash val="solid"/>
          </a:ln>
        </p:spPr>
        <p:txBody>
          <a:bodyPr/>
          <a:lstStyle/>
          <a:p>
            <a:endParaRPr lang="en-US"/>
          </a:p>
        </p:txBody>
      </p:sp>
      <p:sp>
        <p:nvSpPr>
          <p:cNvPr id="6" name="timeline-dot-0"/>
          <p:cNvSpPr/>
          <p:nvPr/>
        </p:nvSpPr>
        <p:spPr>
          <a:xfrm>
            <a:off x="685800" y="1965960"/>
            <a:ext cx="365760" cy="365760"/>
          </a:xfrm>
          <a:prstGeom prst="ellipse">
            <a:avLst/>
          </a:prstGeom>
          <a:solidFill>
            <a:schemeClr val="accent1"/>
          </a:solidFill>
          <a:ln w="38100">
            <a:solidFill>
              <a:srgbClr val="FFFFFF"/>
            </a:solidFill>
            <a:prstDash val="solid"/>
          </a:ln>
        </p:spPr>
        <p:txBody>
          <a:bodyPr/>
          <a:lstStyle/>
          <a:p>
            <a:endParaRPr lang="en-US"/>
          </a:p>
        </p:txBody>
      </p:sp>
      <p:sp>
        <p:nvSpPr>
          <p:cNvPr id="7" name="Text 4"/>
          <p:cNvSpPr txBox="1"/>
          <p:nvPr/>
        </p:nvSpPr>
        <p:spPr>
          <a:xfrm>
            <a:off x="548640" y="1463040"/>
            <a:ext cx="3520440" cy="365760"/>
          </a:xfrm>
          <a:prstGeom prst="rect">
            <a:avLst/>
          </a:prstGeom>
          <a:noFill/>
          <a:ln/>
        </p:spPr>
        <p:txBody>
          <a:bodyPr wrap="square" lIns="0" tIns="0" rIns="0" bIns="0" rtlCol="0" anchor="ctr"/>
          <a:lstStyle/>
          <a:p>
            <a:pPr marL="0" indent="0">
              <a:buNone/>
            </a:pPr>
            <a:r>
              <a:rPr lang="en-US" sz="1400" b="1" kern="0" spc="100" dirty="0">
                <a:solidFill>
                  <a:schemeClr val="accent1"/>
                </a:solidFill>
              </a:rPr>
              <a:t>MARCH 2026</a:t>
            </a:r>
            <a:endParaRPr lang="en-US" sz="1400" dirty="0"/>
          </a:p>
        </p:txBody>
      </p:sp>
      <p:sp>
        <p:nvSpPr>
          <p:cNvPr id="8" name="timeline-card-0"/>
          <p:cNvSpPr/>
          <p:nvPr/>
        </p:nvSpPr>
        <p:spPr>
          <a:xfrm>
            <a:off x="548640" y="2606040"/>
            <a:ext cx="3520440" cy="2240280"/>
          </a:xfrm>
          <a:prstGeom prst="roundRect">
            <a:avLst>
              <a:gd name="adj" fmla="val 4898"/>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9" name="Text 6"/>
          <p:cNvSpPr txBox="1"/>
          <p:nvPr/>
        </p:nvSpPr>
        <p:spPr>
          <a:xfrm>
            <a:off x="777240" y="2788920"/>
            <a:ext cx="3063240" cy="1920240"/>
          </a:xfrm>
          <a:prstGeom prst="rect">
            <a:avLst/>
          </a:prstGeom>
          <a:noFill/>
          <a:ln/>
        </p:spPr>
        <p:txBody>
          <a:bodyPr wrap="square" lIns="0" tIns="0" rIns="0" bIns="0" rtlCol="0" anchor="t"/>
          <a:lstStyle/>
          <a:p>
            <a:pPr marL="0" indent="0">
              <a:spcAft>
                <a:spcPts val="400"/>
              </a:spcAft>
              <a:buNone/>
            </a:pPr>
            <a:r>
              <a:rPr lang="en-US" sz="1600" b="1" dirty="0">
                <a:solidFill>
                  <a:schemeClr val="tx2"/>
                </a:solidFill>
              </a:rPr>
              <a:t>EPNU Academic Affairs Council</a:t>
            </a:r>
            <a:endParaRPr lang="en-US" sz="1600" dirty="0"/>
          </a:p>
          <a:p>
            <a:pPr marL="0" indent="0">
              <a:spcAft>
                <a:spcPts val="400"/>
              </a:spcAft>
              <a:buNone/>
            </a:pPr>
            <a:r>
              <a:rPr lang="en-US" sz="1350" dirty="0">
                <a:solidFill>
                  <a:schemeClr val="tx1"/>
                </a:solidFill>
              </a:rPr>
              <a:t>Reviews the Minister's directives, including enhancing international cooperation and academic partnerships</a:t>
            </a:r>
            <a:endParaRPr lang="en-US" sz="1600" dirty="0"/>
          </a:p>
        </p:txBody>
      </p:sp>
      <p:sp>
        <p:nvSpPr>
          <p:cNvPr id="10" name="timeline-dot-1"/>
          <p:cNvSpPr/>
          <p:nvPr/>
        </p:nvSpPr>
        <p:spPr>
          <a:xfrm>
            <a:off x="4453128" y="1965960"/>
            <a:ext cx="365760" cy="365760"/>
          </a:xfrm>
          <a:prstGeom prst="ellipse">
            <a:avLst/>
          </a:prstGeom>
          <a:solidFill>
            <a:schemeClr val="accent1"/>
          </a:solidFill>
          <a:ln w="38100">
            <a:solidFill>
              <a:srgbClr val="FFFFFF"/>
            </a:solidFill>
            <a:prstDash val="solid"/>
          </a:ln>
        </p:spPr>
        <p:txBody>
          <a:bodyPr/>
          <a:lstStyle/>
          <a:p>
            <a:endParaRPr lang="en-US"/>
          </a:p>
        </p:txBody>
      </p:sp>
      <p:sp>
        <p:nvSpPr>
          <p:cNvPr id="11" name="Text 8"/>
          <p:cNvSpPr txBox="1"/>
          <p:nvPr/>
        </p:nvSpPr>
        <p:spPr>
          <a:xfrm>
            <a:off x="4315968" y="1463040"/>
            <a:ext cx="3520440" cy="365760"/>
          </a:xfrm>
          <a:prstGeom prst="rect">
            <a:avLst/>
          </a:prstGeom>
          <a:noFill/>
          <a:ln/>
        </p:spPr>
        <p:txBody>
          <a:bodyPr wrap="square" lIns="0" tIns="0" rIns="0" bIns="0" rtlCol="0" anchor="ctr"/>
          <a:lstStyle/>
          <a:p>
            <a:pPr marL="0" indent="0">
              <a:buNone/>
            </a:pPr>
            <a:r>
              <a:rPr lang="en-US" sz="1400" b="1" kern="0" spc="100" dirty="0">
                <a:solidFill>
                  <a:schemeClr val="accent1"/>
                </a:solidFill>
              </a:rPr>
              <a:t>JUNE 2026</a:t>
            </a:r>
            <a:endParaRPr lang="en-US" sz="1400" dirty="0"/>
          </a:p>
        </p:txBody>
      </p:sp>
      <p:sp>
        <p:nvSpPr>
          <p:cNvPr id="12" name="timeline-card-1"/>
          <p:cNvSpPr/>
          <p:nvPr/>
        </p:nvSpPr>
        <p:spPr>
          <a:xfrm>
            <a:off x="4315968" y="2606040"/>
            <a:ext cx="3520440" cy="2240280"/>
          </a:xfrm>
          <a:prstGeom prst="roundRect">
            <a:avLst>
              <a:gd name="adj" fmla="val 4898"/>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3" name="Text 10"/>
          <p:cNvSpPr txBox="1"/>
          <p:nvPr/>
        </p:nvSpPr>
        <p:spPr>
          <a:xfrm>
            <a:off x="4544568" y="2788920"/>
            <a:ext cx="3063240" cy="1920240"/>
          </a:xfrm>
          <a:prstGeom prst="rect">
            <a:avLst/>
          </a:prstGeom>
          <a:noFill/>
          <a:ln/>
        </p:spPr>
        <p:txBody>
          <a:bodyPr wrap="square" lIns="0" tIns="0" rIns="0" bIns="0" rtlCol="0" anchor="t"/>
          <a:lstStyle/>
          <a:p>
            <a:pPr marL="0" indent="0">
              <a:spcAft>
                <a:spcPts val="400"/>
              </a:spcAft>
              <a:buNone/>
            </a:pPr>
            <a:r>
              <a:rPr lang="en-US" sz="1600" b="1" dirty="0">
                <a:solidFill>
                  <a:schemeClr val="tx2"/>
                </a:solidFill>
              </a:rPr>
              <a:t>National Universities Council</a:t>
            </a:r>
            <a:endParaRPr lang="en-US" sz="1600" dirty="0"/>
          </a:p>
          <a:p>
            <a:pPr marL="0" indent="0">
              <a:spcAft>
                <a:spcPts val="400"/>
              </a:spcAft>
              <a:buNone/>
            </a:pPr>
            <a:r>
              <a:rPr lang="en-US" sz="1350" dirty="0">
                <a:solidFill>
                  <a:schemeClr val="tx1"/>
                </a:solidFill>
              </a:rPr>
              <a:t>Priorities: international rankings, global partnerships, international publishing, joint and dual degrees, international students. The Council approves MoUs between national universities and international institutions</a:t>
            </a:r>
            <a:endParaRPr lang="en-US" sz="1600" dirty="0"/>
          </a:p>
        </p:txBody>
      </p:sp>
      <p:sp>
        <p:nvSpPr>
          <p:cNvPr id="14" name="timeline-dot-2"/>
          <p:cNvSpPr/>
          <p:nvPr/>
        </p:nvSpPr>
        <p:spPr>
          <a:xfrm>
            <a:off x="8220456" y="1965960"/>
            <a:ext cx="365760" cy="365760"/>
          </a:xfrm>
          <a:prstGeom prst="ellipse">
            <a:avLst/>
          </a:prstGeom>
          <a:solidFill>
            <a:schemeClr val="accent2"/>
          </a:solidFill>
          <a:ln w="38100">
            <a:solidFill>
              <a:srgbClr val="FFFFFF"/>
            </a:solidFill>
            <a:prstDash val="solid"/>
          </a:ln>
        </p:spPr>
        <p:txBody>
          <a:bodyPr/>
          <a:lstStyle/>
          <a:p>
            <a:endParaRPr lang="en-US"/>
          </a:p>
        </p:txBody>
      </p:sp>
      <p:sp>
        <p:nvSpPr>
          <p:cNvPr id="15" name="Text 12"/>
          <p:cNvSpPr txBox="1"/>
          <p:nvPr/>
        </p:nvSpPr>
        <p:spPr>
          <a:xfrm>
            <a:off x="8083296" y="1463040"/>
            <a:ext cx="3520440" cy="365760"/>
          </a:xfrm>
          <a:prstGeom prst="rect">
            <a:avLst/>
          </a:prstGeom>
          <a:noFill/>
          <a:ln/>
        </p:spPr>
        <p:txBody>
          <a:bodyPr wrap="square" lIns="0" tIns="0" rIns="0" bIns="0" rtlCol="0" anchor="ctr"/>
          <a:lstStyle/>
          <a:p>
            <a:pPr marL="0" indent="0">
              <a:buNone/>
            </a:pPr>
            <a:r>
              <a:rPr lang="en-US" sz="1400" b="1" kern="0" spc="100" dirty="0">
                <a:solidFill>
                  <a:schemeClr val="accent1"/>
                </a:solidFill>
              </a:rPr>
              <a:t>JULY 2026</a:t>
            </a:r>
            <a:endParaRPr lang="en-US" sz="1400" dirty="0"/>
          </a:p>
        </p:txBody>
      </p:sp>
      <p:sp>
        <p:nvSpPr>
          <p:cNvPr id="16" name="timeline-card-2"/>
          <p:cNvSpPr/>
          <p:nvPr/>
        </p:nvSpPr>
        <p:spPr>
          <a:xfrm>
            <a:off x="8083296" y="2606040"/>
            <a:ext cx="3520440" cy="2240280"/>
          </a:xfrm>
          <a:prstGeom prst="roundRect">
            <a:avLst>
              <a:gd name="adj" fmla="val 4898"/>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7" name="Text 14"/>
          <p:cNvSpPr txBox="1"/>
          <p:nvPr/>
        </p:nvSpPr>
        <p:spPr>
          <a:xfrm>
            <a:off x="8311896" y="2788920"/>
            <a:ext cx="3063240" cy="1920240"/>
          </a:xfrm>
          <a:prstGeom prst="rect">
            <a:avLst/>
          </a:prstGeom>
          <a:noFill/>
          <a:ln/>
        </p:spPr>
        <p:txBody>
          <a:bodyPr wrap="square" lIns="0" tIns="0" rIns="0" bIns="0" rtlCol="0" anchor="t"/>
          <a:lstStyle/>
          <a:p>
            <a:pPr marL="0" indent="0">
              <a:spcAft>
                <a:spcPts val="400"/>
              </a:spcAft>
              <a:buNone/>
            </a:pPr>
            <a:r>
              <a:rPr lang="en-US" sz="1600" b="1" dirty="0">
                <a:solidFill>
                  <a:schemeClr val="tx2"/>
                </a:solidFill>
              </a:rPr>
              <a:t>Port Said University Council</a:t>
            </a:r>
            <a:endParaRPr lang="en-US" sz="1600" dirty="0"/>
          </a:p>
          <a:p>
            <a:pPr marL="0" indent="0">
              <a:spcAft>
                <a:spcPts val="400"/>
              </a:spcAft>
              <a:buNone/>
            </a:pPr>
            <a:r>
              <a:rPr lang="en-US" sz="1350" dirty="0">
                <a:solidFill>
                  <a:schemeClr val="tx1"/>
                </a:solidFill>
              </a:rPr>
              <a:t>EPNU's President takes part as the council reviews efforts to expand international partnerships and attract international students</a:t>
            </a:r>
            <a:endParaRPr lang="en-US" sz="1600" dirty="0"/>
          </a:p>
        </p:txBody>
      </p:sp>
      <p:sp>
        <p:nvSpPr>
          <p:cNvPr id="18" name="goal-banner"/>
          <p:cNvSpPr/>
          <p:nvPr/>
        </p:nvSpPr>
        <p:spPr>
          <a:xfrm>
            <a:off x="548640" y="5120640"/>
            <a:ext cx="11094415" cy="1005840"/>
          </a:xfrm>
          <a:prstGeom prst="roundRect">
            <a:avLst>
              <a:gd name="adj" fmla="val 10909"/>
            </a:avLst>
          </a:prstGeom>
          <a:solidFill>
            <a:schemeClr val="tx2"/>
          </a:solidFill>
          <a:ln/>
        </p:spPr>
        <p:txBody>
          <a:bodyPr/>
          <a:lstStyle/>
          <a:p>
            <a:endParaRPr lang="en-US"/>
          </a:p>
        </p:txBody>
      </p:sp>
      <p:sp>
        <p:nvSpPr>
          <p:cNvPr id="19" name="quote-icon-circle"/>
          <p:cNvSpPr/>
          <p:nvPr/>
        </p:nvSpPr>
        <p:spPr>
          <a:xfrm>
            <a:off x="822960" y="5303520"/>
            <a:ext cx="640080" cy="640080"/>
          </a:xfrm>
          <a:prstGeom prst="ellipse">
            <a:avLst/>
          </a:prstGeom>
          <a:solidFill>
            <a:schemeClr val="accent1"/>
          </a:solidFill>
          <a:ln/>
        </p:spPr>
        <p:txBody>
          <a:bodyPr/>
          <a:lstStyle/>
          <a:p>
            <a:endParaRPr lang="en-US"/>
          </a:p>
        </p:txBody>
      </p:sp>
      <p:pic>
        <p:nvPicPr>
          <p:cNvPr id="20" name="quote-icon" descr="preencoded.png"/>
          <p:cNvPicPr>
            <a:picLocks noChangeAspect="1"/>
          </p:cNvPicPr>
          <p:nvPr/>
        </p:nvPicPr>
        <p:blipFill>
          <a:blip r:embed="rId3"/>
          <a:stretch>
            <a:fillRect/>
          </a:stretch>
        </p:blipFill>
        <p:spPr>
          <a:xfrm>
            <a:off x="989381" y="5469941"/>
            <a:ext cx="307238" cy="307238"/>
          </a:xfrm>
          <a:prstGeom prst="rect">
            <a:avLst/>
          </a:prstGeom>
        </p:spPr>
      </p:pic>
      <p:sp>
        <p:nvSpPr>
          <p:cNvPr id="21" name="Text 17"/>
          <p:cNvSpPr txBox="1"/>
          <p:nvPr/>
        </p:nvSpPr>
        <p:spPr>
          <a:xfrm>
            <a:off x="1691640" y="5212080"/>
            <a:ext cx="9722815" cy="822960"/>
          </a:xfrm>
          <a:prstGeom prst="rect">
            <a:avLst/>
          </a:prstGeom>
          <a:noFill/>
          <a:ln/>
        </p:spPr>
        <p:txBody>
          <a:bodyPr wrap="square" lIns="0" tIns="0" rIns="0" bIns="0" rtlCol="0" anchor="ctr"/>
          <a:lstStyle/>
          <a:p>
            <a:pPr marL="0" indent="0">
              <a:buNone/>
            </a:pPr>
            <a:r>
              <a:rPr lang="en-US" sz="1600" b="1" dirty="0">
                <a:solidFill>
                  <a:srgbClr val="00D4FF"/>
                </a:solidFill>
              </a:rPr>
              <a:t>Our partnership goal: </a:t>
            </a:r>
            <a:r>
              <a:rPr lang="en-US" sz="1600" i="1" dirty="0">
                <a:solidFill>
                  <a:srgbClr val="FFFFFF"/>
                </a:solidFill>
              </a:rPr>
              <a:t>"opening pathways for scientific and research exchange with regional and international universities and institutions"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First International Partner: Universiti Putra Malaysia</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A signed partnership agreement that includes a framework for faculty and student exchange</a:t>
            </a:r>
            <a:endParaRPr lang="en-US" sz="1500" dirty="0"/>
          </a:p>
        </p:txBody>
      </p:sp>
      <p:sp>
        <p:nvSpPr>
          <p:cNvPr id="5" name="upm-step-0"/>
          <p:cNvSpPr/>
          <p:nvPr/>
        </p:nvSpPr>
        <p:spPr>
          <a:xfrm>
            <a:off x="548640" y="1600200"/>
            <a:ext cx="2072579" cy="2834640"/>
          </a:xfrm>
          <a:prstGeom prst="roundRect">
            <a:avLst>
              <a:gd name="adj" fmla="val 529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6" name="upm-icon-0-circle"/>
          <p:cNvSpPr/>
          <p:nvPr/>
        </p:nvSpPr>
        <p:spPr>
          <a:xfrm>
            <a:off x="777240" y="1828800"/>
            <a:ext cx="594360" cy="594360"/>
          </a:xfrm>
          <a:prstGeom prst="ellipse">
            <a:avLst/>
          </a:prstGeom>
          <a:solidFill>
            <a:schemeClr val="accent1"/>
          </a:solidFill>
          <a:ln/>
        </p:spPr>
        <p:txBody>
          <a:bodyPr/>
          <a:lstStyle/>
          <a:p>
            <a:endParaRPr lang="en-US"/>
          </a:p>
        </p:txBody>
      </p:sp>
      <p:pic>
        <p:nvPicPr>
          <p:cNvPr id="7" name="upm-icon-0" descr="preencoded.png"/>
          <p:cNvPicPr>
            <a:picLocks noChangeAspect="1"/>
          </p:cNvPicPr>
          <p:nvPr/>
        </p:nvPicPr>
        <p:blipFill>
          <a:blip r:embed="rId3"/>
          <a:stretch>
            <a:fillRect/>
          </a:stretch>
        </p:blipFill>
        <p:spPr>
          <a:xfrm>
            <a:off x="931774" y="1983334"/>
            <a:ext cx="285293" cy="285293"/>
          </a:xfrm>
          <a:prstGeom prst="rect">
            <a:avLst/>
          </a:prstGeom>
        </p:spPr>
      </p:pic>
      <p:sp>
        <p:nvSpPr>
          <p:cNvPr id="8" name="Text 4"/>
          <p:cNvSpPr txBox="1"/>
          <p:nvPr/>
        </p:nvSpPr>
        <p:spPr>
          <a:xfrm>
            <a:off x="1889699" y="1874520"/>
            <a:ext cx="548640" cy="457200"/>
          </a:xfrm>
          <a:prstGeom prst="rect">
            <a:avLst/>
          </a:prstGeom>
          <a:noFill/>
          <a:ln/>
        </p:spPr>
        <p:txBody>
          <a:bodyPr wrap="square" lIns="0" tIns="0" rIns="0" bIns="0" rtlCol="0" anchor="ctr"/>
          <a:lstStyle/>
          <a:p>
            <a:pPr marL="0" indent="0" algn="r">
              <a:buNone/>
            </a:pPr>
            <a:r>
              <a:rPr lang="en-US" sz="1800" b="1" dirty="0">
                <a:solidFill>
                  <a:schemeClr val="accent1"/>
                </a:solidFill>
              </a:rPr>
              <a:t>01</a:t>
            </a:r>
            <a:endParaRPr lang="en-US" sz="1800" dirty="0"/>
          </a:p>
        </p:txBody>
      </p:sp>
      <p:sp>
        <p:nvSpPr>
          <p:cNvPr id="9" name="Text 5"/>
          <p:cNvSpPr txBox="1"/>
          <p:nvPr/>
        </p:nvSpPr>
        <p:spPr>
          <a:xfrm>
            <a:off x="777240" y="2560320"/>
            <a:ext cx="1661099" cy="1783080"/>
          </a:xfrm>
          <a:prstGeom prst="rect">
            <a:avLst/>
          </a:prstGeom>
          <a:noFill/>
          <a:ln/>
        </p:spPr>
        <p:txBody>
          <a:bodyPr wrap="square" lIns="0" tIns="0" rIns="0" bIns="0" rtlCol="0" anchor="t"/>
          <a:lstStyle/>
          <a:p>
            <a:pPr marL="0" indent="0">
              <a:spcAft>
                <a:spcPts val="300"/>
              </a:spcAft>
              <a:buNone/>
            </a:pPr>
            <a:r>
              <a:rPr lang="en-US" sz="1500" b="1" dirty="0">
                <a:solidFill>
                  <a:schemeClr val="tx2"/>
                </a:solidFill>
              </a:rPr>
              <a:t>Agreement signed</a:t>
            </a:r>
            <a:endParaRPr lang="en-US" sz="1500" dirty="0"/>
          </a:p>
          <a:p>
            <a:pPr marL="0" indent="0">
              <a:spcAft>
                <a:spcPts val="300"/>
              </a:spcAft>
              <a:buNone/>
            </a:pPr>
            <a:r>
              <a:rPr lang="en-US" sz="1250" dirty="0">
                <a:solidFill>
                  <a:schemeClr val="tx1"/>
                </a:solidFill>
              </a:rPr>
              <a:t>Partnership with UPM, including faculty and student exchange programs</a:t>
            </a:r>
            <a:endParaRPr lang="en-US" sz="1500" dirty="0"/>
          </a:p>
        </p:txBody>
      </p:sp>
      <p:sp>
        <p:nvSpPr>
          <p:cNvPr id="10" name="upm-step-1"/>
          <p:cNvSpPr/>
          <p:nvPr/>
        </p:nvSpPr>
        <p:spPr>
          <a:xfrm>
            <a:off x="2804099" y="1600200"/>
            <a:ext cx="2072579" cy="2834640"/>
          </a:xfrm>
          <a:prstGeom prst="roundRect">
            <a:avLst>
              <a:gd name="adj" fmla="val 529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1" name="upm-icon-1-circle"/>
          <p:cNvSpPr/>
          <p:nvPr/>
        </p:nvSpPr>
        <p:spPr>
          <a:xfrm>
            <a:off x="3032699" y="1828800"/>
            <a:ext cx="594360" cy="594360"/>
          </a:xfrm>
          <a:prstGeom prst="ellipse">
            <a:avLst/>
          </a:prstGeom>
          <a:solidFill>
            <a:schemeClr val="accent1"/>
          </a:solidFill>
          <a:ln/>
        </p:spPr>
        <p:txBody>
          <a:bodyPr/>
          <a:lstStyle/>
          <a:p>
            <a:endParaRPr lang="en-US"/>
          </a:p>
        </p:txBody>
      </p:sp>
      <p:pic>
        <p:nvPicPr>
          <p:cNvPr id="12" name="upm-icon-1" descr="preencoded.png"/>
          <p:cNvPicPr>
            <a:picLocks noChangeAspect="1"/>
          </p:cNvPicPr>
          <p:nvPr/>
        </p:nvPicPr>
        <p:blipFill>
          <a:blip r:embed="rId4"/>
          <a:stretch>
            <a:fillRect/>
          </a:stretch>
        </p:blipFill>
        <p:spPr>
          <a:xfrm>
            <a:off x="3187233" y="1983334"/>
            <a:ext cx="285293" cy="285293"/>
          </a:xfrm>
          <a:prstGeom prst="rect">
            <a:avLst/>
          </a:prstGeom>
        </p:spPr>
      </p:pic>
      <p:sp>
        <p:nvSpPr>
          <p:cNvPr id="13" name="Text 8"/>
          <p:cNvSpPr txBox="1"/>
          <p:nvPr/>
        </p:nvSpPr>
        <p:spPr>
          <a:xfrm>
            <a:off x="4145158" y="1874520"/>
            <a:ext cx="548640" cy="457200"/>
          </a:xfrm>
          <a:prstGeom prst="rect">
            <a:avLst/>
          </a:prstGeom>
          <a:noFill/>
          <a:ln/>
        </p:spPr>
        <p:txBody>
          <a:bodyPr wrap="square" lIns="0" tIns="0" rIns="0" bIns="0" rtlCol="0" anchor="ctr"/>
          <a:lstStyle/>
          <a:p>
            <a:pPr marL="0" indent="0" algn="r">
              <a:buNone/>
            </a:pPr>
            <a:r>
              <a:rPr lang="en-US" sz="1800" b="1" dirty="0">
                <a:solidFill>
                  <a:schemeClr val="accent1"/>
                </a:solidFill>
              </a:rPr>
              <a:t>02</a:t>
            </a:r>
            <a:endParaRPr lang="en-US" sz="1800" dirty="0"/>
          </a:p>
        </p:txBody>
      </p:sp>
      <p:sp>
        <p:nvSpPr>
          <p:cNvPr id="14" name="Text 9"/>
          <p:cNvSpPr txBox="1"/>
          <p:nvPr/>
        </p:nvSpPr>
        <p:spPr>
          <a:xfrm>
            <a:off x="3032699" y="2560320"/>
            <a:ext cx="1661099" cy="1783080"/>
          </a:xfrm>
          <a:prstGeom prst="rect">
            <a:avLst/>
          </a:prstGeom>
          <a:noFill/>
          <a:ln/>
        </p:spPr>
        <p:txBody>
          <a:bodyPr wrap="square" lIns="0" tIns="0" rIns="0" bIns="0" rtlCol="0" anchor="t"/>
          <a:lstStyle/>
          <a:p>
            <a:pPr marL="0" indent="0">
              <a:spcAft>
                <a:spcPts val="300"/>
              </a:spcAft>
              <a:buNone/>
            </a:pPr>
            <a:r>
              <a:rPr lang="en-US" sz="1500" b="1" dirty="0">
                <a:solidFill>
                  <a:schemeClr val="tx2"/>
                </a:solidFill>
              </a:rPr>
              <a:t>International webinar</a:t>
            </a:r>
            <a:endParaRPr lang="en-US" sz="1500" dirty="0"/>
          </a:p>
          <a:p>
            <a:pPr marL="0" indent="0">
              <a:spcAft>
                <a:spcPts val="300"/>
              </a:spcAft>
              <a:buNone/>
            </a:pPr>
            <a:r>
              <a:rPr lang="en-US" sz="1250" dirty="0">
                <a:solidFill>
                  <a:schemeClr val="tx1"/>
                </a:solidFill>
              </a:rPr>
              <a:t>"Global Horizons: Cross-Border Innovations in Science and Management", hosted by UPM-Sarawak</a:t>
            </a:r>
            <a:endParaRPr lang="en-US" sz="1500" dirty="0"/>
          </a:p>
        </p:txBody>
      </p:sp>
      <p:sp>
        <p:nvSpPr>
          <p:cNvPr id="15" name="upm-step-2"/>
          <p:cNvSpPr/>
          <p:nvPr/>
        </p:nvSpPr>
        <p:spPr>
          <a:xfrm>
            <a:off x="5059558" y="1600200"/>
            <a:ext cx="2072579" cy="2834640"/>
          </a:xfrm>
          <a:prstGeom prst="roundRect">
            <a:avLst>
              <a:gd name="adj" fmla="val 529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6" name="upm-icon-2-circle"/>
          <p:cNvSpPr/>
          <p:nvPr/>
        </p:nvSpPr>
        <p:spPr>
          <a:xfrm>
            <a:off x="5288158" y="1828800"/>
            <a:ext cx="594360" cy="594360"/>
          </a:xfrm>
          <a:prstGeom prst="ellipse">
            <a:avLst/>
          </a:prstGeom>
          <a:solidFill>
            <a:schemeClr val="accent1"/>
          </a:solidFill>
          <a:ln/>
        </p:spPr>
        <p:txBody>
          <a:bodyPr/>
          <a:lstStyle/>
          <a:p>
            <a:endParaRPr lang="en-US"/>
          </a:p>
        </p:txBody>
      </p:sp>
      <p:pic>
        <p:nvPicPr>
          <p:cNvPr id="17" name="upm-icon-2" descr="preencoded.png"/>
          <p:cNvPicPr>
            <a:picLocks noChangeAspect="1"/>
          </p:cNvPicPr>
          <p:nvPr/>
        </p:nvPicPr>
        <p:blipFill>
          <a:blip r:embed="rId5"/>
          <a:stretch>
            <a:fillRect/>
          </a:stretch>
        </p:blipFill>
        <p:spPr>
          <a:xfrm>
            <a:off x="5442692" y="1983334"/>
            <a:ext cx="285293" cy="285293"/>
          </a:xfrm>
          <a:prstGeom prst="rect">
            <a:avLst/>
          </a:prstGeom>
        </p:spPr>
      </p:pic>
      <p:sp>
        <p:nvSpPr>
          <p:cNvPr id="18" name="Text 12"/>
          <p:cNvSpPr txBox="1"/>
          <p:nvPr/>
        </p:nvSpPr>
        <p:spPr>
          <a:xfrm>
            <a:off x="6400617" y="1874520"/>
            <a:ext cx="548640" cy="457200"/>
          </a:xfrm>
          <a:prstGeom prst="rect">
            <a:avLst/>
          </a:prstGeom>
          <a:noFill/>
          <a:ln/>
        </p:spPr>
        <p:txBody>
          <a:bodyPr wrap="square" lIns="0" tIns="0" rIns="0" bIns="0" rtlCol="0" anchor="ctr"/>
          <a:lstStyle/>
          <a:p>
            <a:pPr marL="0" indent="0" algn="r">
              <a:buNone/>
            </a:pPr>
            <a:r>
              <a:rPr lang="en-US" sz="1800" b="1" dirty="0">
                <a:solidFill>
                  <a:schemeClr val="accent1"/>
                </a:solidFill>
              </a:rPr>
              <a:t>03</a:t>
            </a:r>
            <a:endParaRPr lang="en-US" sz="1800" dirty="0"/>
          </a:p>
        </p:txBody>
      </p:sp>
      <p:sp>
        <p:nvSpPr>
          <p:cNvPr id="19" name="Text 13"/>
          <p:cNvSpPr txBox="1"/>
          <p:nvPr/>
        </p:nvSpPr>
        <p:spPr>
          <a:xfrm>
            <a:off x="5288158" y="2560320"/>
            <a:ext cx="1661099" cy="1783080"/>
          </a:xfrm>
          <a:prstGeom prst="rect">
            <a:avLst/>
          </a:prstGeom>
          <a:noFill/>
          <a:ln/>
        </p:spPr>
        <p:txBody>
          <a:bodyPr wrap="square" lIns="0" tIns="0" rIns="0" bIns="0" rtlCol="0" anchor="t"/>
          <a:lstStyle/>
          <a:p>
            <a:pPr marL="0" indent="0">
              <a:spcAft>
                <a:spcPts val="300"/>
              </a:spcAft>
              <a:buNone/>
            </a:pPr>
            <a:r>
              <a:rPr lang="en-US" sz="1500" b="1" dirty="0">
                <a:solidFill>
                  <a:schemeClr val="tx2"/>
                </a:solidFill>
              </a:rPr>
              <a:t>Joint research meeting</a:t>
            </a:r>
            <a:endParaRPr lang="en-US" sz="1500" dirty="0"/>
          </a:p>
          <a:p>
            <a:pPr marL="0" indent="0">
              <a:spcAft>
                <a:spcPts val="300"/>
              </a:spcAft>
              <a:buNone/>
            </a:pPr>
            <a:r>
              <a:rPr lang="en-US" sz="1250" dirty="0">
                <a:solidFill>
                  <a:schemeClr val="tx1"/>
                </a:solidFill>
              </a:rPr>
              <a:t>First joint virtual scientific meeting: EPNU staff and students present research</a:t>
            </a:r>
            <a:endParaRPr lang="en-US" sz="1500" dirty="0"/>
          </a:p>
        </p:txBody>
      </p:sp>
      <p:sp>
        <p:nvSpPr>
          <p:cNvPr id="20" name="upm-step-3"/>
          <p:cNvSpPr/>
          <p:nvPr/>
        </p:nvSpPr>
        <p:spPr>
          <a:xfrm>
            <a:off x="7315017" y="1600200"/>
            <a:ext cx="2072579" cy="2834640"/>
          </a:xfrm>
          <a:prstGeom prst="roundRect">
            <a:avLst>
              <a:gd name="adj" fmla="val 5294"/>
            </a:avLst>
          </a:prstGeom>
          <a:solidFill>
            <a:schemeClr val="accent4"/>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1" name="upm-icon-3-circle"/>
          <p:cNvSpPr/>
          <p:nvPr/>
        </p:nvSpPr>
        <p:spPr>
          <a:xfrm>
            <a:off x="7543617" y="1828800"/>
            <a:ext cx="594360" cy="594360"/>
          </a:xfrm>
          <a:prstGeom prst="ellipse">
            <a:avLst/>
          </a:prstGeom>
          <a:solidFill>
            <a:schemeClr val="accent3"/>
          </a:solidFill>
          <a:ln/>
        </p:spPr>
        <p:txBody>
          <a:bodyPr/>
          <a:lstStyle/>
          <a:p>
            <a:endParaRPr lang="en-US"/>
          </a:p>
        </p:txBody>
      </p:sp>
      <p:pic>
        <p:nvPicPr>
          <p:cNvPr id="22" name="upm-icon-3" descr="preencoded.png"/>
          <p:cNvPicPr>
            <a:picLocks noChangeAspect="1"/>
          </p:cNvPicPr>
          <p:nvPr/>
        </p:nvPicPr>
        <p:blipFill>
          <a:blip r:embed="rId6"/>
          <a:stretch>
            <a:fillRect/>
          </a:stretch>
        </p:blipFill>
        <p:spPr>
          <a:xfrm>
            <a:off x="7698151" y="1983334"/>
            <a:ext cx="285293" cy="285293"/>
          </a:xfrm>
          <a:prstGeom prst="rect">
            <a:avLst/>
          </a:prstGeom>
        </p:spPr>
      </p:pic>
      <p:sp>
        <p:nvSpPr>
          <p:cNvPr id="23" name="Text 16"/>
          <p:cNvSpPr txBox="1"/>
          <p:nvPr/>
        </p:nvSpPr>
        <p:spPr>
          <a:xfrm>
            <a:off x="8656076" y="1874520"/>
            <a:ext cx="548640" cy="457200"/>
          </a:xfrm>
          <a:prstGeom prst="rect">
            <a:avLst/>
          </a:prstGeom>
          <a:noFill/>
          <a:ln/>
        </p:spPr>
        <p:txBody>
          <a:bodyPr wrap="square" lIns="0" tIns="0" rIns="0" bIns="0" rtlCol="0" anchor="ctr"/>
          <a:lstStyle/>
          <a:p>
            <a:pPr marL="0" indent="0" algn="r">
              <a:buNone/>
            </a:pPr>
            <a:r>
              <a:rPr lang="en-US" sz="1800" b="1" dirty="0">
                <a:solidFill>
                  <a:schemeClr val="accent5"/>
                </a:solidFill>
              </a:rPr>
              <a:t>04</a:t>
            </a:r>
            <a:endParaRPr lang="en-US" sz="1800" dirty="0"/>
          </a:p>
        </p:txBody>
      </p:sp>
      <p:sp>
        <p:nvSpPr>
          <p:cNvPr id="24" name="Text 17"/>
          <p:cNvSpPr txBox="1"/>
          <p:nvPr/>
        </p:nvSpPr>
        <p:spPr>
          <a:xfrm>
            <a:off x="7543617" y="2560320"/>
            <a:ext cx="1661099" cy="1783080"/>
          </a:xfrm>
          <a:prstGeom prst="rect">
            <a:avLst/>
          </a:prstGeom>
          <a:noFill/>
          <a:ln/>
        </p:spPr>
        <p:txBody>
          <a:bodyPr wrap="square" lIns="0" tIns="0" rIns="0" bIns="0" rtlCol="0" anchor="t"/>
          <a:lstStyle/>
          <a:p>
            <a:pPr marL="0" indent="0">
              <a:spcAft>
                <a:spcPts val="300"/>
              </a:spcAft>
              <a:buNone/>
            </a:pPr>
            <a:r>
              <a:rPr lang="en-US" sz="1500" b="1" dirty="0">
                <a:solidFill>
                  <a:schemeClr val="tx2"/>
                </a:solidFill>
              </a:rPr>
              <a:t>2nd edition announced</a:t>
            </a:r>
            <a:endParaRPr lang="en-US" sz="1500" dirty="0"/>
          </a:p>
          <a:p>
            <a:pPr marL="0" indent="0">
              <a:spcAft>
                <a:spcPts val="300"/>
              </a:spcAft>
              <a:buNone/>
            </a:pPr>
            <a:r>
              <a:rPr lang="en-US" sz="1250" dirty="0">
                <a:solidFill>
                  <a:schemeClr val="tx1"/>
                </a:solidFill>
              </a:rPr>
              <a:t>EPNU announced it would host the next edition of the webinar</a:t>
            </a:r>
            <a:endParaRPr lang="en-US" sz="1500" dirty="0"/>
          </a:p>
        </p:txBody>
      </p:sp>
      <p:sp>
        <p:nvSpPr>
          <p:cNvPr id="25" name="upm-step-4"/>
          <p:cNvSpPr/>
          <p:nvPr/>
        </p:nvSpPr>
        <p:spPr>
          <a:xfrm>
            <a:off x="9570476" y="1600200"/>
            <a:ext cx="2072579" cy="2834640"/>
          </a:xfrm>
          <a:prstGeom prst="roundRect">
            <a:avLst>
              <a:gd name="adj" fmla="val 5294"/>
            </a:avLst>
          </a:prstGeom>
          <a:solidFill>
            <a:schemeClr val="accent4"/>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6" name="upm-icon-4-circle"/>
          <p:cNvSpPr/>
          <p:nvPr/>
        </p:nvSpPr>
        <p:spPr>
          <a:xfrm>
            <a:off x="9799076" y="1828800"/>
            <a:ext cx="594360" cy="594360"/>
          </a:xfrm>
          <a:prstGeom prst="ellipse">
            <a:avLst/>
          </a:prstGeom>
          <a:solidFill>
            <a:schemeClr val="accent3"/>
          </a:solidFill>
          <a:ln/>
        </p:spPr>
        <p:txBody>
          <a:bodyPr/>
          <a:lstStyle/>
          <a:p>
            <a:endParaRPr lang="en-US"/>
          </a:p>
        </p:txBody>
      </p:sp>
      <p:pic>
        <p:nvPicPr>
          <p:cNvPr id="27" name="upm-icon-4" descr="preencoded.png"/>
          <p:cNvPicPr>
            <a:picLocks noChangeAspect="1"/>
          </p:cNvPicPr>
          <p:nvPr/>
        </p:nvPicPr>
        <p:blipFill>
          <a:blip r:embed="rId7"/>
          <a:stretch>
            <a:fillRect/>
          </a:stretch>
        </p:blipFill>
        <p:spPr>
          <a:xfrm>
            <a:off x="9953610" y="1983334"/>
            <a:ext cx="285293" cy="285293"/>
          </a:xfrm>
          <a:prstGeom prst="rect">
            <a:avLst/>
          </a:prstGeom>
        </p:spPr>
      </p:pic>
      <p:sp>
        <p:nvSpPr>
          <p:cNvPr id="28" name="Text 20"/>
          <p:cNvSpPr txBox="1"/>
          <p:nvPr/>
        </p:nvSpPr>
        <p:spPr>
          <a:xfrm>
            <a:off x="10911535" y="1874520"/>
            <a:ext cx="548640" cy="457200"/>
          </a:xfrm>
          <a:prstGeom prst="rect">
            <a:avLst/>
          </a:prstGeom>
          <a:noFill/>
          <a:ln/>
        </p:spPr>
        <p:txBody>
          <a:bodyPr wrap="square" lIns="0" tIns="0" rIns="0" bIns="0" rtlCol="0" anchor="ctr"/>
          <a:lstStyle/>
          <a:p>
            <a:pPr marL="0" indent="0" algn="r">
              <a:buNone/>
            </a:pPr>
            <a:r>
              <a:rPr lang="en-US" sz="1800" b="1" dirty="0">
                <a:solidFill>
                  <a:schemeClr val="accent5"/>
                </a:solidFill>
              </a:rPr>
              <a:t>05</a:t>
            </a:r>
            <a:endParaRPr lang="en-US" sz="1800" dirty="0"/>
          </a:p>
        </p:txBody>
      </p:sp>
      <p:sp>
        <p:nvSpPr>
          <p:cNvPr id="29" name="Text 21"/>
          <p:cNvSpPr txBox="1"/>
          <p:nvPr/>
        </p:nvSpPr>
        <p:spPr>
          <a:xfrm>
            <a:off x="9799076" y="2560320"/>
            <a:ext cx="1661099" cy="1783080"/>
          </a:xfrm>
          <a:prstGeom prst="rect">
            <a:avLst/>
          </a:prstGeom>
          <a:noFill/>
          <a:ln/>
        </p:spPr>
        <p:txBody>
          <a:bodyPr wrap="square" lIns="0" tIns="0" rIns="0" bIns="0" rtlCol="0" anchor="t"/>
          <a:lstStyle/>
          <a:p>
            <a:pPr marL="0" indent="0">
              <a:spcAft>
                <a:spcPts val="300"/>
              </a:spcAft>
              <a:buNone/>
            </a:pPr>
            <a:r>
              <a:rPr lang="en-US" sz="1500" b="1" dirty="0">
                <a:solidFill>
                  <a:schemeClr val="tx2"/>
                </a:solidFill>
              </a:rPr>
              <a:t>Next: exchange</a:t>
            </a:r>
            <a:endParaRPr lang="en-US" sz="1500" dirty="0"/>
          </a:p>
          <a:p>
            <a:pPr marL="0" indent="0">
              <a:spcAft>
                <a:spcPts val="300"/>
              </a:spcAft>
              <a:buNone/>
            </a:pPr>
            <a:r>
              <a:rPr lang="en-US" sz="1250" dirty="0">
                <a:solidFill>
                  <a:schemeClr val="tx1"/>
                </a:solidFill>
              </a:rPr>
              <a:t>Activating faculty and student mobility under the agreement</a:t>
            </a:r>
            <a:endParaRPr lang="en-US" sz="1500" dirty="0"/>
          </a:p>
        </p:txBody>
      </p:sp>
      <p:sp>
        <p:nvSpPr>
          <p:cNvPr id="30" name="upm-callout"/>
          <p:cNvSpPr/>
          <p:nvPr/>
        </p:nvSpPr>
        <p:spPr>
          <a:xfrm>
            <a:off x="548640" y="4663440"/>
            <a:ext cx="11094415" cy="1463040"/>
          </a:xfrm>
          <a:prstGeom prst="roundRect">
            <a:avLst>
              <a:gd name="adj" fmla="val 7500"/>
            </a:avLst>
          </a:prstGeom>
          <a:solidFill>
            <a:schemeClr val="tx2"/>
          </a:solidFill>
          <a:ln/>
        </p:spPr>
        <p:txBody>
          <a:bodyPr/>
          <a:lstStyle/>
          <a:p>
            <a:endParaRPr lang="en-US"/>
          </a:p>
        </p:txBody>
      </p:sp>
      <p:sp>
        <p:nvSpPr>
          <p:cNvPr id="31" name="press-icon-circle"/>
          <p:cNvSpPr/>
          <p:nvPr/>
        </p:nvSpPr>
        <p:spPr>
          <a:xfrm>
            <a:off x="868680" y="5029200"/>
            <a:ext cx="731520" cy="731520"/>
          </a:xfrm>
          <a:prstGeom prst="ellipse">
            <a:avLst/>
          </a:prstGeom>
          <a:solidFill>
            <a:schemeClr val="accent1"/>
          </a:solidFill>
          <a:ln/>
        </p:spPr>
        <p:txBody>
          <a:bodyPr/>
          <a:lstStyle/>
          <a:p>
            <a:endParaRPr lang="en-US"/>
          </a:p>
        </p:txBody>
      </p:sp>
      <p:pic>
        <p:nvPicPr>
          <p:cNvPr id="32" name="press-icon" descr="preencoded.png"/>
          <p:cNvPicPr>
            <a:picLocks noChangeAspect="1"/>
          </p:cNvPicPr>
          <p:nvPr/>
        </p:nvPicPr>
        <p:blipFill>
          <a:blip r:embed="rId8"/>
          <a:stretch>
            <a:fillRect/>
          </a:stretch>
        </p:blipFill>
        <p:spPr>
          <a:xfrm>
            <a:off x="1058875" y="5219395"/>
            <a:ext cx="351130" cy="351130"/>
          </a:xfrm>
          <a:prstGeom prst="rect">
            <a:avLst/>
          </a:prstGeom>
        </p:spPr>
      </p:pic>
      <p:sp>
        <p:nvSpPr>
          <p:cNvPr id="33" name="Text 24"/>
          <p:cNvSpPr txBox="1"/>
          <p:nvPr/>
        </p:nvSpPr>
        <p:spPr>
          <a:xfrm>
            <a:off x="1874520" y="4754880"/>
            <a:ext cx="9448495" cy="1280160"/>
          </a:xfrm>
          <a:prstGeom prst="rect">
            <a:avLst/>
          </a:prstGeom>
          <a:noFill/>
          <a:ln/>
        </p:spPr>
        <p:txBody>
          <a:bodyPr wrap="square" lIns="0" tIns="0" rIns="0" bIns="0" rtlCol="0" anchor="ctr"/>
          <a:lstStyle/>
          <a:p>
            <a:pPr marL="0" indent="0">
              <a:buNone/>
            </a:pPr>
            <a:r>
              <a:rPr lang="en-US" sz="1800" b="1" dirty="0">
                <a:solidFill>
                  <a:srgbClr val="00D4FF"/>
                </a:solidFill>
              </a:rPr>
              <a:t>Recognized abroad</a:t>
            </a:r>
            <a:endParaRPr lang="en-US" sz="1800" dirty="0"/>
          </a:p>
          <a:p>
            <a:pPr marL="0" indent="0">
              <a:buNone/>
            </a:pPr>
            <a:r>
              <a:rPr lang="en-US" sz="1400" dirty="0">
                <a:solidFill>
                  <a:srgbClr val="FFFFFF"/>
                </a:solidFill>
              </a:rPr>
              <a:t>EPNU pharmacy students' engagement in the UPM webinar was praised by Malaysian press outlets. The partnership is led by the Clinical Pharmacy program.</a:t>
            </a:r>
            <a:endParaRPr lang="en-US" sz="1800" dirty="0"/>
          </a:p>
        </p:txBody>
      </p:sp>
      <p:sp>
        <p:nvSpPr>
          <p:cNvPr id="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A Growing Global Network</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International links through partners, forums, initiatives and internationally trained faculty</a:t>
            </a:r>
            <a:endParaRPr lang="en-US" sz="1500" dirty="0"/>
          </a:p>
        </p:txBody>
      </p:sp>
      <p:sp>
        <p:nvSpPr>
          <p:cNvPr id="5" name="spoke-0"/>
          <p:cNvSpPr/>
          <p:nvPr/>
        </p:nvSpPr>
        <p:spPr>
          <a:xfrm>
            <a:off x="4084168" y="2377440"/>
            <a:ext cx="2011680" cy="1508760"/>
          </a:xfrm>
          <a:prstGeom prst="line">
            <a:avLst/>
          </a:prstGeom>
          <a:noFill/>
          <a:ln w="25400">
            <a:solidFill>
              <a:srgbClr val="D6E4F5"/>
            </a:solidFill>
            <a:prstDash val="solid"/>
          </a:ln>
        </p:spPr>
        <p:txBody>
          <a:bodyPr/>
          <a:lstStyle/>
          <a:p>
            <a:endParaRPr lang="en-US"/>
          </a:p>
        </p:txBody>
      </p:sp>
      <p:sp>
        <p:nvSpPr>
          <p:cNvPr id="6" name="node-0"/>
          <p:cNvSpPr/>
          <p:nvPr/>
        </p:nvSpPr>
        <p:spPr>
          <a:xfrm>
            <a:off x="883768" y="1851660"/>
            <a:ext cx="3200400" cy="1051560"/>
          </a:xfrm>
          <a:prstGeom prst="roundRect">
            <a:avLst>
              <a:gd name="adj" fmla="val 10435"/>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7" name="Text 4"/>
          <p:cNvSpPr txBox="1"/>
          <p:nvPr/>
        </p:nvSpPr>
        <p:spPr>
          <a:xfrm>
            <a:off x="1066648" y="1943100"/>
            <a:ext cx="2834640" cy="868680"/>
          </a:xfrm>
          <a:prstGeom prst="rect">
            <a:avLst/>
          </a:prstGeom>
          <a:noFill/>
          <a:ln/>
        </p:spPr>
        <p:txBody>
          <a:bodyPr wrap="square" lIns="0" tIns="0" rIns="0" bIns="0" rtlCol="0" anchor="ctr"/>
          <a:lstStyle/>
          <a:p>
            <a:pPr marL="0" indent="0">
              <a:buNone/>
            </a:pPr>
            <a:r>
              <a:rPr lang="en-US" sz="1500" b="1" dirty="0">
                <a:solidFill>
                  <a:schemeClr val="accent1"/>
                </a:solidFill>
              </a:rPr>
              <a:t>Malaysia</a:t>
            </a:r>
            <a:endParaRPr lang="en-US" sz="1500" dirty="0"/>
          </a:p>
          <a:p>
            <a:pPr marL="0" indent="0">
              <a:buNone/>
            </a:pPr>
            <a:r>
              <a:rPr lang="en-US" sz="1200" dirty="0">
                <a:solidFill>
                  <a:schemeClr val="tx1"/>
                </a:solidFill>
              </a:rPr>
              <a:t>Universiti Putra Malaysia: signed partnership agreement</a:t>
            </a:r>
            <a:endParaRPr lang="en-US" sz="1500" dirty="0"/>
          </a:p>
        </p:txBody>
      </p:sp>
      <p:sp>
        <p:nvSpPr>
          <p:cNvPr id="8" name="spoke-1"/>
          <p:cNvSpPr/>
          <p:nvPr/>
        </p:nvSpPr>
        <p:spPr>
          <a:xfrm flipH="1">
            <a:off x="3809848" y="3886200"/>
            <a:ext cx="2286000" cy="137160"/>
          </a:xfrm>
          <a:prstGeom prst="line">
            <a:avLst/>
          </a:prstGeom>
          <a:noFill/>
          <a:ln w="25400">
            <a:solidFill>
              <a:srgbClr val="D6E4F5"/>
            </a:solidFill>
            <a:prstDash val="solid"/>
          </a:ln>
        </p:spPr>
        <p:txBody>
          <a:bodyPr/>
          <a:lstStyle/>
          <a:p>
            <a:endParaRPr lang="en-US"/>
          </a:p>
        </p:txBody>
      </p:sp>
      <p:sp>
        <p:nvSpPr>
          <p:cNvPr id="9" name="node-1"/>
          <p:cNvSpPr/>
          <p:nvPr/>
        </p:nvSpPr>
        <p:spPr>
          <a:xfrm>
            <a:off x="609448" y="3497580"/>
            <a:ext cx="3200400" cy="1051560"/>
          </a:xfrm>
          <a:prstGeom prst="roundRect">
            <a:avLst>
              <a:gd name="adj" fmla="val 10435"/>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0" name="Text 7"/>
          <p:cNvSpPr txBox="1"/>
          <p:nvPr/>
        </p:nvSpPr>
        <p:spPr>
          <a:xfrm>
            <a:off x="792328" y="3589020"/>
            <a:ext cx="2834640" cy="868680"/>
          </a:xfrm>
          <a:prstGeom prst="rect">
            <a:avLst/>
          </a:prstGeom>
          <a:noFill/>
          <a:ln/>
        </p:spPr>
        <p:txBody>
          <a:bodyPr wrap="square" lIns="0" tIns="0" rIns="0" bIns="0" rtlCol="0" anchor="ctr"/>
          <a:lstStyle/>
          <a:p>
            <a:pPr marL="0" indent="0">
              <a:buNone/>
            </a:pPr>
            <a:r>
              <a:rPr lang="en-US" sz="1500" b="1" dirty="0">
                <a:solidFill>
                  <a:schemeClr val="accent1"/>
                </a:solidFill>
              </a:rPr>
              <a:t>Japan</a:t>
            </a:r>
            <a:endParaRPr lang="en-US" sz="1500" dirty="0"/>
          </a:p>
          <a:p>
            <a:pPr marL="0" indent="0">
              <a:buNone/>
            </a:pPr>
            <a:r>
              <a:rPr lang="en-US" sz="1200" dirty="0">
                <a:solidFill>
                  <a:schemeClr val="tx1"/>
                </a:solidFill>
              </a:rPr>
              <a:t>Egyptian-Japanese Education Initiative 2025</a:t>
            </a:r>
            <a:endParaRPr lang="en-US" sz="1500" dirty="0"/>
          </a:p>
        </p:txBody>
      </p:sp>
      <p:sp>
        <p:nvSpPr>
          <p:cNvPr id="11" name="spoke-2"/>
          <p:cNvSpPr/>
          <p:nvPr/>
        </p:nvSpPr>
        <p:spPr>
          <a:xfrm flipH="1">
            <a:off x="4084168" y="3886200"/>
            <a:ext cx="2011680" cy="1783080"/>
          </a:xfrm>
          <a:prstGeom prst="line">
            <a:avLst/>
          </a:prstGeom>
          <a:noFill/>
          <a:ln w="25400">
            <a:solidFill>
              <a:srgbClr val="D6E4F5"/>
            </a:solidFill>
            <a:prstDash val="solid"/>
          </a:ln>
        </p:spPr>
        <p:txBody>
          <a:bodyPr/>
          <a:lstStyle/>
          <a:p>
            <a:endParaRPr lang="en-US"/>
          </a:p>
        </p:txBody>
      </p:sp>
      <p:sp>
        <p:nvSpPr>
          <p:cNvPr id="12" name="node-2"/>
          <p:cNvSpPr/>
          <p:nvPr/>
        </p:nvSpPr>
        <p:spPr>
          <a:xfrm>
            <a:off x="883768" y="5143500"/>
            <a:ext cx="3200400" cy="1051560"/>
          </a:xfrm>
          <a:prstGeom prst="roundRect">
            <a:avLst>
              <a:gd name="adj" fmla="val 10435"/>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3" name="Text 10"/>
          <p:cNvSpPr txBox="1"/>
          <p:nvPr/>
        </p:nvSpPr>
        <p:spPr>
          <a:xfrm>
            <a:off x="1066648" y="5234940"/>
            <a:ext cx="2834640" cy="868680"/>
          </a:xfrm>
          <a:prstGeom prst="rect">
            <a:avLst/>
          </a:prstGeom>
          <a:noFill/>
          <a:ln/>
        </p:spPr>
        <p:txBody>
          <a:bodyPr wrap="square" lIns="0" tIns="0" rIns="0" bIns="0" rtlCol="0" anchor="ctr"/>
          <a:lstStyle/>
          <a:p>
            <a:pPr marL="0" indent="0">
              <a:buNone/>
            </a:pPr>
            <a:r>
              <a:rPr lang="en-US" sz="1500" b="1" dirty="0">
                <a:solidFill>
                  <a:schemeClr val="accent1"/>
                </a:solidFill>
              </a:rPr>
              <a:t>European Union</a:t>
            </a:r>
            <a:endParaRPr lang="en-US" sz="1500" dirty="0"/>
          </a:p>
          <a:p>
            <a:pPr marL="0" indent="0">
              <a:buNone/>
            </a:pPr>
            <a:r>
              <a:rPr lang="en-US" sz="1200" dirty="0">
                <a:solidFill>
                  <a:schemeClr val="tx1"/>
                </a:solidFill>
              </a:rPr>
              <a:t>Community invited to the Euro-Egyptian Innovation Partnership (Horizon Europe)</a:t>
            </a:r>
            <a:endParaRPr lang="en-US" sz="1500" dirty="0"/>
          </a:p>
        </p:txBody>
      </p:sp>
      <p:sp>
        <p:nvSpPr>
          <p:cNvPr id="14" name="spoke-3"/>
          <p:cNvSpPr/>
          <p:nvPr/>
        </p:nvSpPr>
        <p:spPr>
          <a:xfrm flipH="1">
            <a:off x="6095848" y="2377440"/>
            <a:ext cx="2011680" cy="1508760"/>
          </a:xfrm>
          <a:prstGeom prst="line">
            <a:avLst/>
          </a:prstGeom>
          <a:noFill/>
          <a:ln w="25400">
            <a:solidFill>
              <a:srgbClr val="D6E4F5"/>
            </a:solidFill>
            <a:prstDash val="solid"/>
          </a:ln>
        </p:spPr>
        <p:txBody>
          <a:bodyPr/>
          <a:lstStyle/>
          <a:p>
            <a:endParaRPr lang="en-US"/>
          </a:p>
        </p:txBody>
      </p:sp>
      <p:sp>
        <p:nvSpPr>
          <p:cNvPr id="15" name="node-3"/>
          <p:cNvSpPr/>
          <p:nvPr/>
        </p:nvSpPr>
        <p:spPr>
          <a:xfrm>
            <a:off x="8107528" y="1851660"/>
            <a:ext cx="3200400" cy="1051560"/>
          </a:xfrm>
          <a:prstGeom prst="roundRect">
            <a:avLst>
              <a:gd name="adj" fmla="val 10435"/>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6" name="Text 13"/>
          <p:cNvSpPr txBox="1"/>
          <p:nvPr/>
        </p:nvSpPr>
        <p:spPr>
          <a:xfrm>
            <a:off x="8290408" y="1943100"/>
            <a:ext cx="2834640" cy="868680"/>
          </a:xfrm>
          <a:prstGeom prst="rect">
            <a:avLst/>
          </a:prstGeom>
          <a:noFill/>
          <a:ln/>
        </p:spPr>
        <p:txBody>
          <a:bodyPr wrap="square" lIns="0" tIns="0" rIns="0" bIns="0" rtlCol="0" anchor="ctr"/>
          <a:lstStyle/>
          <a:p>
            <a:pPr marL="0" indent="0">
              <a:buNone/>
            </a:pPr>
            <a:r>
              <a:rPr lang="en-US" sz="1500" b="1" dirty="0">
                <a:solidFill>
                  <a:schemeClr val="accent1"/>
                </a:solidFill>
              </a:rPr>
              <a:t>Russia &amp; Arab World</a:t>
            </a:r>
            <a:endParaRPr lang="en-US" sz="1500" dirty="0"/>
          </a:p>
          <a:p>
            <a:pPr marL="0" indent="0">
              <a:buNone/>
            </a:pPr>
            <a:r>
              <a:rPr lang="en-US" sz="1200" dirty="0">
                <a:solidFill>
                  <a:schemeClr val="tx1"/>
                </a:solidFill>
              </a:rPr>
              <a:t>5th Forum of the Union of Russian &amp; Arab University Rectors</a:t>
            </a:r>
            <a:endParaRPr lang="en-US" sz="1500" dirty="0"/>
          </a:p>
        </p:txBody>
      </p:sp>
      <p:sp>
        <p:nvSpPr>
          <p:cNvPr id="17" name="spoke-4"/>
          <p:cNvSpPr/>
          <p:nvPr/>
        </p:nvSpPr>
        <p:spPr>
          <a:xfrm>
            <a:off x="6095848" y="3886200"/>
            <a:ext cx="2286000" cy="137160"/>
          </a:xfrm>
          <a:prstGeom prst="line">
            <a:avLst/>
          </a:prstGeom>
          <a:noFill/>
          <a:ln w="25400">
            <a:solidFill>
              <a:srgbClr val="D6E4F5"/>
            </a:solidFill>
            <a:prstDash val="solid"/>
          </a:ln>
        </p:spPr>
        <p:txBody>
          <a:bodyPr/>
          <a:lstStyle/>
          <a:p>
            <a:endParaRPr lang="en-US"/>
          </a:p>
        </p:txBody>
      </p:sp>
      <p:sp>
        <p:nvSpPr>
          <p:cNvPr id="18" name="node-4"/>
          <p:cNvSpPr/>
          <p:nvPr/>
        </p:nvSpPr>
        <p:spPr>
          <a:xfrm>
            <a:off x="8381848" y="3497580"/>
            <a:ext cx="3200400" cy="1051560"/>
          </a:xfrm>
          <a:prstGeom prst="roundRect">
            <a:avLst>
              <a:gd name="adj" fmla="val 10435"/>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9" name="Text 16"/>
          <p:cNvSpPr txBox="1"/>
          <p:nvPr/>
        </p:nvSpPr>
        <p:spPr>
          <a:xfrm>
            <a:off x="8564728" y="3589020"/>
            <a:ext cx="2834640" cy="868680"/>
          </a:xfrm>
          <a:prstGeom prst="rect">
            <a:avLst/>
          </a:prstGeom>
          <a:noFill/>
          <a:ln/>
        </p:spPr>
        <p:txBody>
          <a:bodyPr wrap="square" lIns="0" tIns="0" rIns="0" bIns="0" rtlCol="0" anchor="ctr"/>
          <a:lstStyle/>
          <a:p>
            <a:pPr marL="0" indent="0">
              <a:buNone/>
            </a:pPr>
            <a:r>
              <a:rPr lang="en-US" sz="1500" b="1" dirty="0">
                <a:solidFill>
                  <a:schemeClr val="accent1"/>
                </a:solidFill>
              </a:rPr>
              <a:t>United Kingdom &amp; Italy</a:t>
            </a:r>
            <a:endParaRPr lang="en-US" sz="1500" dirty="0"/>
          </a:p>
          <a:p>
            <a:pPr marL="0" indent="0">
              <a:buNone/>
            </a:pPr>
            <a:r>
              <a:rPr lang="en-US" sz="1200" dirty="0">
                <a:solidFill>
                  <a:schemeClr val="tx1"/>
                </a:solidFill>
              </a:rPr>
              <a:t>Faculty expertise from Exeter (Newton-Mosharafa scholar) and Politecnico di Torino</a:t>
            </a:r>
            <a:endParaRPr lang="en-US" sz="1500" dirty="0"/>
          </a:p>
        </p:txBody>
      </p:sp>
      <p:sp>
        <p:nvSpPr>
          <p:cNvPr id="20" name="spoke-5"/>
          <p:cNvSpPr/>
          <p:nvPr/>
        </p:nvSpPr>
        <p:spPr>
          <a:xfrm>
            <a:off x="6095848" y="3886200"/>
            <a:ext cx="2011680" cy="1783080"/>
          </a:xfrm>
          <a:prstGeom prst="line">
            <a:avLst/>
          </a:prstGeom>
          <a:noFill/>
          <a:ln w="25400">
            <a:solidFill>
              <a:srgbClr val="D6E4F5"/>
            </a:solidFill>
            <a:prstDash val="solid"/>
          </a:ln>
        </p:spPr>
        <p:txBody>
          <a:bodyPr/>
          <a:lstStyle/>
          <a:p>
            <a:endParaRPr lang="en-US"/>
          </a:p>
        </p:txBody>
      </p:sp>
      <p:sp>
        <p:nvSpPr>
          <p:cNvPr id="21" name="node-5"/>
          <p:cNvSpPr/>
          <p:nvPr/>
        </p:nvSpPr>
        <p:spPr>
          <a:xfrm>
            <a:off x="8107528" y="5143500"/>
            <a:ext cx="3200400" cy="1051560"/>
          </a:xfrm>
          <a:prstGeom prst="roundRect">
            <a:avLst>
              <a:gd name="adj" fmla="val 10435"/>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2" name="Text 19"/>
          <p:cNvSpPr txBox="1"/>
          <p:nvPr/>
        </p:nvSpPr>
        <p:spPr>
          <a:xfrm>
            <a:off x="8290408" y="5234940"/>
            <a:ext cx="2834640" cy="868680"/>
          </a:xfrm>
          <a:prstGeom prst="rect">
            <a:avLst/>
          </a:prstGeom>
          <a:noFill/>
          <a:ln/>
        </p:spPr>
        <p:txBody>
          <a:bodyPr wrap="square" lIns="0" tIns="0" rIns="0" bIns="0" rtlCol="0" anchor="ctr"/>
          <a:lstStyle/>
          <a:p>
            <a:pPr marL="0" indent="0">
              <a:buNone/>
            </a:pPr>
            <a:r>
              <a:rPr lang="en-US" sz="1500" b="1" dirty="0">
                <a:solidFill>
                  <a:schemeClr val="accent1"/>
                </a:solidFill>
              </a:rPr>
              <a:t>China &amp; MENA</a:t>
            </a:r>
            <a:endParaRPr lang="en-US" sz="1500" dirty="0"/>
          </a:p>
          <a:p>
            <a:pPr marL="0" indent="0">
              <a:buNone/>
            </a:pPr>
            <a:r>
              <a:rPr lang="en-US" sz="1200" dirty="0">
                <a:solidFill>
                  <a:schemeClr val="tx1"/>
                </a:solidFill>
              </a:rPr>
              <a:t>Huawei ICT Academy · Saudi German Hospital network</a:t>
            </a:r>
            <a:endParaRPr lang="en-US" sz="1500" dirty="0"/>
          </a:p>
        </p:txBody>
      </p:sp>
      <p:sp>
        <p:nvSpPr>
          <p:cNvPr id="23" name="hub"/>
          <p:cNvSpPr/>
          <p:nvPr/>
        </p:nvSpPr>
        <p:spPr>
          <a:xfrm>
            <a:off x="5135728" y="2926080"/>
            <a:ext cx="1920240" cy="1920240"/>
          </a:xfrm>
          <a:prstGeom prst="ellipse">
            <a:avLst/>
          </a:prstGeom>
          <a:solidFill>
            <a:schemeClr val="tx2"/>
          </a:solidFill>
          <a:ln w="38100">
            <a:solidFill>
              <a:srgbClr val="00D4FF"/>
            </a:solidFill>
            <a:prstDash val="solid"/>
          </a:ln>
        </p:spPr>
        <p:txBody>
          <a:bodyPr/>
          <a:lstStyle/>
          <a:p>
            <a:endParaRPr lang="en-US"/>
          </a:p>
        </p:txBody>
      </p:sp>
      <p:pic>
        <p:nvPicPr>
          <p:cNvPr id="24" name="hub-logo" descr="preencoded.png"/>
          <p:cNvPicPr>
            <a:picLocks noChangeAspect="1"/>
          </p:cNvPicPr>
          <p:nvPr/>
        </p:nvPicPr>
        <p:blipFill>
          <a:blip r:embed="rId3"/>
          <a:stretch>
            <a:fillRect/>
          </a:stretch>
        </p:blipFill>
        <p:spPr>
          <a:xfrm>
            <a:off x="5225564" y="3015916"/>
            <a:ext cx="1740568" cy="1740568"/>
          </a:xfrm>
          <a:prstGeom prst="rect">
            <a:avLst/>
          </a:prstGeom>
        </p:spPr>
      </p:pic>
      <p:sp>
        <p:nvSpPr>
          <p:cNvPr id="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Partners with Regional &amp; Global Reach</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Industry and health partners that connect learning to international practice</a:t>
            </a:r>
            <a:endParaRPr lang="en-US" sz="1500" dirty="0"/>
          </a:p>
        </p:txBody>
      </p:sp>
      <p:pic>
        <p:nvPicPr>
          <p:cNvPr id="5" name="industry-photo-0" descr="EPNU computer science students"/>
          <p:cNvPicPr>
            <a:picLocks noChangeAspect="1"/>
          </p:cNvPicPr>
          <p:nvPr/>
        </p:nvPicPr>
        <p:blipFill>
          <a:blip r:embed="rId3"/>
          <a:stretch>
            <a:fillRect/>
          </a:stretch>
        </p:blipFill>
        <p:spPr>
          <a:xfrm>
            <a:off x="548640" y="1600200"/>
            <a:ext cx="2602154" cy="2011680"/>
          </a:xfrm>
          <a:prstGeom prst="rect">
            <a:avLst/>
          </a:prstGeom>
        </p:spPr>
      </p:pic>
      <p:sp>
        <p:nvSpPr>
          <p:cNvPr id="6" name="industry-card-0"/>
          <p:cNvSpPr/>
          <p:nvPr/>
        </p:nvSpPr>
        <p:spPr>
          <a:xfrm>
            <a:off x="548640" y="3840480"/>
            <a:ext cx="2602154" cy="2286000"/>
          </a:xfrm>
          <a:prstGeom prst="roundRect">
            <a:avLst>
              <a:gd name="adj" fmla="val 4800"/>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7" name="industry-icon-0-circle"/>
          <p:cNvSpPr/>
          <p:nvPr/>
        </p:nvSpPr>
        <p:spPr>
          <a:xfrm>
            <a:off x="749808" y="4023360"/>
            <a:ext cx="548640" cy="548640"/>
          </a:xfrm>
          <a:prstGeom prst="ellipse">
            <a:avLst/>
          </a:prstGeom>
          <a:solidFill>
            <a:schemeClr val="accent1"/>
          </a:solidFill>
          <a:ln/>
        </p:spPr>
        <p:txBody>
          <a:bodyPr/>
          <a:lstStyle/>
          <a:p>
            <a:endParaRPr lang="en-US"/>
          </a:p>
        </p:txBody>
      </p:sp>
      <p:pic>
        <p:nvPicPr>
          <p:cNvPr id="8" name="industry-icon-0" descr="preencoded.png"/>
          <p:cNvPicPr>
            <a:picLocks noChangeAspect="1"/>
          </p:cNvPicPr>
          <p:nvPr/>
        </p:nvPicPr>
        <p:blipFill>
          <a:blip r:embed="rId4"/>
          <a:stretch>
            <a:fillRect/>
          </a:stretch>
        </p:blipFill>
        <p:spPr>
          <a:xfrm>
            <a:off x="892454" y="4166006"/>
            <a:ext cx="263347" cy="263347"/>
          </a:xfrm>
          <a:prstGeom prst="rect">
            <a:avLst/>
          </a:prstGeom>
        </p:spPr>
      </p:pic>
      <p:sp>
        <p:nvSpPr>
          <p:cNvPr id="9" name="Text 4"/>
          <p:cNvSpPr txBox="1"/>
          <p:nvPr/>
        </p:nvSpPr>
        <p:spPr>
          <a:xfrm>
            <a:off x="1417320" y="3995928"/>
            <a:ext cx="1596314" cy="603504"/>
          </a:xfrm>
          <a:prstGeom prst="rect">
            <a:avLst/>
          </a:prstGeom>
          <a:noFill/>
          <a:ln/>
        </p:spPr>
        <p:txBody>
          <a:bodyPr wrap="square" lIns="0" tIns="0" rIns="0" bIns="0" rtlCol="0" anchor="ctr"/>
          <a:lstStyle/>
          <a:p>
            <a:pPr marL="0" indent="0">
              <a:buNone/>
            </a:pPr>
            <a:r>
              <a:rPr lang="en-US" sz="1500" b="1" dirty="0">
                <a:solidFill>
                  <a:schemeClr val="tx2"/>
                </a:solidFill>
              </a:rPr>
              <a:t>Huawei ICT Academy</a:t>
            </a:r>
            <a:endParaRPr lang="en-US" sz="1500" dirty="0"/>
          </a:p>
        </p:txBody>
      </p:sp>
      <p:sp>
        <p:nvSpPr>
          <p:cNvPr id="10" name="Text 5"/>
          <p:cNvSpPr txBox="1"/>
          <p:nvPr/>
        </p:nvSpPr>
        <p:spPr>
          <a:xfrm>
            <a:off x="749808" y="4709160"/>
            <a:ext cx="2199818" cy="1325880"/>
          </a:xfrm>
          <a:prstGeom prst="rect">
            <a:avLst/>
          </a:prstGeom>
          <a:noFill/>
          <a:ln/>
        </p:spPr>
        <p:txBody>
          <a:bodyPr wrap="square" lIns="0" tIns="0" rIns="0" bIns="0" rtlCol="0" anchor="t"/>
          <a:lstStyle/>
          <a:p>
            <a:pPr marL="0" indent="0">
              <a:buNone/>
            </a:pPr>
            <a:r>
              <a:rPr lang="en-US" sz="1300" dirty="0">
                <a:solidFill>
                  <a:schemeClr val="tx1"/>
                </a:solidFill>
              </a:rPr>
              <a:t>Huawei ICT Academy at EPNU: training in AI, cloud computing, networks, IoT and modern communications</a:t>
            </a:r>
            <a:endParaRPr lang="en-US" sz="1300" dirty="0"/>
          </a:p>
        </p:txBody>
      </p:sp>
      <p:pic>
        <p:nvPicPr>
          <p:cNvPr id="11" name="industry-photo-1" descr="EPNU health sciences students in clinical training"/>
          <p:cNvPicPr>
            <a:picLocks noChangeAspect="1"/>
          </p:cNvPicPr>
          <p:nvPr/>
        </p:nvPicPr>
        <p:blipFill>
          <a:blip r:embed="rId5"/>
          <a:stretch>
            <a:fillRect/>
          </a:stretch>
        </p:blipFill>
        <p:spPr>
          <a:xfrm>
            <a:off x="3379394" y="1600200"/>
            <a:ext cx="2602154" cy="2011680"/>
          </a:xfrm>
          <a:prstGeom prst="rect">
            <a:avLst/>
          </a:prstGeom>
        </p:spPr>
      </p:pic>
      <p:sp>
        <p:nvSpPr>
          <p:cNvPr id="12" name="industry-card-1"/>
          <p:cNvSpPr/>
          <p:nvPr/>
        </p:nvSpPr>
        <p:spPr>
          <a:xfrm>
            <a:off x="3379394" y="3840480"/>
            <a:ext cx="2602154" cy="2286000"/>
          </a:xfrm>
          <a:prstGeom prst="roundRect">
            <a:avLst>
              <a:gd name="adj" fmla="val 4800"/>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3" name="industry-icon-1-circle"/>
          <p:cNvSpPr/>
          <p:nvPr/>
        </p:nvSpPr>
        <p:spPr>
          <a:xfrm>
            <a:off x="3580562" y="4023360"/>
            <a:ext cx="548640" cy="548640"/>
          </a:xfrm>
          <a:prstGeom prst="ellipse">
            <a:avLst/>
          </a:prstGeom>
          <a:solidFill>
            <a:schemeClr val="accent1"/>
          </a:solidFill>
          <a:ln/>
        </p:spPr>
        <p:txBody>
          <a:bodyPr/>
          <a:lstStyle/>
          <a:p>
            <a:endParaRPr lang="en-US"/>
          </a:p>
        </p:txBody>
      </p:sp>
      <p:pic>
        <p:nvPicPr>
          <p:cNvPr id="14" name="industry-icon-1" descr="preencoded.png"/>
          <p:cNvPicPr>
            <a:picLocks noChangeAspect="1"/>
          </p:cNvPicPr>
          <p:nvPr/>
        </p:nvPicPr>
        <p:blipFill>
          <a:blip r:embed="rId6"/>
          <a:stretch>
            <a:fillRect/>
          </a:stretch>
        </p:blipFill>
        <p:spPr>
          <a:xfrm>
            <a:off x="3723208" y="4166006"/>
            <a:ext cx="263347" cy="263347"/>
          </a:xfrm>
          <a:prstGeom prst="rect">
            <a:avLst/>
          </a:prstGeom>
        </p:spPr>
      </p:pic>
      <p:sp>
        <p:nvSpPr>
          <p:cNvPr id="15" name="Text 8"/>
          <p:cNvSpPr txBox="1"/>
          <p:nvPr/>
        </p:nvSpPr>
        <p:spPr>
          <a:xfrm>
            <a:off x="4248074" y="3995928"/>
            <a:ext cx="1596314" cy="603504"/>
          </a:xfrm>
          <a:prstGeom prst="rect">
            <a:avLst/>
          </a:prstGeom>
          <a:noFill/>
          <a:ln/>
        </p:spPr>
        <p:txBody>
          <a:bodyPr wrap="square" lIns="0" tIns="0" rIns="0" bIns="0" rtlCol="0" anchor="ctr"/>
          <a:lstStyle/>
          <a:p>
            <a:pPr marL="0" indent="0">
              <a:buNone/>
            </a:pPr>
            <a:r>
              <a:rPr lang="en-US" sz="1500" b="1" dirty="0">
                <a:solidFill>
                  <a:schemeClr val="tx2"/>
                </a:solidFill>
              </a:rPr>
              <a:t>Saudi German Hospital, Cairo</a:t>
            </a:r>
            <a:endParaRPr lang="en-US" sz="1500" dirty="0"/>
          </a:p>
        </p:txBody>
      </p:sp>
      <p:sp>
        <p:nvSpPr>
          <p:cNvPr id="16" name="Text 9"/>
          <p:cNvSpPr txBox="1"/>
          <p:nvPr/>
        </p:nvSpPr>
        <p:spPr>
          <a:xfrm>
            <a:off x="3580562" y="4709160"/>
            <a:ext cx="2199818" cy="1325880"/>
          </a:xfrm>
          <a:prstGeom prst="rect">
            <a:avLst/>
          </a:prstGeom>
          <a:noFill/>
          <a:ln/>
        </p:spPr>
        <p:txBody>
          <a:bodyPr wrap="square" lIns="0" tIns="0" rIns="0" bIns="0" rtlCol="0" anchor="t"/>
          <a:lstStyle/>
          <a:p>
            <a:pPr marL="0" indent="0">
              <a:buNone/>
            </a:pPr>
            <a:r>
              <a:rPr lang="en-US" sz="1300" dirty="0">
                <a:solidFill>
                  <a:schemeClr val="tx1"/>
                </a:solidFill>
              </a:rPr>
              <a:t>Clinical lab training (quality control, biosafety) with a hospital network operating in Saudi Arabia, the UAE, Egypt, Yemen and Morocco</a:t>
            </a:r>
            <a:endParaRPr lang="en-US" sz="1300" dirty="0"/>
          </a:p>
        </p:txBody>
      </p:sp>
      <p:pic>
        <p:nvPicPr>
          <p:cNvPr id="17" name="industry-photo-2" descr="EPNU pharmacy students in the lab"/>
          <p:cNvPicPr>
            <a:picLocks noChangeAspect="1"/>
          </p:cNvPicPr>
          <p:nvPr/>
        </p:nvPicPr>
        <p:blipFill>
          <a:blip r:embed="rId7"/>
          <a:stretch>
            <a:fillRect/>
          </a:stretch>
        </p:blipFill>
        <p:spPr>
          <a:xfrm>
            <a:off x="6210148" y="1600200"/>
            <a:ext cx="2602154" cy="2011680"/>
          </a:xfrm>
          <a:prstGeom prst="rect">
            <a:avLst/>
          </a:prstGeom>
        </p:spPr>
      </p:pic>
      <p:sp>
        <p:nvSpPr>
          <p:cNvPr id="18" name="industry-card-2"/>
          <p:cNvSpPr/>
          <p:nvPr/>
        </p:nvSpPr>
        <p:spPr>
          <a:xfrm>
            <a:off x="6210148" y="3840480"/>
            <a:ext cx="2602154" cy="2286000"/>
          </a:xfrm>
          <a:prstGeom prst="roundRect">
            <a:avLst>
              <a:gd name="adj" fmla="val 4800"/>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9" name="industry-icon-2-circle"/>
          <p:cNvSpPr/>
          <p:nvPr/>
        </p:nvSpPr>
        <p:spPr>
          <a:xfrm>
            <a:off x="6411316" y="4023360"/>
            <a:ext cx="548640" cy="548640"/>
          </a:xfrm>
          <a:prstGeom prst="ellipse">
            <a:avLst/>
          </a:prstGeom>
          <a:solidFill>
            <a:schemeClr val="accent1"/>
          </a:solidFill>
          <a:ln/>
        </p:spPr>
        <p:txBody>
          <a:bodyPr/>
          <a:lstStyle/>
          <a:p>
            <a:endParaRPr lang="en-US"/>
          </a:p>
        </p:txBody>
      </p:sp>
      <p:pic>
        <p:nvPicPr>
          <p:cNvPr id="20" name="industry-icon-2" descr="preencoded.png"/>
          <p:cNvPicPr>
            <a:picLocks noChangeAspect="1"/>
          </p:cNvPicPr>
          <p:nvPr/>
        </p:nvPicPr>
        <p:blipFill>
          <a:blip r:embed="rId8"/>
          <a:stretch>
            <a:fillRect/>
          </a:stretch>
        </p:blipFill>
        <p:spPr>
          <a:xfrm>
            <a:off x="6553962" y="4166006"/>
            <a:ext cx="263347" cy="263347"/>
          </a:xfrm>
          <a:prstGeom prst="rect">
            <a:avLst/>
          </a:prstGeom>
        </p:spPr>
      </p:pic>
      <p:sp>
        <p:nvSpPr>
          <p:cNvPr id="21" name="Text 12"/>
          <p:cNvSpPr txBox="1"/>
          <p:nvPr/>
        </p:nvSpPr>
        <p:spPr>
          <a:xfrm>
            <a:off x="7078828" y="3995928"/>
            <a:ext cx="1596314" cy="603504"/>
          </a:xfrm>
          <a:prstGeom prst="rect">
            <a:avLst/>
          </a:prstGeom>
          <a:noFill/>
          <a:ln/>
        </p:spPr>
        <p:txBody>
          <a:bodyPr wrap="square" lIns="0" tIns="0" rIns="0" bIns="0" rtlCol="0" anchor="ctr"/>
          <a:lstStyle/>
          <a:p>
            <a:pPr marL="0" indent="0">
              <a:buNone/>
            </a:pPr>
            <a:r>
              <a:rPr lang="en-US" sz="1500" b="1" dirty="0">
                <a:solidFill>
                  <a:schemeClr val="tx2"/>
                </a:solidFill>
              </a:rPr>
              <a:t>Pharmaceutical industry</a:t>
            </a:r>
            <a:endParaRPr lang="en-US" sz="1500" dirty="0"/>
          </a:p>
        </p:txBody>
      </p:sp>
      <p:sp>
        <p:nvSpPr>
          <p:cNvPr id="22" name="Text 13"/>
          <p:cNvSpPr txBox="1"/>
          <p:nvPr/>
        </p:nvSpPr>
        <p:spPr>
          <a:xfrm>
            <a:off x="6411316" y="4709160"/>
            <a:ext cx="2199818" cy="1325880"/>
          </a:xfrm>
          <a:prstGeom prst="rect">
            <a:avLst/>
          </a:prstGeom>
          <a:noFill/>
          <a:ln/>
        </p:spPr>
        <p:txBody>
          <a:bodyPr wrap="square" lIns="0" tIns="0" rIns="0" bIns="0" rtlCol="0" anchor="t"/>
          <a:lstStyle/>
          <a:p>
            <a:pPr marL="0" indent="0">
              <a:buNone/>
            </a:pPr>
            <a:r>
              <a:rPr lang="en-US" sz="1300" dirty="0">
                <a:solidFill>
                  <a:schemeClr val="tx1"/>
                </a:solidFill>
              </a:rPr>
              <a:t>Strategic partners include EIPICO, EVA Pharma, Lavender Life and Royal Cosmetics, supporting training, innovation and entrepreneurship</a:t>
            </a:r>
            <a:endParaRPr lang="en-US" sz="1300" dirty="0"/>
          </a:p>
        </p:txBody>
      </p:sp>
      <p:pic>
        <p:nvPicPr>
          <p:cNvPr id="23" name="industry-photo-3" descr="EPNU students at Children's Cancer Hospital 57357"/>
          <p:cNvPicPr>
            <a:picLocks noChangeAspect="1"/>
          </p:cNvPicPr>
          <p:nvPr/>
        </p:nvPicPr>
        <p:blipFill>
          <a:blip r:embed="rId9"/>
          <a:stretch>
            <a:fillRect/>
          </a:stretch>
        </p:blipFill>
        <p:spPr>
          <a:xfrm>
            <a:off x="9040901" y="1600200"/>
            <a:ext cx="2602154" cy="2011680"/>
          </a:xfrm>
          <a:prstGeom prst="rect">
            <a:avLst/>
          </a:prstGeom>
        </p:spPr>
      </p:pic>
      <p:sp>
        <p:nvSpPr>
          <p:cNvPr id="24" name="industry-card-3"/>
          <p:cNvSpPr/>
          <p:nvPr/>
        </p:nvSpPr>
        <p:spPr>
          <a:xfrm>
            <a:off x="9040901" y="3840480"/>
            <a:ext cx="2602154" cy="2286000"/>
          </a:xfrm>
          <a:prstGeom prst="roundRect">
            <a:avLst>
              <a:gd name="adj" fmla="val 4800"/>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5" name="industry-icon-3-circle"/>
          <p:cNvSpPr/>
          <p:nvPr/>
        </p:nvSpPr>
        <p:spPr>
          <a:xfrm>
            <a:off x="9242069" y="4023360"/>
            <a:ext cx="548640" cy="548640"/>
          </a:xfrm>
          <a:prstGeom prst="ellipse">
            <a:avLst/>
          </a:prstGeom>
          <a:solidFill>
            <a:schemeClr val="accent1"/>
          </a:solidFill>
          <a:ln/>
        </p:spPr>
        <p:txBody>
          <a:bodyPr/>
          <a:lstStyle/>
          <a:p>
            <a:endParaRPr lang="en-US"/>
          </a:p>
        </p:txBody>
      </p:sp>
      <p:pic>
        <p:nvPicPr>
          <p:cNvPr id="26" name="industry-icon-3" descr="preencoded.png"/>
          <p:cNvPicPr>
            <a:picLocks noChangeAspect="1"/>
          </p:cNvPicPr>
          <p:nvPr/>
        </p:nvPicPr>
        <p:blipFill>
          <a:blip r:embed="rId10"/>
          <a:stretch>
            <a:fillRect/>
          </a:stretch>
        </p:blipFill>
        <p:spPr>
          <a:xfrm>
            <a:off x="9384716" y="4166006"/>
            <a:ext cx="263347" cy="263347"/>
          </a:xfrm>
          <a:prstGeom prst="rect">
            <a:avLst/>
          </a:prstGeom>
        </p:spPr>
      </p:pic>
      <p:sp>
        <p:nvSpPr>
          <p:cNvPr id="27" name="Text 16"/>
          <p:cNvSpPr txBox="1"/>
          <p:nvPr/>
        </p:nvSpPr>
        <p:spPr>
          <a:xfrm>
            <a:off x="9909581" y="3995928"/>
            <a:ext cx="1596314" cy="603504"/>
          </a:xfrm>
          <a:prstGeom prst="rect">
            <a:avLst/>
          </a:prstGeom>
          <a:noFill/>
          <a:ln/>
        </p:spPr>
        <p:txBody>
          <a:bodyPr wrap="square" lIns="0" tIns="0" rIns="0" bIns="0" rtlCol="0" anchor="ctr"/>
          <a:lstStyle/>
          <a:p>
            <a:pPr marL="0" indent="0">
              <a:buNone/>
            </a:pPr>
            <a:r>
              <a:rPr lang="en-US" sz="1500" b="1" dirty="0">
                <a:solidFill>
                  <a:schemeClr val="tx2"/>
                </a:solidFill>
              </a:rPr>
              <a:t>Children's Cancer Hospital 57357</a:t>
            </a:r>
            <a:endParaRPr lang="en-US" sz="1500" dirty="0"/>
          </a:p>
        </p:txBody>
      </p:sp>
      <p:sp>
        <p:nvSpPr>
          <p:cNvPr id="28" name="Text 17"/>
          <p:cNvSpPr txBox="1"/>
          <p:nvPr/>
        </p:nvSpPr>
        <p:spPr>
          <a:xfrm>
            <a:off x="9242069" y="4709160"/>
            <a:ext cx="2199818" cy="1325880"/>
          </a:xfrm>
          <a:prstGeom prst="rect">
            <a:avLst/>
          </a:prstGeom>
          <a:noFill/>
          <a:ln/>
        </p:spPr>
        <p:txBody>
          <a:bodyPr wrap="square" lIns="0" tIns="0" rIns="0" bIns="0" rtlCol="0" anchor="t"/>
          <a:lstStyle/>
          <a:p>
            <a:pPr marL="0" indent="0">
              <a:buNone/>
            </a:pPr>
            <a:r>
              <a:rPr lang="en-US" sz="1300" dirty="0">
                <a:solidFill>
                  <a:schemeClr val="tx1"/>
                </a:solidFill>
              </a:rPr>
              <a:t>MoU signed with the 57357 Group: medical education, practical training, research and community service</a:t>
            </a:r>
            <a:endParaRPr lang="en-US" sz="1300" dirty="0"/>
          </a:p>
        </p:txBody>
      </p:sp>
      <p:sp>
        <p:nvSpPr>
          <p:cNvPr id="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Our Students at International Events</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Competing, publishing and presenting beyond the classroom</a:t>
            </a:r>
            <a:endParaRPr lang="en-US" sz="1500" dirty="0"/>
          </a:p>
        </p:txBody>
      </p:sp>
      <p:pic>
        <p:nvPicPr>
          <p:cNvPr id="5" name="students-photo-1" descr="EPNU student team at a competition"/>
          <p:cNvPicPr>
            <a:picLocks noChangeAspect="1"/>
          </p:cNvPicPr>
          <p:nvPr/>
        </p:nvPicPr>
        <p:blipFill>
          <a:blip r:embed="rId3"/>
          <a:stretch>
            <a:fillRect/>
          </a:stretch>
        </p:blipFill>
        <p:spPr>
          <a:xfrm>
            <a:off x="548640" y="1600200"/>
            <a:ext cx="3657600" cy="2194560"/>
          </a:xfrm>
          <a:prstGeom prst="rect">
            <a:avLst/>
          </a:prstGeom>
        </p:spPr>
      </p:pic>
      <p:pic>
        <p:nvPicPr>
          <p:cNvPr id="6" name="students-photo-2" descr="EPNU students with certificates"/>
          <p:cNvPicPr>
            <a:picLocks noChangeAspect="1"/>
          </p:cNvPicPr>
          <p:nvPr/>
        </p:nvPicPr>
        <p:blipFill>
          <a:blip r:embed="rId4"/>
          <a:stretch>
            <a:fillRect/>
          </a:stretch>
        </p:blipFill>
        <p:spPr>
          <a:xfrm>
            <a:off x="548640" y="3977640"/>
            <a:ext cx="1737360" cy="2194560"/>
          </a:xfrm>
          <a:prstGeom prst="rect">
            <a:avLst/>
          </a:prstGeom>
        </p:spPr>
      </p:pic>
      <p:pic>
        <p:nvPicPr>
          <p:cNvPr id="7" name="students-photo-3" descr="EPNU students with a certificate"/>
          <p:cNvPicPr>
            <a:picLocks noChangeAspect="1"/>
          </p:cNvPicPr>
          <p:nvPr/>
        </p:nvPicPr>
        <p:blipFill>
          <a:blip r:embed="rId5"/>
          <a:stretch>
            <a:fillRect/>
          </a:stretch>
        </p:blipFill>
        <p:spPr>
          <a:xfrm>
            <a:off x="2468880" y="3977640"/>
            <a:ext cx="1737360" cy="2194560"/>
          </a:xfrm>
          <a:prstGeom prst="rect">
            <a:avLst/>
          </a:prstGeom>
        </p:spPr>
      </p:pic>
      <p:sp>
        <p:nvSpPr>
          <p:cNvPr id="8" name="ach-card-0"/>
          <p:cNvSpPr/>
          <p:nvPr/>
        </p:nvSpPr>
        <p:spPr>
          <a:xfrm>
            <a:off x="4434840" y="1600200"/>
            <a:ext cx="7205472" cy="1024128"/>
          </a:xfrm>
          <a:prstGeom prst="roundRect">
            <a:avLst>
              <a:gd name="adj" fmla="val 1071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9" name="ach-icon-0-circle"/>
          <p:cNvSpPr/>
          <p:nvPr/>
        </p:nvSpPr>
        <p:spPr>
          <a:xfrm>
            <a:off x="4617720" y="1819656"/>
            <a:ext cx="585216" cy="585216"/>
          </a:xfrm>
          <a:prstGeom prst="ellipse">
            <a:avLst/>
          </a:prstGeom>
          <a:solidFill>
            <a:schemeClr val="accent1"/>
          </a:solidFill>
          <a:ln/>
        </p:spPr>
        <p:txBody>
          <a:bodyPr/>
          <a:lstStyle/>
          <a:p>
            <a:endParaRPr lang="en-US"/>
          </a:p>
        </p:txBody>
      </p:sp>
      <p:pic>
        <p:nvPicPr>
          <p:cNvPr id="10" name="ach-icon-0" descr="preencoded.png"/>
          <p:cNvPicPr>
            <a:picLocks noChangeAspect="1"/>
          </p:cNvPicPr>
          <p:nvPr/>
        </p:nvPicPr>
        <p:blipFill>
          <a:blip r:embed="rId6"/>
          <a:stretch>
            <a:fillRect/>
          </a:stretch>
        </p:blipFill>
        <p:spPr>
          <a:xfrm>
            <a:off x="4769876" y="1971812"/>
            <a:ext cx="280904" cy="280904"/>
          </a:xfrm>
          <a:prstGeom prst="rect">
            <a:avLst/>
          </a:prstGeom>
        </p:spPr>
      </p:pic>
      <p:sp>
        <p:nvSpPr>
          <p:cNvPr id="11" name="Text 4"/>
          <p:cNvSpPr txBox="1"/>
          <p:nvPr/>
        </p:nvSpPr>
        <p:spPr>
          <a:xfrm>
            <a:off x="5394960" y="1691640"/>
            <a:ext cx="6080760" cy="841248"/>
          </a:xfrm>
          <a:prstGeom prst="rect">
            <a:avLst/>
          </a:prstGeom>
          <a:noFill/>
          <a:ln/>
        </p:spPr>
        <p:txBody>
          <a:bodyPr wrap="square" lIns="0" tIns="0" rIns="0" bIns="0" rtlCol="0" anchor="ctr"/>
          <a:lstStyle/>
          <a:p>
            <a:pPr marL="0" indent="0">
              <a:buNone/>
            </a:pPr>
            <a:r>
              <a:rPr lang="en-US" sz="1500" b="1" dirty="0">
                <a:solidFill>
                  <a:schemeClr val="tx2"/>
                </a:solidFill>
              </a:rPr>
              <a:t>AI Hackathon, ICIAAI 2026</a:t>
            </a:r>
            <a:endParaRPr lang="en-US" sz="1500" dirty="0"/>
          </a:p>
          <a:p>
            <a:pPr marL="0" indent="0">
              <a:buNone/>
            </a:pPr>
            <a:r>
              <a:rPr lang="en-US" sz="1250" dirty="0">
                <a:solidFill>
                  <a:schemeClr val="tx1"/>
                </a:solidFill>
              </a:rPr>
              <a:t>Engineering team qualified and competed at the 1st International Conference on Innovations &amp; Applications of AI</a:t>
            </a:r>
            <a:endParaRPr lang="en-US" sz="1500" dirty="0"/>
          </a:p>
        </p:txBody>
      </p:sp>
      <p:sp>
        <p:nvSpPr>
          <p:cNvPr id="12" name="ach-card-1"/>
          <p:cNvSpPr/>
          <p:nvPr/>
        </p:nvSpPr>
        <p:spPr>
          <a:xfrm>
            <a:off x="4434840" y="2761488"/>
            <a:ext cx="7205472" cy="1024128"/>
          </a:xfrm>
          <a:prstGeom prst="roundRect">
            <a:avLst>
              <a:gd name="adj" fmla="val 1071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3" name="ach-icon-1-circle"/>
          <p:cNvSpPr/>
          <p:nvPr/>
        </p:nvSpPr>
        <p:spPr>
          <a:xfrm>
            <a:off x="4617720" y="2980944"/>
            <a:ext cx="585216" cy="585216"/>
          </a:xfrm>
          <a:prstGeom prst="ellipse">
            <a:avLst/>
          </a:prstGeom>
          <a:solidFill>
            <a:schemeClr val="accent1"/>
          </a:solidFill>
          <a:ln/>
        </p:spPr>
        <p:txBody>
          <a:bodyPr/>
          <a:lstStyle/>
          <a:p>
            <a:endParaRPr lang="en-US"/>
          </a:p>
        </p:txBody>
      </p:sp>
      <p:pic>
        <p:nvPicPr>
          <p:cNvPr id="14" name="ach-icon-1" descr="preencoded.png"/>
          <p:cNvPicPr>
            <a:picLocks noChangeAspect="1"/>
          </p:cNvPicPr>
          <p:nvPr/>
        </p:nvPicPr>
        <p:blipFill>
          <a:blip r:embed="rId7"/>
          <a:stretch>
            <a:fillRect/>
          </a:stretch>
        </p:blipFill>
        <p:spPr>
          <a:xfrm>
            <a:off x="4769876" y="3133100"/>
            <a:ext cx="280904" cy="280904"/>
          </a:xfrm>
          <a:prstGeom prst="rect">
            <a:avLst/>
          </a:prstGeom>
        </p:spPr>
      </p:pic>
      <p:sp>
        <p:nvSpPr>
          <p:cNvPr id="15" name="Text 7"/>
          <p:cNvSpPr txBox="1"/>
          <p:nvPr/>
        </p:nvSpPr>
        <p:spPr>
          <a:xfrm>
            <a:off x="5394960" y="2852928"/>
            <a:ext cx="6080760" cy="841248"/>
          </a:xfrm>
          <a:prstGeom prst="rect">
            <a:avLst/>
          </a:prstGeom>
          <a:noFill/>
          <a:ln/>
        </p:spPr>
        <p:txBody>
          <a:bodyPr wrap="square" lIns="0" tIns="0" rIns="0" bIns="0" rtlCol="0" anchor="ctr"/>
          <a:lstStyle/>
          <a:p>
            <a:pPr marL="0" indent="0">
              <a:buNone/>
            </a:pPr>
            <a:r>
              <a:rPr lang="en-US" sz="1500" b="1" dirty="0">
                <a:solidFill>
                  <a:schemeClr val="tx2"/>
                </a:solidFill>
              </a:rPr>
              <a:t>ITC-Egypt 2026</a:t>
            </a:r>
            <a:endParaRPr lang="en-US" sz="1500" dirty="0"/>
          </a:p>
          <a:p>
            <a:pPr marL="0" indent="0">
              <a:buNone/>
            </a:pPr>
            <a:r>
              <a:rPr lang="en-US" sz="1250" dirty="0">
                <a:solidFill>
                  <a:schemeClr val="tx1"/>
                </a:solidFill>
              </a:rPr>
              <a:t>Engineering team passed the 2nd judging stage at the 6th International Conference on Communications</a:t>
            </a:r>
            <a:endParaRPr lang="en-US" sz="1500" dirty="0"/>
          </a:p>
        </p:txBody>
      </p:sp>
      <p:sp>
        <p:nvSpPr>
          <p:cNvPr id="16" name="ach-card-2"/>
          <p:cNvSpPr/>
          <p:nvPr/>
        </p:nvSpPr>
        <p:spPr>
          <a:xfrm>
            <a:off x="4434840" y="3922776"/>
            <a:ext cx="7205472" cy="1024128"/>
          </a:xfrm>
          <a:prstGeom prst="roundRect">
            <a:avLst>
              <a:gd name="adj" fmla="val 1071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7" name="ach-icon-2-circle"/>
          <p:cNvSpPr/>
          <p:nvPr/>
        </p:nvSpPr>
        <p:spPr>
          <a:xfrm>
            <a:off x="4617720" y="4142232"/>
            <a:ext cx="585216" cy="585216"/>
          </a:xfrm>
          <a:prstGeom prst="ellipse">
            <a:avLst/>
          </a:prstGeom>
          <a:solidFill>
            <a:schemeClr val="accent1"/>
          </a:solidFill>
          <a:ln/>
        </p:spPr>
        <p:txBody>
          <a:bodyPr/>
          <a:lstStyle/>
          <a:p>
            <a:endParaRPr lang="en-US"/>
          </a:p>
        </p:txBody>
      </p:sp>
      <p:pic>
        <p:nvPicPr>
          <p:cNvPr id="18" name="ach-icon-2" descr="preencoded.png"/>
          <p:cNvPicPr>
            <a:picLocks noChangeAspect="1"/>
          </p:cNvPicPr>
          <p:nvPr/>
        </p:nvPicPr>
        <p:blipFill>
          <a:blip r:embed="rId8"/>
          <a:stretch>
            <a:fillRect/>
          </a:stretch>
        </p:blipFill>
        <p:spPr>
          <a:xfrm>
            <a:off x="4769876" y="4294388"/>
            <a:ext cx="280904" cy="280904"/>
          </a:xfrm>
          <a:prstGeom prst="rect">
            <a:avLst/>
          </a:prstGeom>
        </p:spPr>
      </p:pic>
      <p:sp>
        <p:nvSpPr>
          <p:cNvPr id="19" name="Text 10"/>
          <p:cNvSpPr txBox="1"/>
          <p:nvPr/>
        </p:nvSpPr>
        <p:spPr>
          <a:xfrm>
            <a:off x="5394960" y="4014216"/>
            <a:ext cx="6080760" cy="841248"/>
          </a:xfrm>
          <a:prstGeom prst="rect">
            <a:avLst/>
          </a:prstGeom>
          <a:noFill/>
          <a:ln/>
        </p:spPr>
        <p:txBody>
          <a:bodyPr wrap="square" lIns="0" tIns="0" rIns="0" bIns="0" rtlCol="0" anchor="ctr"/>
          <a:lstStyle/>
          <a:p>
            <a:pPr marL="0" indent="0">
              <a:buNone/>
            </a:pPr>
            <a:r>
              <a:rPr lang="en-US" sz="1500" b="1" dirty="0">
                <a:solidFill>
                  <a:schemeClr val="tx2"/>
                </a:solidFill>
              </a:rPr>
              <a:t>11th International Pediatric Conference</a:t>
            </a:r>
            <a:endParaRPr lang="en-US" sz="1500" dirty="0"/>
          </a:p>
          <a:p>
            <a:pPr marL="0" indent="0">
              <a:buNone/>
            </a:pPr>
            <a:r>
              <a:rPr lang="en-US" sz="1250" dirty="0">
                <a:solidFill>
                  <a:schemeClr val="tx1"/>
                </a:solidFill>
              </a:rPr>
              <a:t>Medical students attended, learning the latest advances in pediatric medicine</a:t>
            </a:r>
            <a:endParaRPr lang="en-US" sz="1500" dirty="0"/>
          </a:p>
        </p:txBody>
      </p:sp>
      <p:sp>
        <p:nvSpPr>
          <p:cNvPr id="20" name="ach-card-3"/>
          <p:cNvSpPr/>
          <p:nvPr/>
        </p:nvSpPr>
        <p:spPr>
          <a:xfrm>
            <a:off x="4434840" y="5084064"/>
            <a:ext cx="7205472" cy="1024128"/>
          </a:xfrm>
          <a:prstGeom prst="roundRect">
            <a:avLst>
              <a:gd name="adj" fmla="val 10714"/>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1" name="ach-icon-3-circle"/>
          <p:cNvSpPr/>
          <p:nvPr/>
        </p:nvSpPr>
        <p:spPr>
          <a:xfrm>
            <a:off x="4617720" y="5303520"/>
            <a:ext cx="585216" cy="585216"/>
          </a:xfrm>
          <a:prstGeom prst="ellipse">
            <a:avLst/>
          </a:prstGeom>
          <a:solidFill>
            <a:schemeClr val="accent1"/>
          </a:solidFill>
          <a:ln/>
        </p:spPr>
        <p:txBody>
          <a:bodyPr/>
          <a:lstStyle/>
          <a:p>
            <a:endParaRPr lang="en-US"/>
          </a:p>
        </p:txBody>
      </p:sp>
      <p:pic>
        <p:nvPicPr>
          <p:cNvPr id="22" name="ach-icon-3" descr="preencoded.png"/>
          <p:cNvPicPr>
            <a:picLocks noChangeAspect="1"/>
          </p:cNvPicPr>
          <p:nvPr/>
        </p:nvPicPr>
        <p:blipFill>
          <a:blip r:embed="rId9"/>
          <a:stretch>
            <a:fillRect/>
          </a:stretch>
        </p:blipFill>
        <p:spPr>
          <a:xfrm>
            <a:off x="4769876" y="5455676"/>
            <a:ext cx="280904" cy="280904"/>
          </a:xfrm>
          <a:prstGeom prst="rect">
            <a:avLst/>
          </a:prstGeom>
        </p:spPr>
      </p:pic>
      <p:sp>
        <p:nvSpPr>
          <p:cNvPr id="23" name="Text 13"/>
          <p:cNvSpPr txBox="1"/>
          <p:nvPr/>
        </p:nvSpPr>
        <p:spPr>
          <a:xfrm>
            <a:off x="5394960" y="5175504"/>
            <a:ext cx="6080760" cy="841248"/>
          </a:xfrm>
          <a:prstGeom prst="rect">
            <a:avLst/>
          </a:prstGeom>
          <a:noFill/>
          <a:ln/>
        </p:spPr>
        <p:txBody>
          <a:bodyPr wrap="square" lIns="0" tIns="0" rIns="0" bIns="0" rtlCol="0" anchor="ctr"/>
          <a:lstStyle/>
          <a:p>
            <a:pPr marL="0" indent="0">
              <a:buNone/>
            </a:pPr>
            <a:r>
              <a:rPr lang="en-US" sz="1500" b="1" dirty="0">
                <a:solidFill>
                  <a:schemeClr val="tx2"/>
                </a:solidFill>
              </a:rPr>
              <a:t>Research &amp; programming</a:t>
            </a:r>
            <a:endParaRPr lang="en-US" sz="1500" dirty="0"/>
          </a:p>
          <a:p>
            <a:pPr marL="0" indent="0">
              <a:buNone/>
            </a:pPr>
            <a:r>
              <a:rPr lang="en-US" sz="1250" dirty="0">
                <a:solidFill>
                  <a:schemeClr val="tx1"/>
                </a:solidFill>
              </a:rPr>
              <a:t>7 papers and 2nd place at Suez Canal University's student research conference; qualified for the Egyptian Collegiate Programming Contest (ECPC)</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A Strong National Partnership Base</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The foundation that supports international collaboration</a:t>
            </a:r>
            <a:endParaRPr lang="en-US" sz="1500" dirty="0"/>
          </a:p>
        </p:txBody>
      </p:sp>
      <p:sp>
        <p:nvSpPr>
          <p:cNvPr id="5" name="research-stat"/>
          <p:cNvSpPr/>
          <p:nvPr/>
        </p:nvSpPr>
        <p:spPr>
          <a:xfrm>
            <a:off x="548640" y="1600200"/>
            <a:ext cx="3749040" cy="4526280"/>
          </a:xfrm>
          <a:prstGeom prst="roundRect">
            <a:avLst>
              <a:gd name="adj" fmla="val 3659"/>
            </a:avLst>
          </a:prstGeom>
          <a:solidFill>
            <a:schemeClr val="tx2"/>
          </a:solidFill>
          <a:ln/>
        </p:spPr>
        <p:txBody>
          <a:bodyPr/>
          <a:lstStyle/>
          <a:p>
            <a:endParaRPr lang="en-US"/>
          </a:p>
        </p:txBody>
      </p:sp>
      <p:sp>
        <p:nvSpPr>
          <p:cNvPr id="6" name="Text 3"/>
          <p:cNvSpPr txBox="1"/>
          <p:nvPr/>
        </p:nvSpPr>
        <p:spPr>
          <a:xfrm>
            <a:off x="914400" y="1828800"/>
            <a:ext cx="3017520" cy="1280160"/>
          </a:xfrm>
          <a:prstGeom prst="rect">
            <a:avLst/>
          </a:prstGeom>
          <a:noFill/>
          <a:ln/>
        </p:spPr>
        <p:txBody>
          <a:bodyPr wrap="square" lIns="0" tIns="0" rIns="0" bIns="0" rtlCol="0" anchor="ctr"/>
          <a:lstStyle/>
          <a:p>
            <a:pPr marL="0" indent="0">
              <a:buNone/>
            </a:pPr>
            <a:r>
              <a:rPr lang="en-US" sz="8000" b="1" dirty="0">
                <a:solidFill>
                  <a:srgbClr val="00D4FF"/>
                </a:solidFill>
                <a:latin typeface="Arial" pitchFamily="34" charset="0"/>
                <a:ea typeface="Arial" pitchFamily="34" charset="-122"/>
                <a:cs typeface="Arial" pitchFamily="34" charset="-120"/>
              </a:rPr>
              <a:t>23</a:t>
            </a:r>
            <a:endParaRPr lang="en-US" sz="8000" dirty="0"/>
          </a:p>
        </p:txBody>
      </p:sp>
      <p:sp>
        <p:nvSpPr>
          <p:cNvPr id="7" name="Text 4"/>
          <p:cNvSpPr txBox="1"/>
          <p:nvPr/>
        </p:nvSpPr>
        <p:spPr>
          <a:xfrm>
            <a:off x="914400" y="3108960"/>
            <a:ext cx="3017520" cy="1600200"/>
          </a:xfrm>
          <a:prstGeom prst="rect">
            <a:avLst/>
          </a:prstGeom>
          <a:noFill/>
          <a:ln/>
        </p:spPr>
        <p:txBody>
          <a:bodyPr wrap="square" lIns="0" tIns="0" rIns="0" bIns="0" rtlCol="0" anchor="t"/>
          <a:lstStyle/>
          <a:p>
            <a:pPr marL="0" indent="0">
              <a:buNone/>
            </a:pPr>
            <a:r>
              <a:rPr lang="en-US" sz="1800" b="1" dirty="0">
                <a:solidFill>
                  <a:srgbClr val="FFFFFF"/>
                </a:solidFill>
              </a:rPr>
              <a:t>research papers in 2024–2025</a:t>
            </a:r>
            <a:endParaRPr lang="en-US" sz="1800" dirty="0"/>
          </a:p>
          <a:p>
            <a:pPr marL="0" indent="0">
              <a:buNone/>
            </a:pPr>
            <a:r>
              <a:rPr lang="en-US" sz="1400" dirty="0">
                <a:solidFill>
                  <a:srgbClr val="C9D8EC"/>
                </a:solidFill>
              </a:rPr>
              <a:t>from pharmacy research cooperation with Port Said University, published in international journals including Q1–Q3 titles</a:t>
            </a:r>
            <a:endParaRPr lang="en-US" sz="1800" dirty="0"/>
          </a:p>
        </p:txBody>
      </p:sp>
      <p:pic>
        <p:nvPicPr>
          <p:cNvPr id="8" name="national-photo" descr="Partnership meeting with EPNU delegation"/>
          <p:cNvPicPr>
            <a:picLocks noChangeAspect="1"/>
          </p:cNvPicPr>
          <p:nvPr/>
        </p:nvPicPr>
        <p:blipFill>
          <a:blip r:embed="rId3"/>
          <a:stretch>
            <a:fillRect/>
          </a:stretch>
        </p:blipFill>
        <p:spPr>
          <a:xfrm>
            <a:off x="914400" y="4754880"/>
            <a:ext cx="3017520" cy="1143000"/>
          </a:xfrm>
          <a:prstGeom prst="rect">
            <a:avLst/>
          </a:prstGeom>
        </p:spPr>
      </p:pic>
      <p:sp>
        <p:nvSpPr>
          <p:cNvPr id="9" name="partner-card-0"/>
          <p:cNvSpPr/>
          <p:nvPr/>
        </p:nvSpPr>
        <p:spPr>
          <a:xfrm>
            <a:off x="4526280" y="1600200"/>
            <a:ext cx="3457804" cy="1371600"/>
          </a:xfrm>
          <a:prstGeom prst="roundRect">
            <a:avLst>
              <a:gd name="adj" fmla="val 8000"/>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0" name="partner-icon-0-circle"/>
          <p:cNvSpPr/>
          <p:nvPr/>
        </p:nvSpPr>
        <p:spPr>
          <a:xfrm>
            <a:off x="4727448" y="1828800"/>
            <a:ext cx="530352" cy="530352"/>
          </a:xfrm>
          <a:prstGeom prst="ellipse">
            <a:avLst/>
          </a:prstGeom>
          <a:solidFill>
            <a:schemeClr val="accent1"/>
          </a:solidFill>
          <a:ln/>
        </p:spPr>
        <p:txBody>
          <a:bodyPr/>
          <a:lstStyle/>
          <a:p>
            <a:endParaRPr lang="en-US"/>
          </a:p>
        </p:txBody>
      </p:sp>
      <p:pic>
        <p:nvPicPr>
          <p:cNvPr id="11" name="partner-icon-0" descr="preencoded.png"/>
          <p:cNvPicPr>
            <a:picLocks noChangeAspect="1"/>
          </p:cNvPicPr>
          <p:nvPr/>
        </p:nvPicPr>
        <p:blipFill>
          <a:blip r:embed="rId4"/>
          <a:stretch>
            <a:fillRect/>
          </a:stretch>
        </p:blipFill>
        <p:spPr>
          <a:xfrm>
            <a:off x="4865340" y="1966692"/>
            <a:ext cx="254569" cy="254569"/>
          </a:xfrm>
          <a:prstGeom prst="rect">
            <a:avLst/>
          </a:prstGeom>
        </p:spPr>
      </p:pic>
      <p:sp>
        <p:nvSpPr>
          <p:cNvPr id="12" name="Text 7"/>
          <p:cNvSpPr txBox="1"/>
          <p:nvPr/>
        </p:nvSpPr>
        <p:spPr>
          <a:xfrm>
            <a:off x="5394960" y="1737360"/>
            <a:ext cx="2451964" cy="1097280"/>
          </a:xfrm>
          <a:prstGeom prst="rect">
            <a:avLst/>
          </a:prstGeom>
          <a:noFill/>
          <a:ln/>
        </p:spPr>
        <p:txBody>
          <a:bodyPr wrap="square" lIns="0" tIns="0" rIns="0" bIns="0" rtlCol="0" anchor="ctr"/>
          <a:lstStyle/>
          <a:p>
            <a:pPr marL="0" indent="0">
              <a:buNone/>
            </a:pPr>
            <a:r>
              <a:rPr lang="en-US" sz="1450" b="1" dirty="0">
                <a:solidFill>
                  <a:schemeClr val="tx2"/>
                </a:solidFill>
              </a:rPr>
              <a:t>Port Said University</a:t>
            </a:r>
            <a:endParaRPr lang="en-US" sz="1450" dirty="0"/>
          </a:p>
          <a:p>
            <a:pPr marL="0" indent="0">
              <a:buNone/>
            </a:pPr>
            <a:r>
              <a:rPr lang="en-US" sz="1250" dirty="0">
                <a:solidFill>
                  <a:schemeClr val="tx1"/>
                </a:solidFill>
              </a:rPr>
              <a:t>Main academic partner; joint pharmacy research and shared academic events</a:t>
            </a:r>
            <a:endParaRPr lang="en-US" sz="1450" dirty="0"/>
          </a:p>
        </p:txBody>
      </p:sp>
      <p:sp>
        <p:nvSpPr>
          <p:cNvPr id="13" name="partner-card-1"/>
          <p:cNvSpPr/>
          <p:nvPr/>
        </p:nvSpPr>
        <p:spPr>
          <a:xfrm>
            <a:off x="8185252" y="1600200"/>
            <a:ext cx="3457804" cy="1371600"/>
          </a:xfrm>
          <a:prstGeom prst="roundRect">
            <a:avLst>
              <a:gd name="adj" fmla="val 8000"/>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4" name="partner-icon-1-circle"/>
          <p:cNvSpPr/>
          <p:nvPr/>
        </p:nvSpPr>
        <p:spPr>
          <a:xfrm>
            <a:off x="8386420" y="1828800"/>
            <a:ext cx="530352" cy="530352"/>
          </a:xfrm>
          <a:prstGeom prst="ellipse">
            <a:avLst/>
          </a:prstGeom>
          <a:solidFill>
            <a:schemeClr val="accent1"/>
          </a:solidFill>
          <a:ln/>
        </p:spPr>
        <p:txBody>
          <a:bodyPr/>
          <a:lstStyle/>
          <a:p>
            <a:endParaRPr lang="en-US"/>
          </a:p>
        </p:txBody>
      </p:sp>
      <p:pic>
        <p:nvPicPr>
          <p:cNvPr id="15" name="partner-icon-1" descr="preencoded.png"/>
          <p:cNvPicPr>
            <a:picLocks noChangeAspect="1"/>
          </p:cNvPicPr>
          <p:nvPr/>
        </p:nvPicPr>
        <p:blipFill>
          <a:blip r:embed="rId5"/>
          <a:stretch>
            <a:fillRect/>
          </a:stretch>
        </p:blipFill>
        <p:spPr>
          <a:xfrm>
            <a:off x="8524311" y="1966692"/>
            <a:ext cx="254569" cy="254569"/>
          </a:xfrm>
          <a:prstGeom prst="rect">
            <a:avLst/>
          </a:prstGeom>
        </p:spPr>
      </p:pic>
      <p:sp>
        <p:nvSpPr>
          <p:cNvPr id="16" name="Text 10"/>
          <p:cNvSpPr txBox="1"/>
          <p:nvPr/>
        </p:nvSpPr>
        <p:spPr>
          <a:xfrm>
            <a:off x="9053932" y="1737360"/>
            <a:ext cx="2451964" cy="1097280"/>
          </a:xfrm>
          <a:prstGeom prst="rect">
            <a:avLst/>
          </a:prstGeom>
          <a:noFill/>
          <a:ln/>
        </p:spPr>
        <p:txBody>
          <a:bodyPr wrap="square" lIns="0" tIns="0" rIns="0" bIns="0" rtlCol="0" anchor="ctr"/>
          <a:lstStyle/>
          <a:p>
            <a:pPr marL="0" indent="0">
              <a:buNone/>
            </a:pPr>
            <a:r>
              <a:rPr lang="en-US" sz="1450" b="1" dirty="0">
                <a:solidFill>
                  <a:schemeClr val="tx2"/>
                </a:solidFill>
              </a:rPr>
              <a:t>ITI &amp; Creativa Port Said</a:t>
            </a:r>
            <a:endParaRPr lang="en-US" sz="1450" dirty="0"/>
          </a:p>
          <a:p>
            <a:pPr marL="0" indent="0">
              <a:buNone/>
            </a:pPr>
            <a:r>
              <a:rPr lang="en-US" sz="1250" dirty="0">
                <a:solidFill>
                  <a:schemeClr val="tx1"/>
                </a:solidFill>
              </a:rPr>
              <a:t>Cooperation talks on digital-skills training for CS students</a:t>
            </a:r>
            <a:endParaRPr lang="en-US" sz="1450" dirty="0"/>
          </a:p>
        </p:txBody>
      </p:sp>
      <p:sp>
        <p:nvSpPr>
          <p:cNvPr id="17" name="partner-card-2"/>
          <p:cNvSpPr/>
          <p:nvPr/>
        </p:nvSpPr>
        <p:spPr>
          <a:xfrm>
            <a:off x="4526280" y="3172968"/>
            <a:ext cx="3457804" cy="1371600"/>
          </a:xfrm>
          <a:prstGeom prst="roundRect">
            <a:avLst>
              <a:gd name="adj" fmla="val 8000"/>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8" name="partner-icon-2-circle"/>
          <p:cNvSpPr/>
          <p:nvPr/>
        </p:nvSpPr>
        <p:spPr>
          <a:xfrm>
            <a:off x="4727448" y="3401568"/>
            <a:ext cx="530352" cy="530352"/>
          </a:xfrm>
          <a:prstGeom prst="ellipse">
            <a:avLst/>
          </a:prstGeom>
          <a:solidFill>
            <a:schemeClr val="accent1"/>
          </a:solidFill>
          <a:ln/>
        </p:spPr>
        <p:txBody>
          <a:bodyPr/>
          <a:lstStyle/>
          <a:p>
            <a:endParaRPr lang="en-US"/>
          </a:p>
        </p:txBody>
      </p:sp>
      <p:pic>
        <p:nvPicPr>
          <p:cNvPr id="19" name="partner-icon-2" descr="preencoded.png"/>
          <p:cNvPicPr>
            <a:picLocks noChangeAspect="1"/>
          </p:cNvPicPr>
          <p:nvPr/>
        </p:nvPicPr>
        <p:blipFill>
          <a:blip r:embed="rId6"/>
          <a:stretch>
            <a:fillRect/>
          </a:stretch>
        </p:blipFill>
        <p:spPr>
          <a:xfrm>
            <a:off x="4865340" y="3539460"/>
            <a:ext cx="254569" cy="254569"/>
          </a:xfrm>
          <a:prstGeom prst="rect">
            <a:avLst/>
          </a:prstGeom>
        </p:spPr>
      </p:pic>
      <p:sp>
        <p:nvSpPr>
          <p:cNvPr id="20" name="Text 13"/>
          <p:cNvSpPr txBox="1"/>
          <p:nvPr/>
        </p:nvSpPr>
        <p:spPr>
          <a:xfrm>
            <a:off x="5394960" y="3310128"/>
            <a:ext cx="2451964" cy="1097280"/>
          </a:xfrm>
          <a:prstGeom prst="rect">
            <a:avLst/>
          </a:prstGeom>
          <a:noFill/>
          <a:ln/>
        </p:spPr>
        <p:txBody>
          <a:bodyPr wrap="square" lIns="0" tIns="0" rIns="0" bIns="0" rtlCol="0" anchor="ctr"/>
          <a:lstStyle/>
          <a:p>
            <a:pPr marL="0" indent="0">
              <a:buNone/>
            </a:pPr>
            <a:r>
              <a:rPr lang="en-US" sz="1450" b="1" dirty="0">
                <a:solidFill>
                  <a:schemeClr val="tx2"/>
                </a:solidFill>
              </a:rPr>
              <a:t>Suez Canal Authority Training Center</a:t>
            </a:r>
            <a:endParaRPr lang="en-US" sz="1450" dirty="0"/>
          </a:p>
          <a:p>
            <a:pPr marL="0" indent="0">
              <a:buNone/>
            </a:pPr>
            <a:r>
              <a:rPr lang="en-US" sz="1250" dirty="0">
                <a:solidFill>
                  <a:schemeClr val="tx1"/>
                </a:solidFill>
              </a:rPr>
              <a:t>Practical engineering workshops</a:t>
            </a:r>
            <a:endParaRPr lang="en-US" sz="1450" dirty="0"/>
          </a:p>
        </p:txBody>
      </p:sp>
      <p:sp>
        <p:nvSpPr>
          <p:cNvPr id="21" name="partner-card-3"/>
          <p:cNvSpPr/>
          <p:nvPr/>
        </p:nvSpPr>
        <p:spPr>
          <a:xfrm>
            <a:off x="8185252" y="3172968"/>
            <a:ext cx="3457804" cy="1371600"/>
          </a:xfrm>
          <a:prstGeom prst="roundRect">
            <a:avLst>
              <a:gd name="adj" fmla="val 8000"/>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2" name="partner-icon-3-circle"/>
          <p:cNvSpPr/>
          <p:nvPr/>
        </p:nvSpPr>
        <p:spPr>
          <a:xfrm>
            <a:off x="8386420" y="3401568"/>
            <a:ext cx="530352" cy="530352"/>
          </a:xfrm>
          <a:prstGeom prst="ellipse">
            <a:avLst/>
          </a:prstGeom>
          <a:solidFill>
            <a:schemeClr val="accent1"/>
          </a:solidFill>
          <a:ln/>
        </p:spPr>
        <p:txBody>
          <a:bodyPr/>
          <a:lstStyle/>
          <a:p>
            <a:endParaRPr lang="en-US"/>
          </a:p>
        </p:txBody>
      </p:sp>
      <p:pic>
        <p:nvPicPr>
          <p:cNvPr id="23" name="partner-icon-3" descr="preencoded.png"/>
          <p:cNvPicPr>
            <a:picLocks noChangeAspect="1"/>
          </p:cNvPicPr>
          <p:nvPr/>
        </p:nvPicPr>
        <p:blipFill>
          <a:blip r:embed="rId7"/>
          <a:stretch>
            <a:fillRect/>
          </a:stretch>
        </p:blipFill>
        <p:spPr>
          <a:xfrm>
            <a:off x="8524311" y="3539460"/>
            <a:ext cx="254569" cy="254569"/>
          </a:xfrm>
          <a:prstGeom prst="rect">
            <a:avLst/>
          </a:prstGeom>
        </p:spPr>
      </p:pic>
      <p:sp>
        <p:nvSpPr>
          <p:cNvPr id="24" name="Text 16"/>
          <p:cNvSpPr txBox="1"/>
          <p:nvPr/>
        </p:nvSpPr>
        <p:spPr>
          <a:xfrm>
            <a:off x="9053932" y="3310128"/>
            <a:ext cx="2451964" cy="1097280"/>
          </a:xfrm>
          <a:prstGeom prst="rect">
            <a:avLst/>
          </a:prstGeom>
          <a:noFill/>
          <a:ln/>
        </p:spPr>
        <p:txBody>
          <a:bodyPr wrap="square" lIns="0" tIns="0" rIns="0" bIns="0" rtlCol="0" anchor="ctr"/>
          <a:lstStyle/>
          <a:p>
            <a:pPr marL="0" indent="0">
              <a:buNone/>
            </a:pPr>
            <a:r>
              <a:rPr lang="en-US" sz="1450" b="1" dirty="0">
                <a:solidFill>
                  <a:schemeClr val="tx2"/>
                </a:solidFill>
              </a:rPr>
              <a:t>Ahl Masr Hospital &amp; BEDO</a:t>
            </a:r>
            <a:endParaRPr lang="en-US" sz="1450" dirty="0"/>
          </a:p>
          <a:p>
            <a:pPr marL="0" indent="0">
              <a:buNone/>
            </a:pPr>
            <a:r>
              <a:rPr lang="en-US" sz="1250" dirty="0">
                <a:solidFill>
                  <a:schemeClr val="tx1"/>
                </a:solidFill>
              </a:rPr>
              <a:t>Signed protocols: clinical training; industrial training &amp; joint applied research</a:t>
            </a:r>
            <a:endParaRPr lang="en-US" sz="1450" dirty="0"/>
          </a:p>
        </p:txBody>
      </p:sp>
      <p:sp>
        <p:nvSpPr>
          <p:cNvPr id="25" name="partner-card-4"/>
          <p:cNvSpPr/>
          <p:nvPr/>
        </p:nvSpPr>
        <p:spPr>
          <a:xfrm>
            <a:off x="4526280" y="4745736"/>
            <a:ext cx="3457804" cy="1371600"/>
          </a:xfrm>
          <a:prstGeom prst="roundRect">
            <a:avLst>
              <a:gd name="adj" fmla="val 8000"/>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6" name="partner-icon-4-circle"/>
          <p:cNvSpPr/>
          <p:nvPr/>
        </p:nvSpPr>
        <p:spPr>
          <a:xfrm>
            <a:off x="4727448" y="4974336"/>
            <a:ext cx="530352" cy="530352"/>
          </a:xfrm>
          <a:prstGeom prst="ellipse">
            <a:avLst/>
          </a:prstGeom>
          <a:solidFill>
            <a:schemeClr val="accent1"/>
          </a:solidFill>
          <a:ln/>
        </p:spPr>
        <p:txBody>
          <a:bodyPr/>
          <a:lstStyle/>
          <a:p>
            <a:endParaRPr lang="en-US"/>
          </a:p>
        </p:txBody>
      </p:sp>
      <p:pic>
        <p:nvPicPr>
          <p:cNvPr id="27" name="partner-icon-4" descr="preencoded.png"/>
          <p:cNvPicPr>
            <a:picLocks noChangeAspect="1"/>
          </p:cNvPicPr>
          <p:nvPr/>
        </p:nvPicPr>
        <p:blipFill>
          <a:blip r:embed="rId8"/>
          <a:stretch>
            <a:fillRect/>
          </a:stretch>
        </p:blipFill>
        <p:spPr>
          <a:xfrm>
            <a:off x="4865340" y="5112228"/>
            <a:ext cx="254569" cy="254569"/>
          </a:xfrm>
          <a:prstGeom prst="rect">
            <a:avLst/>
          </a:prstGeom>
        </p:spPr>
      </p:pic>
      <p:sp>
        <p:nvSpPr>
          <p:cNvPr id="28" name="Text 19"/>
          <p:cNvSpPr txBox="1"/>
          <p:nvPr/>
        </p:nvSpPr>
        <p:spPr>
          <a:xfrm>
            <a:off x="5394960" y="4882896"/>
            <a:ext cx="2451964" cy="1097280"/>
          </a:xfrm>
          <a:prstGeom prst="rect">
            <a:avLst/>
          </a:prstGeom>
          <a:noFill/>
          <a:ln/>
        </p:spPr>
        <p:txBody>
          <a:bodyPr wrap="square" lIns="0" tIns="0" rIns="0" bIns="0" rtlCol="0" anchor="ctr"/>
          <a:lstStyle/>
          <a:p>
            <a:pPr marL="0" indent="0">
              <a:buNone/>
            </a:pPr>
            <a:r>
              <a:rPr lang="en-US" sz="1450" b="1" dirty="0">
                <a:solidFill>
                  <a:schemeClr val="tx2"/>
                </a:solidFill>
              </a:rPr>
              <a:t>Armed Forces College of Medicine</a:t>
            </a:r>
            <a:endParaRPr lang="en-US" sz="1450" dirty="0"/>
          </a:p>
          <a:p>
            <a:pPr marL="0" indent="0">
              <a:buNone/>
            </a:pPr>
            <a:r>
              <a:rPr lang="en-US" sz="1250" dirty="0">
                <a:solidFill>
                  <a:schemeClr val="tx1"/>
                </a:solidFill>
              </a:rPr>
              <a:t>Visit to its anatomy hall and clinical simulation center</a:t>
            </a:r>
            <a:endParaRPr lang="en-US" sz="1450" dirty="0"/>
          </a:p>
        </p:txBody>
      </p:sp>
      <p:sp>
        <p:nvSpPr>
          <p:cNvPr id="29" name="partner-card-5"/>
          <p:cNvSpPr/>
          <p:nvPr/>
        </p:nvSpPr>
        <p:spPr>
          <a:xfrm>
            <a:off x="8185252" y="4745736"/>
            <a:ext cx="3457804" cy="1371600"/>
          </a:xfrm>
          <a:prstGeom prst="roundRect">
            <a:avLst>
              <a:gd name="adj" fmla="val 8000"/>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30" name="partner-icon-5-circle"/>
          <p:cNvSpPr/>
          <p:nvPr/>
        </p:nvSpPr>
        <p:spPr>
          <a:xfrm>
            <a:off x="8386420" y="4974336"/>
            <a:ext cx="530352" cy="530352"/>
          </a:xfrm>
          <a:prstGeom prst="ellipse">
            <a:avLst/>
          </a:prstGeom>
          <a:solidFill>
            <a:schemeClr val="accent1"/>
          </a:solidFill>
          <a:ln/>
        </p:spPr>
        <p:txBody>
          <a:bodyPr/>
          <a:lstStyle/>
          <a:p>
            <a:endParaRPr lang="en-US"/>
          </a:p>
        </p:txBody>
      </p:sp>
      <p:pic>
        <p:nvPicPr>
          <p:cNvPr id="31" name="partner-icon-5" descr="preencoded.png"/>
          <p:cNvPicPr>
            <a:picLocks noChangeAspect="1"/>
          </p:cNvPicPr>
          <p:nvPr/>
        </p:nvPicPr>
        <p:blipFill>
          <a:blip r:embed="rId9"/>
          <a:stretch>
            <a:fillRect/>
          </a:stretch>
        </p:blipFill>
        <p:spPr>
          <a:xfrm>
            <a:off x="8524311" y="5112228"/>
            <a:ext cx="254569" cy="254569"/>
          </a:xfrm>
          <a:prstGeom prst="rect">
            <a:avLst/>
          </a:prstGeom>
        </p:spPr>
      </p:pic>
      <p:sp>
        <p:nvSpPr>
          <p:cNvPr id="32" name="Text 22"/>
          <p:cNvSpPr txBox="1"/>
          <p:nvPr/>
        </p:nvSpPr>
        <p:spPr>
          <a:xfrm>
            <a:off x="9053932" y="4882896"/>
            <a:ext cx="2451964" cy="1097280"/>
          </a:xfrm>
          <a:prstGeom prst="rect">
            <a:avLst/>
          </a:prstGeom>
          <a:noFill/>
          <a:ln/>
        </p:spPr>
        <p:txBody>
          <a:bodyPr wrap="square" lIns="0" tIns="0" rIns="0" bIns="0" rtlCol="0" anchor="ctr"/>
          <a:lstStyle/>
          <a:p>
            <a:pPr marL="0" indent="0">
              <a:buNone/>
            </a:pPr>
            <a:r>
              <a:rPr lang="en-US" sz="1450" b="1" dirty="0">
                <a:solidFill>
                  <a:schemeClr val="tx2"/>
                </a:solidFill>
              </a:rPr>
              <a:t>Port Said Governorate &amp; Healthcare Authority</a:t>
            </a:r>
            <a:endParaRPr lang="en-US" sz="1450" dirty="0"/>
          </a:p>
          <a:p>
            <a:pPr marL="0" indent="0">
              <a:buNone/>
            </a:pPr>
            <a:r>
              <a:rPr lang="en-US" sz="1250" dirty="0">
                <a:solidFill>
                  <a:schemeClr val="tx1"/>
                </a:solidFill>
              </a:rPr>
              <a:t>Community development and health training</a:t>
            </a:r>
            <a:endParaRPr lang="en-US" sz="1450" dirty="0"/>
          </a:p>
        </p:txBody>
      </p:sp>
      <p:sp>
        <p:nvSpPr>
          <p:cNvPr id="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1"/>
          <p:cNvSpPr>
            <a:spLocks noGrp="1"/>
          </p:cNvSpPr>
          <p:nvPr>
            <p:ph type="title" idx="102" hasCustomPrompt="1"/>
          </p:nvPr>
        </p:nvSpPr>
        <p:spPr>
          <a:xfrm>
            <a:off x="548640" y="347472"/>
            <a:ext cx="10058400" cy="566928"/>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Partnership Opportunities</a:t>
            </a:r>
            <a:endParaRPr lang="en-US" sz="3000" dirty="0"/>
          </a:p>
        </p:txBody>
      </p:sp>
      <p:sp>
        <p:nvSpPr>
          <p:cNvPr id="4" name="Text 1"/>
          <p:cNvSpPr>
            <a:spLocks noGrp="1"/>
          </p:cNvSpPr>
          <p:nvPr>
            <p:ph type="body" idx="103" hasCustomPrompt="1"/>
          </p:nvPr>
        </p:nvSpPr>
        <p:spPr>
          <a:xfrm>
            <a:off x="548640" y="932688"/>
            <a:ext cx="10058400" cy="365760"/>
          </a:xfrm>
          <a:prstGeom prst="rect">
            <a:avLst/>
          </a:prstGeom>
          <a:noFill/>
          <a:ln/>
        </p:spPr>
        <p:txBody>
          <a:bodyPr wrap="square" lIns="0" tIns="0" rIns="0" bIns="0" rtlCol="0" anchor="t"/>
          <a:lstStyle/>
          <a:p>
            <a:pPr marL="0" indent="0" algn="l">
              <a:buNone/>
            </a:pPr>
            <a:r>
              <a:rPr lang="en-US" sz="1500" dirty="0">
                <a:solidFill>
                  <a:schemeClr val="accent1"/>
                </a:solidFill>
              </a:rPr>
              <a:t>Where we invite international partners to build with us</a:t>
            </a:r>
            <a:endParaRPr lang="en-US" sz="1500" dirty="0"/>
          </a:p>
        </p:txBody>
      </p:sp>
      <p:sp>
        <p:nvSpPr>
          <p:cNvPr id="5" name="opp-card-0"/>
          <p:cNvSpPr/>
          <p:nvPr/>
        </p:nvSpPr>
        <p:spPr>
          <a:xfrm>
            <a:off x="548640" y="1600200"/>
            <a:ext cx="3520440" cy="2148840"/>
          </a:xfrm>
          <a:prstGeom prst="roundRect">
            <a:avLst>
              <a:gd name="adj" fmla="val 5106"/>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6" name="opp-icon-0-circle"/>
          <p:cNvSpPr/>
          <p:nvPr/>
        </p:nvSpPr>
        <p:spPr>
          <a:xfrm>
            <a:off x="822960" y="1874520"/>
            <a:ext cx="685800" cy="685800"/>
          </a:xfrm>
          <a:prstGeom prst="ellipse">
            <a:avLst/>
          </a:prstGeom>
          <a:solidFill>
            <a:schemeClr val="accent1"/>
          </a:solidFill>
          <a:ln/>
        </p:spPr>
        <p:txBody>
          <a:bodyPr/>
          <a:lstStyle/>
          <a:p>
            <a:endParaRPr lang="en-US"/>
          </a:p>
        </p:txBody>
      </p:sp>
      <p:pic>
        <p:nvPicPr>
          <p:cNvPr id="7" name="opp-icon-0" descr="preencoded.png"/>
          <p:cNvPicPr>
            <a:picLocks noChangeAspect="1"/>
          </p:cNvPicPr>
          <p:nvPr/>
        </p:nvPicPr>
        <p:blipFill>
          <a:blip r:embed="rId3"/>
          <a:stretch>
            <a:fillRect/>
          </a:stretch>
        </p:blipFill>
        <p:spPr>
          <a:xfrm>
            <a:off x="1001268" y="2052828"/>
            <a:ext cx="329184" cy="329184"/>
          </a:xfrm>
          <a:prstGeom prst="rect">
            <a:avLst/>
          </a:prstGeom>
        </p:spPr>
      </p:pic>
      <p:sp>
        <p:nvSpPr>
          <p:cNvPr id="8" name="Text 4"/>
          <p:cNvSpPr txBox="1"/>
          <p:nvPr/>
        </p:nvSpPr>
        <p:spPr>
          <a:xfrm>
            <a:off x="822960" y="2651760"/>
            <a:ext cx="2971800" cy="411480"/>
          </a:xfrm>
          <a:prstGeom prst="rect">
            <a:avLst/>
          </a:prstGeom>
          <a:noFill/>
          <a:ln/>
        </p:spPr>
        <p:txBody>
          <a:bodyPr wrap="square" lIns="0" tIns="0" rIns="0" bIns="0" rtlCol="0" anchor="ctr"/>
          <a:lstStyle/>
          <a:p>
            <a:pPr marL="0" indent="0">
              <a:buNone/>
            </a:pPr>
            <a:r>
              <a:rPr lang="en-US" sz="1700" b="1" dirty="0">
                <a:solidFill>
                  <a:schemeClr val="tx2"/>
                </a:solidFill>
              </a:rPr>
              <a:t>Student &amp; staff exchange</a:t>
            </a:r>
            <a:endParaRPr lang="en-US" sz="1700" dirty="0"/>
          </a:p>
        </p:txBody>
      </p:sp>
      <p:sp>
        <p:nvSpPr>
          <p:cNvPr id="9" name="Text 5"/>
          <p:cNvSpPr txBox="1"/>
          <p:nvPr/>
        </p:nvSpPr>
        <p:spPr>
          <a:xfrm>
            <a:off x="822960" y="3063240"/>
            <a:ext cx="2971800" cy="594360"/>
          </a:xfrm>
          <a:prstGeom prst="rect">
            <a:avLst/>
          </a:prstGeom>
          <a:noFill/>
          <a:ln/>
        </p:spPr>
        <p:txBody>
          <a:bodyPr wrap="square" lIns="0" tIns="0" rIns="0" bIns="0" rtlCol="0" anchor="t"/>
          <a:lstStyle/>
          <a:p>
            <a:pPr marL="0" indent="0">
              <a:buNone/>
            </a:pPr>
            <a:r>
              <a:rPr lang="en-US" sz="1300" dirty="0">
                <a:solidFill>
                  <a:schemeClr val="tx1"/>
                </a:solidFill>
              </a:rPr>
              <a:t>Semester exchange and short mobility on our credit-hour/ECTS framework</a:t>
            </a:r>
            <a:endParaRPr lang="en-US" sz="1300" dirty="0"/>
          </a:p>
        </p:txBody>
      </p:sp>
      <p:sp>
        <p:nvSpPr>
          <p:cNvPr id="10" name="opp-card-1"/>
          <p:cNvSpPr/>
          <p:nvPr/>
        </p:nvSpPr>
        <p:spPr>
          <a:xfrm>
            <a:off x="4315968" y="1600200"/>
            <a:ext cx="3520440" cy="2148840"/>
          </a:xfrm>
          <a:prstGeom prst="roundRect">
            <a:avLst>
              <a:gd name="adj" fmla="val 5106"/>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1" name="opp-icon-1-circle"/>
          <p:cNvSpPr/>
          <p:nvPr/>
        </p:nvSpPr>
        <p:spPr>
          <a:xfrm>
            <a:off x="4590288" y="1874520"/>
            <a:ext cx="685800" cy="685800"/>
          </a:xfrm>
          <a:prstGeom prst="ellipse">
            <a:avLst/>
          </a:prstGeom>
          <a:solidFill>
            <a:schemeClr val="accent1"/>
          </a:solidFill>
          <a:ln/>
        </p:spPr>
        <p:txBody>
          <a:bodyPr/>
          <a:lstStyle/>
          <a:p>
            <a:endParaRPr lang="en-US"/>
          </a:p>
        </p:txBody>
      </p:sp>
      <p:pic>
        <p:nvPicPr>
          <p:cNvPr id="12" name="opp-icon-1" descr="preencoded.png"/>
          <p:cNvPicPr>
            <a:picLocks noChangeAspect="1"/>
          </p:cNvPicPr>
          <p:nvPr/>
        </p:nvPicPr>
        <p:blipFill>
          <a:blip r:embed="rId4"/>
          <a:stretch>
            <a:fillRect/>
          </a:stretch>
        </p:blipFill>
        <p:spPr>
          <a:xfrm>
            <a:off x="4768596" y="2052828"/>
            <a:ext cx="329184" cy="329184"/>
          </a:xfrm>
          <a:prstGeom prst="rect">
            <a:avLst/>
          </a:prstGeom>
        </p:spPr>
      </p:pic>
      <p:sp>
        <p:nvSpPr>
          <p:cNvPr id="13" name="Text 8"/>
          <p:cNvSpPr txBox="1"/>
          <p:nvPr/>
        </p:nvSpPr>
        <p:spPr>
          <a:xfrm>
            <a:off x="4590288" y="2651760"/>
            <a:ext cx="2971800" cy="411480"/>
          </a:xfrm>
          <a:prstGeom prst="rect">
            <a:avLst/>
          </a:prstGeom>
          <a:noFill/>
          <a:ln/>
        </p:spPr>
        <p:txBody>
          <a:bodyPr wrap="square" lIns="0" tIns="0" rIns="0" bIns="0" rtlCol="0" anchor="ctr"/>
          <a:lstStyle/>
          <a:p>
            <a:pPr marL="0" indent="0">
              <a:buNone/>
            </a:pPr>
            <a:r>
              <a:rPr lang="en-US" sz="1700" b="1" dirty="0">
                <a:solidFill>
                  <a:schemeClr val="tx2"/>
                </a:solidFill>
              </a:rPr>
              <a:t>Joint &amp; dual degrees</a:t>
            </a:r>
            <a:endParaRPr lang="en-US" sz="1700" dirty="0"/>
          </a:p>
        </p:txBody>
      </p:sp>
      <p:sp>
        <p:nvSpPr>
          <p:cNvPr id="14" name="Text 9"/>
          <p:cNvSpPr txBox="1"/>
          <p:nvPr/>
        </p:nvSpPr>
        <p:spPr>
          <a:xfrm>
            <a:off x="4590288" y="3063240"/>
            <a:ext cx="2971800" cy="594360"/>
          </a:xfrm>
          <a:prstGeom prst="rect">
            <a:avLst/>
          </a:prstGeom>
          <a:noFill/>
          <a:ln/>
        </p:spPr>
        <p:txBody>
          <a:bodyPr wrap="square" lIns="0" tIns="0" rIns="0" bIns="0" rtlCol="0" anchor="t"/>
          <a:lstStyle/>
          <a:p>
            <a:pPr marL="0" indent="0">
              <a:buNone/>
            </a:pPr>
            <a:r>
              <a:rPr lang="en-US" sz="1300" dirty="0">
                <a:solidFill>
                  <a:schemeClr val="tx1"/>
                </a:solidFill>
              </a:rPr>
              <a:t>Co-designed programs in AI, health sciences, pharmacy and engineering</a:t>
            </a:r>
            <a:endParaRPr lang="en-US" sz="1300" dirty="0"/>
          </a:p>
        </p:txBody>
      </p:sp>
      <p:sp>
        <p:nvSpPr>
          <p:cNvPr id="15" name="opp-card-2"/>
          <p:cNvSpPr/>
          <p:nvPr/>
        </p:nvSpPr>
        <p:spPr>
          <a:xfrm>
            <a:off x="8083296" y="1600200"/>
            <a:ext cx="3520440" cy="2148840"/>
          </a:xfrm>
          <a:prstGeom prst="roundRect">
            <a:avLst>
              <a:gd name="adj" fmla="val 5106"/>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16" name="opp-icon-2-circle"/>
          <p:cNvSpPr/>
          <p:nvPr/>
        </p:nvSpPr>
        <p:spPr>
          <a:xfrm>
            <a:off x="8357616" y="1874520"/>
            <a:ext cx="685800" cy="685800"/>
          </a:xfrm>
          <a:prstGeom prst="ellipse">
            <a:avLst/>
          </a:prstGeom>
          <a:solidFill>
            <a:schemeClr val="accent1"/>
          </a:solidFill>
          <a:ln/>
        </p:spPr>
        <p:txBody>
          <a:bodyPr/>
          <a:lstStyle/>
          <a:p>
            <a:endParaRPr lang="en-US"/>
          </a:p>
        </p:txBody>
      </p:sp>
      <p:pic>
        <p:nvPicPr>
          <p:cNvPr id="17" name="opp-icon-2" descr="preencoded.png"/>
          <p:cNvPicPr>
            <a:picLocks noChangeAspect="1"/>
          </p:cNvPicPr>
          <p:nvPr/>
        </p:nvPicPr>
        <p:blipFill>
          <a:blip r:embed="rId5"/>
          <a:stretch>
            <a:fillRect/>
          </a:stretch>
        </p:blipFill>
        <p:spPr>
          <a:xfrm>
            <a:off x="8535924" y="2052828"/>
            <a:ext cx="329184" cy="329184"/>
          </a:xfrm>
          <a:prstGeom prst="rect">
            <a:avLst/>
          </a:prstGeom>
        </p:spPr>
      </p:pic>
      <p:sp>
        <p:nvSpPr>
          <p:cNvPr id="18" name="Text 12"/>
          <p:cNvSpPr txBox="1"/>
          <p:nvPr/>
        </p:nvSpPr>
        <p:spPr>
          <a:xfrm>
            <a:off x="8357616" y="2651760"/>
            <a:ext cx="2971800" cy="411480"/>
          </a:xfrm>
          <a:prstGeom prst="rect">
            <a:avLst/>
          </a:prstGeom>
          <a:noFill/>
          <a:ln/>
        </p:spPr>
        <p:txBody>
          <a:bodyPr wrap="square" lIns="0" tIns="0" rIns="0" bIns="0" rtlCol="0" anchor="ctr"/>
          <a:lstStyle/>
          <a:p>
            <a:pPr marL="0" indent="0">
              <a:buNone/>
            </a:pPr>
            <a:r>
              <a:rPr lang="en-US" sz="1700" b="1" dirty="0">
                <a:solidFill>
                  <a:schemeClr val="tx2"/>
                </a:solidFill>
              </a:rPr>
              <a:t>Joint research &amp; EU funding</a:t>
            </a:r>
            <a:endParaRPr lang="en-US" sz="1700" dirty="0"/>
          </a:p>
        </p:txBody>
      </p:sp>
      <p:sp>
        <p:nvSpPr>
          <p:cNvPr id="19" name="Text 13"/>
          <p:cNvSpPr txBox="1"/>
          <p:nvPr/>
        </p:nvSpPr>
        <p:spPr>
          <a:xfrm>
            <a:off x="8357616" y="3063240"/>
            <a:ext cx="2971800" cy="594360"/>
          </a:xfrm>
          <a:prstGeom prst="rect">
            <a:avLst/>
          </a:prstGeom>
          <a:noFill/>
          <a:ln/>
        </p:spPr>
        <p:txBody>
          <a:bodyPr wrap="square" lIns="0" tIns="0" rIns="0" bIns="0" rtlCol="0" anchor="t"/>
          <a:lstStyle/>
          <a:p>
            <a:pPr marL="0" indent="0">
              <a:buNone/>
            </a:pPr>
            <a:r>
              <a:rPr lang="en-US" sz="1300" dirty="0">
                <a:solidFill>
                  <a:schemeClr val="tx1"/>
                </a:solidFill>
              </a:rPr>
              <a:t>Research consortia, including Horizon Europe calls</a:t>
            </a:r>
            <a:endParaRPr lang="en-US" sz="1300" dirty="0"/>
          </a:p>
        </p:txBody>
      </p:sp>
      <p:sp>
        <p:nvSpPr>
          <p:cNvPr id="20" name="opp-card-3"/>
          <p:cNvSpPr/>
          <p:nvPr/>
        </p:nvSpPr>
        <p:spPr>
          <a:xfrm>
            <a:off x="548640" y="3977640"/>
            <a:ext cx="3520440" cy="2148840"/>
          </a:xfrm>
          <a:prstGeom prst="roundRect">
            <a:avLst>
              <a:gd name="adj" fmla="val 5106"/>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1" name="opp-icon-3-circle"/>
          <p:cNvSpPr/>
          <p:nvPr/>
        </p:nvSpPr>
        <p:spPr>
          <a:xfrm>
            <a:off x="822960" y="4251960"/>
            <a:ext cx="685800" cy="685800"/>
          </a:xfrm>
          <a:prstGeom prst="ellipse">
            <a:avLst/>
          </a:prstGeom>
          <a:solidFill>
            <a:schemeClr val="accent1"/>
          </a:solidFill>
          <a:ln/>
        </p:spPr>
        <p:txBody>
          <a:bodyPr/>
          <a:lstStyle/>
          <a:p>
            <a:endParaRPr lang="en-US"/>
          </a:p>
        </p:txBody>
      </p:sp>
      <p:pic>
        <p:nvPicPr>
          <p:cNvPr id="22" name="opp-icon-3" descr="preencoded.png"/>
          <p:cNvPicPr>
            <a:picLocks noChangeAspect="1"/>
          </p:cNvPicPr>
          <p:nvPr/>
        </p:nvPicPr>
        <p:blipFill>
          <a:blip r:embed="rId6"/>
          <a:stretch>
            <a:fillRect/>
          </a:stretch>
        </p:blipFill>
        <p:spPr>
          <a:xfrm>
            <a:off x="1001268" y="4430268"/>
            <a:ext cx="329184" cy="329184"/>
          </a:xfrm>
          <a:prstGeom prst="rect">
            <a:avLst/>
          </a:prstGeom>
        </p:spPr>
      </p:pic>
      <p:sp>
        <p:nvSpPr>
          <p:cNvPr id="23" name="Text 16"/>
          <p:cNvSpPr txBox="1"/>
          <p:nvPr/>
        </p:nvSpPr>
        <p:spPr>
          <a:xfrm>
            <a:off x="822960" y="5029200"/>
            <a:ext cx="2971800" cy="411480"/>
          </a:xfrm>
          <a:prstGeom prst="rect">
            <a:avLst/>
          </a:prstGeom>
          <a:noFill/>
          <a:ln/>
        </p:spPr>
        <p:txBody>
          <a:bodyPr wrap="square" lIns="0" tIns="0" rIns="0" bIns="0" rtlCol="0" anchor="ctr"/>
          <a:lstStyle/>
          <a:p>
            <a:pPr marL="0" indent="0">
              <a:buNone/>
            </a:pPr>
            <a:r>
              <a:rPr lang="en-US" sz="1700" b="1" dirty="0">
                <a:solidFill>
                  <a:schemeClr val="tx2"/>
                </a:solidFill>
              </a:rPr>
              <a:t>Visiting professors</a:t>
            </a:r>
            <a:endParaRPr lang="en-US" sz="1700" dirty="0"/>
          </a:p>
        </p:txBody>
      </p:sp>
      <p:sp>
        <p:nvSpPr>
          <p:cNvPr id="24" name="Text 17"/>
          <p:cNvSpPr txBox="1"/>
          <p:nvPr/>
        </p:nvSpPr>
        <p:spPr>
          <a:xfrm>
            <a:off x="822960" y="5440680"/>
            <a:ext cx="2971800" cy="594360"/>
          </a:xfrm>
          <a:prstGeom prst="rect">
            <a:avLst/>
          </a:prstGeom>
          <a:noFill/>
          <a:ln/>
        </p:spPr>
        <p:txBody>
          <a:bodyPr wrap="square" lIns="0" tIns="0" rIns="0" bIns="0" rtlCol="0" anchor="t"/>
          <a:lstStyle/>
          <a:p>
            <a:pPr marL="0" indent="0">
              <a:buNone/>
            </a:pPr>
            <a:r>
              <a:rPr lang="en-US" sz="1300" dirty="0">
                <a:solidFill>
                  <a:schemeClr val="tx1"/>
                </a:solidFill>
              </a:rPr>
              <a:t>Guest teaching, joint supervision and international webinars</a:t>
            </a:r>
            <a:endParaRPr lang="en-US" sz="1300" dirty="0"/>
          </a:p>
        </p:txBody>
      </p:sp>
      <p:sp>
        <p:nvSpPr>
          <p:cNvPr id="25" name="opp-card-4"/>
          <p:cNvSpPr/>
          <p:nvPr/>
        </p:nvSpPr>
        <p:spPr>
          <a:xfrm>
            <a:off x="4315968" y="3977640"/>
            <a:ext cx="3520440" cy="2148840"/>
          </a:xfrm>
          <a:prstGeom prst="roundRect">
            <a:avLst>
              <a:gd name="adj" fmla="val 5106"/>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26" name="opp-icon-4-circle"/>
          <p:cNvSpPr/>
          <p:nvPr/>
        </p:nvSpPr>
        <p:spPr>
          <a:xfrm>
            <a:off x="4590288" y="4251960"/>
            <a:ext cx="685800" cy="685800"/>
          </a:xfrm>
          <a:prstGeom prst="ellipse">
            <a:avLst/>
          </a:prstGeom>
          <a:solidFill>
            <a:schemeClr val="accent1"/>
          </a:solidFill>
          <a:ln/>
        </p:spPr>
        <p:txBody>
          <a:bodyPr/>
          <a:lstStyle/>
          <a:p>
            <a:endParaRPr lang="en-US"/>
          </a:p>
        </p:txBody>
      </p:sp>
      <p:pic>
        <p:nvPicPr>
          <p:cNvPr id="27" name="opp-icon-4" descr="preencoded.png"/>
          <p:cNvPicPr>
            <a:picLocks noChangeAspect="1"/>
          </p:cNvPicPr>
          <p:nvPr/>
        </p:nvPicPr>
        <p:blipFill>
          <a:blip r:embed="rId7"/>
          <a:stretch>
            <a:fillRect/>
          </a:stretch>
        </p:blipFill>
        <p:spPr>
          <a:xfrm>
            <a:off x="4768596" y="4430268"/>
            <a:ext cx="329184" cy="329184"/>
          </a:xfrm>
          <a:prstGeom prst="rect">
            <a:avLst/>
          </a:prstGeom>
        </p:spPr>
      </p:pic>
      <p:sp>
        <p:nvSpPr>
          <p:cNvPr id="28" name="Text 20"/>
          <p:cNvSpPr txBox="1"/>
          <p:nvPr/>
        </p:nvSpPr>
        <p:spPr>
          <a:xfrm>
            <a:off x="4590288" y="5029200"/>
            <a:ext cx="2971800" cy="411480"/>
          </a:xfrm>
          <a:prstGeom prst="rect">
            <a:avLst/>
          </a:prstGeom>
          <a:noFill/>
          <a:ln/>
        </p:spPr>
        <p:txBody>
          <a:bodyPr wrap="square" lIns="0" tIns="0" rIns="0" bIns="0" rtlCol="0" anchor="ctr"/>
          <a:lstStyle/>
          <a:p>
            <a:pPr marL="0" indent="0">
              <a:buNone/>
            </a:pPr>
            <a:r>
              <a:rPr lang="en-US" sz="1700" b="1" dirty="0">
                <a:solidFill>
                  <a:schemeClr val="tx2"/>
                </a:solidFill>
              </a:rPr>
              <a:t>International student pathways</a:t>
            </a:r>
            <a:endParaRPr lang="en-US" sz="1700" dirty="0"/>
          </a:p>
        </p:txBody>
      </p:sp>
      <p:sp>
        <p:nvSpPr>
          <p:cNvPr id="29" name="Text 21"/>
          <p:cNvSpPr txBox="1"/>
          <p:nvPr/>
        </p:nvSpPr>
        <p:spPr>
          <a:xfrm>
            <a:off x="4590288" y="5440680"/>
            <a:ext cx="2971800" cy="594360"/>
          </a:xfrm>
          <a:prstGeom prst="rect">
            <a:avLst/>
          </a:prstGeom>
          <a:noFill/>
          <a:ln/>
        </p:spPr>
        <p:txBody>
          <a:bodyPr wrap="square" lIns="0" tIns="0" rIns="0" bIns="0" rtlCol="0" anchor="t"/>
          <a:lstStyle/>
          <a:p>
            <a:pPr marL="0" indent="0">
              <a:buNone/>
            </a:pPr>
            <a:r>
              <a:rPr lang="en-US" sz="1300" dirty="0">
                <a:solidFill>
                  <a:schemeClr val="tx1"/>
                </a:solidFill>
              </a:rPr>
              <a:t>Pathways for international students, building on foreign-certificate rules</a:t>
            </a:r>
            <a:endParaRPr lang="en-US" sz="1300" dirty="0"/>
          </a:p>
        </p:txBody>
      </p:sp>
      <p:sp>
        <p:nvSpPr>
          <p:cNvPr id="30" name="opp-card-5"/>
          <p:cNvSpPr/>
          <p:nvPr/>
        </p:nvSpPr>
        <p:spPr>
          <a:xfrm>
            <a:off x="8083296" y="3977640"/>
            <a:ext cx="3520440" cy="2148840"/>
          </a:xfrm>
          <a:prstGeom prst="roundRect">
            <a:avLst>
              <a:gd name="adj" fmla="val 5106"/>
            </a:avLst>
          </a:prstGeom>
          <a:solidFill>
            <a:schemeClr val="bg1"/>
          </a:solidFill>
          <a:ln w="9525">
            <a:solidFill>
              <a:srgbClr val="D6E4F5"/>
            </a:solidFill>
            <a:prstDash val="solid"/>
          </a:ln>
          <a:effectLst>
            <a:outerShdw blurRad="76200" dist="25400" dir="5400000" algn="bl" rotWithShape="0">
              <a:srgbClr val="0F172A">
                <a:alpha val="8000"/>
              </a:srgbClr>
            </a:outerShdw>
          </a:effectLst>
        </p:spPr>
        <p:txBody>
          <a:bodyPr/>
          <a:lstStyle/>
          <a:p>
            <a:endParaRPr lang="en-US"/>
          </a:p>
        </p:txBody>
      </p:sp>
      <p:sp>
        <p:nvSpPr>
          <p:cNvPr id="31" name="opp-icon-5-circle"/>
          <p:cNvSpPr/>
          <p:nvPr/>
        </p:nvSpPr>
        <p:spPr>
          <a:xfrm>
            <a:off x="8357616" y="4251960"/>
            <a:ext cx="685800" cy="685800"/>
          </a:xfrm>
          <a:prstGeom prst="ellipse">
            <a:avLst/>
          </a:prstGeom>
          <a:solidFill>
            <a:schemeClr val="accent1"/>
          </a:solidFill>
          <a:ln/>
        </p:spPr>
        <p:txBody>
          <a:bodyPr/>
          <a:lstStyle/>
          <a:p>
            <a:endParaRPr lang="en-US"/>
          </a:p>
        </p:txBody>
      </p:sp>
      <p:pic>
        <p:nvPicPr>
          <p:cNvPr id="32" name="opp-icon-5" descr="preencoded.png"/>
          <p:cNvPicPr>
            <a:picLocks noChangeAspect="1"/>
          </p:cNvPicPr>
          <p:nvPr/>
        </p:nvPicPr>
        <p:blipFill>
          <a:blip r:embed="rId8"/>
          <a:stretch>
            <a:fillRect/>
          </a:stretch>
        </p:blipFill>
        <p:spPr>
          <a:xfrm>
            <a:off x="8535924" y="4430268"/>
            <a:ext cx="329184" cy="329184"/>
          </a:xfrm>
          <a:prstGeom prst="rect">
            <a:avLst/>
          </a:prstGeom>
        </p:spPr>
      </p:pic>
      <p:sp>
        <p:nvSpPr>
          <p:cNvPr id="33" name="Text 24"/>
          <p:cNvSpPr txBox="1"/>
          <p:nvPr/>
        </p:nvSpPr>
        <p:spPr>
          <a:xfrm>
            <a:off x="8357616" y="5029200"/>
            <a:ext cx="2971800" cy="411480"/>
          </a:xfrm>
          <a:prstGeom prst="rect">
            <a:avLst/>
          </a:prstGeom>
          <a:noFill/>
          <a:ln/>
        </p:spPr>
        <p:txBody>
          <a:bodyPr wrap="square" lIns="0" tIns="0" rIns="0" bIns="0" rtlCol="0" anchor="ctr"/>
          <a:lstStyle/>
          <a:p>
            <a:pPr marL="0" indent="0">
              <a:buNone/>
            </a:pPr>
            <a:r>
              <a:rPr lang="en-US" sz="1700" b="1" dirty="0">
                <a:solidFill>
                  <a:schemeClr val="tx2"/>
                </a:solidFill>
              </a:rPr>
              <a:t>Sector hubs on the Suez Canal</a:t>
            </a:r>
            <a:endParaRPr lang="en-US" sz="1700" dirty="0"/>
          </a:p>
        </p:txBody>
      </p:sp>
      <p:sp>
        <p:nvSpPr>
          <p:cNvPr id="34" name="Text 25"/>
          <p:cNvSpPr txBox="1"/>
          <p:nvPr/>
        </p:nvSpPr>
        <p:spPr>
          <a:xfrm>
            <a:off x="8357616" y="5440680"/>
            <a:ext cx="2971800" cy="594360"/>
          </a:xfrm>
          <a:prstGeom prst="rect">
            <a:avLst/>
          </a:prstGeom>
          <a:noFill/>
          <a:ln/>
        </p:spPr>
        <p:txBody>
          <a:bodyPr wrap="square" lIns="0" tIns="0" rIns="0" bIns="0" rtlCol="0" anchor="t"/>
          <a:lstStyle/>
          <a:p>
            <a:pPr marL="0" indent="0">
              <a:buNone/>
            </a:pPr>
            <a:r>
              <a:rPr lang="en-US" sz="1300" dirty="0">
                <a:solidFill>
                  <a:schemeClr val="tx1"/>
                </a:solidFill>
              </a:rPr>
              <a:t>AI, health and maritime/logistics collaboration in a strategic region</a:t>
            </a:r>
            <a:endParaRPr lang="en-US" sz="1300" dirty="0"/>
          </a:p>
        </p:txBody>
      </p:sp>
      <p:sp>
        <p:nvSpPr>
          <p:cNvPr id="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3" name="closing-photo" descr="preencoded.png"/>
          <p:cNvPicPr>
            <a:picLocks noChangeAspect="1"/>
          </p:cNvPicPr>
          <p:nvPr/>
        </p:nvPicPr>
        <p:blipFill>
          <a:blip r:embed="rId3"/>
          <a:stretch>
            <a:fillRect/>
          </a:stretch>
        </p:blipFill>
        <p:spPr>
          <a:xfrm>
            <a:off x="0" y="0"/>
            <a:ext cx="12191695" cy="6858000"/>
          </a:xfrm>
          <a:prstGeom prst="rect">
            <a:avLst/>
          </a:prstGeom>
        </p:spPr>
      </p:pic>
      <p:sp>
        <p:nvSpPr>
          <p:cNvPr id="4" name="closing-tint"/>
          <p:cNvSpPr/>
          <p:nvPr/>
        </p:nvSpPr>
        <p:spPr>
          <a:xfrm>
            <a:off x="0" y="0"/>
            <a:ext cx="12191695" cy="6858000"/>
          </a:xfrm>
          <a:prstGeom prst="rect">
            <a:avLst/>
          </a:prstGeom>
          <a:solidFill>
            <a:schemeClr val="tx2">
              <a:alpha val="82000"/>
            </a:schemeClr>
          </a:solidFill>
          <a:ln/>
        </p:spPr>
        <p:txBody>
          <a:bodyPr/>
          <a:lstStyle/>
          <a:p>
            <a:endParaRPr lang="en-US"/>
          </a:p>
        </p:txBody>
      </p:sp>
      <p:pic>
        <p:nvPicPr>
          <p:cNvPr id="5" name="closing-logo" descr="preencoded.png"/>
          <p:cNvPicPr>
            <a:picLocks noChangeAspect="1"/>
          </p:cNvPicPr>
          <p:nvPr/>
        </p:nvPicPr>
        <p:blipFill>
          <a:blip r:embed="rId4"/>
          <a:stretch>
            <a:fillRect/>
          </a:stretch>
        </p:blipFill>
        <p:spPr>
          <a:xfrm>
            <a:off x="5501488" y="914400"/>
            <a:ext cx="1188720" cy="1188720"/>
          </a:xfrm>
          <a:prstGeom prst="rect">
            <a:avLst/>
          </a:prstGeom>
        </p:spPr>
      </p:pic>
      <p:sp>
        <p:nvSpPr>
          <p:cNvPr id="6" name="Text 1"/>
          <p:cNvSpPr txBox="1"/>
          <p:nvPr/>
        </p:nvSpPr>
        <p:spPr>
          <a:xfrm>
            <a:off x="914400" y="2423160"/>
            <a:ext cx="10362895" cy="914400"/>
          </a:xfrm>
          <a:prstGeom prst="rect">
            <a:avLst/>
          </a:prstGeom>
          <a:noFill/>
          <a:ln/>
        </p:spPr>
        <p:txBody>
          <a:bodyPr wrap="square" lIns="0" tIns="0" rIns="0" bIns="0" rtlCol="0" anchor="ctr"/>
          <a:lstStyle/>
          <a:p>
            <a:pPr marL="0" indent="0" algn="ctr">
              <a:buNone/>
            </a:pPr>
            <a:r>
              <a:rPr lang="en-US" sz="4200" b="1" dirty="0">
                <a:solidFill>
                  <a:srgbClr val="FFFFFF"/>
                </a:solidFill>
                <a:latin typeface="Arial" pitchFamily="34" charset="0"/>
                <a:ea typeface="Arial" pitchFamily="34" charset="-122"/>
                <a:cs typeface="Arial" pitchFamily="34" charset="-120"/>
              </a:rPr>
              <a:t>Let's Build the Future Together</a:t>
            </a:r>
            <a:endParaRPr lang="en-US" sz="4200" dirty="0"/>
          </a:p>
        </p:txBody>
      </p:sp>
      <p:sp>
        <p:nvSpPr>
          <p:cNvPr id="7" name="Text 2"/>
          <p:cNvSpPr txBox="1"/>
          <p:nvPr/>
        </p:nvSpPr>
        <p:spPr>
          <a:xfrm>
            <a:off x="1371600" y="3383280"/>
            <a:ext cx="9448495" cy="731520"/>
          </a:xfrm>
          <a:prstGeom prst="rect">
            <a:avLst/>
          </a:prstGeom>
          <a:noFill/>
          <a:ln/>
        </p:spPr>
        <p:txBody>
          <a:bodyPr wrap="square" lIns="0" tIns="0" rIns="0" bIns="0" rtlCol="0" anchor="ctr"/>
          <a:lstStyle/>
          <a:p>
            <a:pPr marL="0" indent="0" algn="ctr">
              <a:buNone/>
            </a:pPr>
            <a:r>
              <a:rPr lang="en-US" sz="1800" dirty="0">
                <a:solidFill>
                  <a:srgbClr val="C9D8EC"/>
                </a:solidFill>
              </a:rPr>
              <a:t>East Port Said National University welcomes partners for exchange, joint programs and research.</a:t>
            </a:r>
            <a:endParaRPr lang="en-US" sz="1800" dirty="0"/>
          </a:p>
        </p:txBody>
      </p:sp>
      <p:sp>
        <p:nvSpPr>
          <p:cNvPr id="8" name="contact-box"/>
          <p:cNvSpPr/>
          <p:nvPr/>
        </p:nvSpPr>
        <p:spPr>
          <a:xfrm>
            <a:off x="3169768" y="4480560"/>
            <a:ext cx="5852160" cy="1097280"/>
          </a:xfrm>
          <a:prstGeom prst="roundRect">
            <a:avLst>
              <a:gd name="adj" fmla="val 12500"/>
            </a:avLst>
          </a:prstGeom>
          <a:solidFill>
            <a:schemeClr val="accent3">
              <a:alpha val="90000"/>
            </a:schemeClr>
          </a:solidFill>
          <a:ln w="19050">
            <a:solidFill>
              <a:srgbClr val="00D4FF"/>
            </a:solidFill>
            <a:prstDash val="solid"/>
          </a:ln>
        </p:spPr>
        <p:txBody>
          <a:bodyPr/>
          <a:lstStyle/>
          <a:p>
            <a:endParaRPr lang="en-US"/>
          </a:p>
        </p:txBody>
      </p:sp>
      <p:sp>
        <p:nvSpPr>
          <p:cNvPr id="9" name="Text 4"/>
          <p:cNvSpPr txBox="1"/>
          <p:nvPr/>
        </p:nvSpPr>
        <p:spPr>
          <a:xfrm>
            <a:off x="3352648" y="4553712"/>
            <a:ext cx="5486400" cy="960120"/>
          </a:xfrm>
          <a:prstGeom prst="rect">
            <a:avLst/>
          </a:prstGeom>
          <a:noFill/>
          <a:ln/>
        </p:spPr>
        <p:txBody>
          <a:bodyPr wrap="square" lIns="0" tIns="0" rIns="0" bIns="0" rtlCol="0" anchor="ctr"/>
          <a:lstStyle/>
          <a:p>
            <a:pPr marL="0" indent="0" algn="ctr">
              <a:buNone/>
            </a:pPr>
            <a:r>
              <a:rPr lang="en-US" sz="2200" b="1" u="sng" dirty="0">
                <a:solidFill>
                  <a:srgbClr val="00D4FF"/>
                </a:solidFill>
                <a:hlinkClick r:id="rId5">
                  <a:extLst>
                    <a:ext uri="{A12FA001-AC4F-418D-AE19-62706E023703}">
                      <ahyp:hlinkClr xmlns:ahyp="http://schemas.microsoft.com/office/drawing/2018/hyperlinkcolor" val="tx"/>
                    </a:ext>
                  </a:extLst>
                </a:hlinkClick>
              </a:rPr>
              <a:t>epnu.edu.eg</a:t>
            </a:r>
            <a:endParaRPr lang="en-US" sz="2200" dirty="0"/>
          </a:p>
          <a:p>
            <a:pPr marL="0" indent="0" algn="ctr">
              <a:buNone/>
            </a:pPr>
            <a:r>
              <a:rPr lang="en-US" sz="1400" dirty="0">
                <a:solidFill>
                  <a:srgbClr val="FFFFFF"/>
                </a:solidFill>
              </a:rPr>
              <a:t>International Relations Office  |  Director: Assoc. Prof. Mohamed El-Sakka</a:t>
            </a:r>
            <a:endParaRPr lang="en-US" sz="2200" dirty="0"/>
          </a:p>
        </p:txBody>
      </p:sp>
    </p:spTree>
  </p:cSld>
  <p:clrMapOvr>
    <a:masterClrMapping/>
  </p:clrMapOvr>
</p:sld>
</file>

<file path=ppt/theme/theme1.xml><?xml version="1.0" encoding="utf-8"?>
<a:theme xmlns:a="http://schemas.openxmlformats.org/drawingml/2006/main" name="EPNU">
  <a:themeElements>
    <a:clrScheme name="EPNU">
      <a:dk1>
        <a:srgbClr val="0F172A"/>
      </a:dk1>
      <a:lt1>
        <a:srgbClr val="FFFFFF"/>
      </a:lt1>
      <a:dk2>
        <a:srgbClr val="071C35"/>
      </a:dk2>
      <a:lt2>
        <a:srgbClr val="F8FAFC"/>
      </a:lt2>
      <a:accent1>
        <a:srgbClr val="0077FF"/>
      </a:accent1>
      <a:accent2>
        <a:srgbClr val="00D4FF"/>
      </a:accent2>
      <a:accent3>
        <a:srgbClr val="1B3C73"/>
      </a:accent3>
      <a:accent4>
        <a:srgbClr val="EEF6FF"/>
      </a:accent4>
      <a:accent5>
        <a:srgbClr val="64748B"/>
      </a:accent5>
      <a:accent6>
        <a:srgbClr val="10283F"/>
      </a:accent6>
      <a:hlink>
        <a:srgbClr val="0077FF"/>
      </a:hlink>
      <a:folHlink>
        <a:srgbClr val="1B3C73"/>
      </a:folHlink>
    </a:clrScheme>
    <a:fontScheme name="EPNU">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10180</Words>
  <Application>Microsoft Office PowerPoint</Application>
  <PresentationFormat>Widescreen</PresentationFormat>
  <Paragraphs>437</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EPNU</vt:lpstr>
      <vt:lpstr>PowerPoint Presentation</vt:lpstr>
      <vt:lpstr>EPNU at a Glance</vt:lpstr>
      <vt:lpstr>Why Partner with EPNU</vt:lpstr>
      <vt:lpstr>Leadership &amp; Governance</vt:lpstr>
      <vt:lpstr>Leadership with a Global Outlook</vt:lpstr>
      <vt:lpstr>A Board Bridging Government, Academia &amp; Industry</vt:lpstr>
      <vt:lpstr>Academic Leadership</vt:lpstr>
      <vt:lpstr>Academics</vt:lpstr>
      <vt:lpstr>Seven Faculties, Future-Ready Programs</vt:lpstr>
      <vt:lpstr>Faculty of Engineering</vt:lpstr>
      <vt:lpstr>Faculty of Computer Science &amp; IT</vt:lpstr>
      <vt:lpstr>Faculty of Medicine</vt:lpstr>
      <vt:lpstr>Faculty of Pharmacy</vt:lpstr>
      <vt:lpstr>Faculty of Applied Health Sciences Technology</vt:lpstr>
      <vt:lpstr>Faculty of Business Sciences</vt:lpstr>
      <vt:lpstr>Built on International Academic Standards</vt:lpstr>
      <vt:lpstr>Research with International Reach</vt:lpstr>
      <vt:lpstr>International Relations</vt:lpstr>
      <vt:lpstr>Internationalization Is a National Priority</vt:lpstr>
      <vt:lpstr>First International Partner: Universiti Putra Malaysia</vt:lpstr>
      <vt:lpstr>A Growing Global Network</vt:lpstr>
      <vt:lpstr>Partners with Regional &amp; Global Reach</vt:lpstr>
      <vt:lpstr>Our Students at International Events</vt:lpstr>
      <vt:lpstr>A Strong National Partnership Base</vt:lpstr>
      <vt:lpstr>Partnership Opportunities</vt:lpstr>
      <vt:lpstr>PowerPoint Presentation</vt:lpstr>
    </vt:vector>
  </TitlesOfParts>
  <Company>East Port Said National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East Port Said National University — International Profile</dc:title>
  <dc:subject>PptxGenJS Presentation</dc:subject>
  <dc:creator>EPNU</dc:creator>
  <cp:lastModifiedBy>Khalid Nouman ElKhamisy</cp:lastModifiedBy>
  <cp:revision>2</cp:revision>
  <dcterms:created xsi:type="dcterms:W3CDTF">2026-10-14T12:14:25Z</dcterms:created>
  <dcterms:modified xsi:type="dcterms:W3CDTF">2026-10-14T12:23:09Z</dcterms:modified>
</cp:coreProperties>
</file>