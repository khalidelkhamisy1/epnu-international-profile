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cf42eb3-ed63-5779-3971-13283fafe836}">
          <p14:sldIdLst>
            <p14:sldId id="256"/>
          </p14:sldIdLst>
        </p14:section>
        <p14:section name="Who We Are" id="{60050289-2cc2-e85d-b30c-b5f59a5ec83a}">
          <p14:sldIdLst>
            <p14:sldId id="257"/>
            <p14:sldId id="258"/>
          </p14:sldIdLst>
        </p14:section>
        <p14:section name="Leadership &amp; Governance" id="{b328366d-e96a-f26e-6171-518f9a24d002}">
          <p14:sldIdLst>
            <p14:sldId id="259"/>
            <p14:sldId id="260"/>
            <p14:sldId id="261"/>
            <p14:sldId id="262"/>
          </p14:sldIdLst>
        </p14:section>
        <p14:section name="Academics" id="{2b04bcdb-c9e9-a4f0-9d97-430b80222e8d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International Relations" id="{a0737519-e6e6-8b0d-188b-db4a68fd20a6}">
          <p14:sldIdLst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Looking Ahead" id="{0ebe2a93-c80c-e870-8a32-0360abdece24}">
          <p14:sldIdLst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Publications per year</c:v>
                </c:pt>
              </c:strCache>
            </c:strRef>
          </c:tx>
          <c:spPr>
            <a:solidFill>
              <a:srgbClr val="0077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 (to Oct)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38</c:v>
                </c:pt>
                <c:pt idx="2">
                  <c:v>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East Port Said National University  |  International Profile</a:t>
            </a:r>
            <a:endParaRPr lang="en-US" sz="1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47472"/>
            <a:ext cx="100584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97280" y="278892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097280" y="3794760"/>
            <a:ext cx="6675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8-1.png"/><Relationship Id="rId3" Type="http://schemas.openxmlformats.org/officeDocument/2006/relationships/image" Target="../media/image-18-2.png"/><Relationship Id="rId4" Type="http://schemas.openxmlformats.org/officeDocument/2006/relationships/image" Target="../media/image-18-3.png"/><Relationship Id="rId5" Type="http://schemas.openxmlformats.org/officeDocument/2006/relationships/image" Target="../media/image-18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epnu.edu.eg/en/" TargetMode="External"/><Relationship Id="rId1" Type="http://schemas.openxmlformats.org/officeDocument/2006/relationships/image" Target="../media/image-27-1.jpeg"/><Relationship Id="rId2" Type="http://schemas.openxmlformats.org/officeDocument/2006/relationships/image" Target="../media/image-27-2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-phot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415" y="0"/>
            <a:ext cx="5669280" cy="6858000"/>
          </a:xfrm>
          <a:prstGeom prst="rect">
            <a:avLst/>
          </a:prstGeom>
        </p:spPr>
      </p:pic>
      <p:sp>
        <p:nvSpPr>
          <p:cNvPr id="3" name="hero-tint"/>
          <p:cNvSpPr/>
          <p:nvPr/>
        </p:nvSpPr>
        <p:spPr>
          <a:xfrm>
            <a:off x="6522415" y="0"/>
            <a:ext cx="5669280" cy="6858000"/>
          </a:xfrm>
          <a:prstGeom prst="rect">
            <a:avLst/>
          </a:prstGeom>
          <a:solidFill>
            <a:schemeClr val="tx2">
              <a:alpha val="22000"/>
            </a:schemeClr>
          </a:solidFill>
          <a:ln/>
        </p:spPr>
      </p:sp>
      <p:pic>
        <p:nvPicPr>
          <p:cNvPr id="4" name="log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143000" cy="1143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" y="21031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We Live the Future Today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56032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Port Said National University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41148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8EC"/>
                </a:solidFill>
              </a:rPr>
              <a:t>Building International Bridges from the Suez Canal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59436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</a:rPr>
              <a:t>International Profile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EPNU at a Glance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A non-profit national university in Sinai, created under Egypt Vision 2030</a:t>
            </a:r>
            <a:endParaRPr lang="en-US" sz="1500" dirty="0"/>
          </a:p>
        </p:txBody>
      </p:sp>
      <p:sp>
        <p:nvSpPr>
          <p:cNvPr id="4" name="stat-card-0"/>
          <p:cNvSpPr/>
          <p:nvPr/>
        </p:nvSpPr>
        <p:spPr>
          <a:xfrm>
            <a:off x="548640" y="1600200"/>
            <a:ext cx="2567864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2110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Faculties</a:t>
            </a:r>
            <a:endParaRPr lang="en-US" sz="1400" dirty="0"/>
          </a:p>
        </p:txBody>
      </p:sp>
      <p:sp>
        <p:nvSpPr>
          <p:cNvPr id="7" name="stat-card-1"/>
          <p:cNvSpPr/>
          <p:nvPr/>
        </p:nvSpPr>
        <p:spPr>
          <a:xfrm>
            <a:off x="3390824" y="1600200"/>
            <a:ext cx="2567864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19424" y="1783080"/>
            <a:ext cx="2110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13+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19424" y="256032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Academic programs</a:t>
            </a:r>
            <a:endParaRPr lang="en-US" sz="1400" dirty="0"/>
          </a:p>
        </p:txBody>
      </p:sp>
      <p:sp>
        <p:nvSpPr>
          <p:cNvPr id="10" name="stat-card-2"/>
          <p:cNvSpPr/>
          <p:nvPr/>
        </p:nvSpPr>
        <p:spPr>
          <a:xfrm>
            <a:off x="6233008" y="1600200"/>
            <a:ext cx="2567864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61608" y="1783080"/>
            <a:ext cx="2110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5,200+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61608" y="256032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Students</a:t>
            </a:r>
            <a:endParaRPr lang="en-US" sz="1400" dirty="0"/>
          </a:p>
        </p:txBody>
      </p:sp>
      <p:sp>
        <p:nvSpPr>
          <p:cNvPr id="13" name="stat-card-3"/>
          <p:cNvSpPr/>
          <p:nvPr/>
        </p:nvSpPr>
        <p:spPr>
          <a:xfrm>
            <a:off x="9075191" y="1600200"/>
            <a:ext cx="2567864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303791" y="1783080"/>
            <a:ext cx="2110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303791" y="256032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International publications</a:t>
            </a:r>
            <a:endParaRPr lang="en-US" sz="1400" dirty="0"/>
          </a:p>
        </p:txBody>
      </p:sp>
      <p:pic>
        <p:nvPicPr>
          <p:cNvPr id="16" name="campus-photo" descr="EPNU campus buil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520440"/>
            <a:ext cx="4754880" cy="2651760"/>
          </a:xfrm>
          <a:prstGeom prst="rect">
            <a:avLst/>
          </a:prstGeom>
        </p:spPr>
      </p:pic>
      <p:sp>
        <p:nvSpPr>
          <p:cNvPr id="17" name="glance-icon-0-circle"/>
          <p:cNvSpPr/>
          <p:nvPr/>
        </p:nvSpPr>
        <p:spPr>
          <a:xfrm>
            <a:off x="5669280" y="36118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glance-icon-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681" y="3759281"/>
            <a:ext cx="272125" cy="27212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400800" y="3557016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Non-profit national (Ahliya) university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Part of Egypt's new generation of national universities</a:t>
            </a:r>
            <a:endParaRPr lang="en-US" sz="1600" dirty="0"/>
          </a:p>
        </p:txBody>
      </p:sp>
      <p:sp>
        <p:nvSpPr>
          <p:cNvPr id="20" name="glance-icon-1-circle"/>
          <p:cNvSpPr/>
          <p:nvPr/>
        </p:nvSpPr>
        <p:spPr>
          <a:xfrm>
            <a:off x="5669280" y="44805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glance-icon-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681" y="4627961"/>
            <a:ext cx="272125" cy="27212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400800" y="4425696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East Port Said, Sinai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 44-feddan campus on the Suez Canal corridor, driving regional development</a:t>
            </a:r>
            <a:endParaRPr lang="en-US" sz="1600" dirty="0"/>
          </a:p>
        </p:txBody>
      </p:sp>
      <p:sp>
        <p:nvSpPr>
          <p:cNvPr id="23" name="glance-icon-2-circle"/>
          <p:cNvSpPr/>
          <p:nvPr/>
        </p:nvSpPr>
        <p:spPr>
          <a:xfrm>
            <a:off x="5669280" y="5349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glance-icon-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6681" y="5496641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400800" y="5294376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Aligned with Egypt Vision 2030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 "fourth-generation" university focused on research and innovation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Partner with EPNU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A new-generation university building its international partnerships</a:t>
            </a:r>
            <a:endParaRPr lang="en-US" sz="1500" dirty="0"/>
          </a:p>
        </p:txBody>
      </p:sp>
      <p:sp>
        <p:nvSpPr>
          <p:cNvPr id="4" name="why-card-0"/>
          <p:cNvSpPr/>
          <p:nvPr/>
        </p:nvSpPr>
        <p:spPr>
          <a:xfrm>
            <a:off x="548640" y="1600200"/>
            <a:ext cx="5410048" cy="212598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5" name="why-icon-0-circle"/>
          <p:cNvSpPr/>
          <p:nvPr/>
        </p:nvSpPr>
        <p:spPr>
          <a:xfrm>
            <a:off x="86868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why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21104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947672"/>
            <a:ext cx="390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location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624328"/>
            <a:ext cx="3901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East Port Said on the Suez Canal, where Africa meets Asia, at the heart of Sinai's development.</a:t>
            </a:r>
            <a:endParaRPr lang="en-US" sz="1500" dirty="0"/>
          </a:p>
        </p:txBody>
      </p:sp>
      <p:sp>
        <p:nvSpPr>
          <p:cNvPr id="9" name="why-card-1"/>
          <p:cNvSpPr/>
          <p:nvPr/>
        </p:nvSpPr>
        <p:spPr>
          <a:xfrm>
            <a:off x="6233008" y="1600200"/>
            <a:ext cx="5410048" cy="212598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why-icon-1-circle"/>
          <p:cNvSpPr/>
          <p:nvPr/>
        </p:nvSpPr>
        <p:spPr>
          <a:xfrm>
            <a:off x="6553048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why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243" y="21104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67448" y="1947672"/>
            <a:ext cx="390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academic standards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467448" y="2624328"/>
            <a:ext cx="3901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English-medium instruction, a credit-hour system with ECTS equivalence, and bilingual graduation certificates.</a:t>
            </a:r>
            <a:endParaRPr lang="en-US" sz="1500" dirty="0"/>
          </a:p>
        </p:txBody>
      </p:sp>
      <p:sp>
        <p:nvSpPr>
          <p:cNvPr id="14" name="why-card-2"/>
          <p:cNvSpPr/>
          <p:nvPr/>
        </p:nvSpPr>
        <p:spPr>
          <a:xfrm>
            <a:off x="548640" y="4000500"/>
            <a:ext cx="5410048" cy="212598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5" name="why-icon-2-circle"/>
          <p:cNvSpPr/>
          <p:nvPr/>
        </p:nvSpPr>
        <p:spPr>
          <a:xfrm>
            <a:off x="868680" y="43205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why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451073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83080" y="4347972"/>
            <a:ext cx="390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Future-focused programs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783080" y="5024628"/>
            <a:ext cx="3901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Artificial intelligence across faculties, a Huawei ICT Academy, and modern health sciences and clinical pharmacy.</a:t>
            </a:r>
            <a:endParaRPr lang="en-US" sz="1500" dirty="0"/>
          </a:p>
        </p:txBody>
      </p:sp>
      <p:sp>
        <p:nvSpPr>
          <p:cNvPr id="19" name="why-card-3"/>
          <p:cNvSpPr/>
          <p:nvPr/>
        </p:nvSpPr>
        <p:spPr>
          <a:xfrm>
            <a:off x="6233008" y="4000500"/>
            <a:ext cx="5410048" cy="212598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why-icon-3-circle"/>
          <p:cNvSpPr/>
          <p:nvPr/>
        </p:nvSpPr>
        <p:spPr>
          <a:xfrm>
            <a:off x="6553048" y="43205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why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243" y="451073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67448" y="4347972"/>
            <a:ext cx="390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national backing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7467448" y="5024628"/>
            <a:ext cx="3901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Board chaired by a former Prime Minister, and a national mandate to expand global partnerships.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al-watermark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001000" y="1828800"/>
            <a:ext cx="3931920" cy="3931920"/>
          </a:xfrm>
          <a:prstGeom prst="rect">
            <a:avLst/>
          </a:prstGeom>
        </p:spPr>
      </p:pic>
      <p:sp>
        <p:nvSpPr>
          <p:cNvPr id="3" name="section-number"/>
          <p:cNvSpPr txBox="1"/>
          <p:nvPr/>
        </p:nvSpPr>
        <p:spPr>
          <a:xfrm>
            <a:off x="1097280" y="1874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109728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&amp; Governance</a:t>
            </a:r>
            <a:endParaRPr lang="en-US" sz="4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1097280" y="379476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Experienced leadership with national reach and a global outlook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with a Global Outlook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Prof. Dr. Atef Alam El-Din, President of East Port Said National University</a:t>
            </a:r>
            <a:endParaRPr lang="en-US" sz="1500" dirty="0"/>
          </a:p>
        </p:txBody>
      </p:sp>
      <p:pic>
        <p:nvPicPr>
          <p:cNvPr id="4" name="president-photo" descr="Prof. Dr. Atef Alam El-Din, University Presid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291840" cy="4526280"/>
          </a:xfrm>
          <a:prstGeom prst="rect">
            <a:avLst/>
          </a:prstGeom>
        </p:spPr>
      </p:pic>
      <p:sp>
        <p:nvSpPr>
          <p:cNvPr id="5" name="pres-icon-0-circle"/>
          <p:cNvSpPr/>
          <p:nvPr/>
        </p:nvSpPr>
        <p:spPr>
          <a:xfrm>
            <a:off x="425196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pres-icon-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381" y="1858061"/>
            <a:ext cx="307238" cy="3072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74920" y="1645920"/>
            <a:ext cx="6537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Internationally educated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PhD in Engineering, Leningrad University (former Soviet Union); BSc and MSc, Menoufia University</a:t>
            </a:r>
            <a:endParaRPr lang="en-US" sz="1700" dirty="0"/>
          </a:p>
        </p:txBody>
      </p:sp>
      <p:sp>
        <p:nvSpPr>
          <p:cNvPr id="8" name="pres-icon-1-circle"/>
          <p:cNvSpPr/>
          <p:nvPr/>
        </p:nvSpPr>
        <p:spPr>
          <a:xfrm>
            <a:off x="4251960" y="280720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pres-icon-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381" y="2973629"/>
            <a:ext cx="307238" cy="30723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074920" y="2761488"/>
            <a:ext cx="6537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Egyptian-Japanese Education Initiative 2025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Member of the initiative's Steering Committee; has organized several international scientific conferences</a:t>
            </a:r>
            <a:endParaRPr lang="en-US" sz="1700" dirty="0"/>
          </a:p>
        </p:txBody>
      </p:sp>
      <p:sp>
        <p:nvSpPr>
          <p:cNvPr id="11" name="pres-icon-2-circle"/>
          <p:cNvSpPr/>
          <p:nvPr/>
        </p:nvSpPr>
        <p:spPr>
          <a:xfrm>
            <a:off x="4251960" y="3922776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pres-icon-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381" y="4089197"/>
            <a:ext cx="307238" cy="30723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074920" y="3877056"/>
            <a:ext cx="6537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National policy experience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Has served on the Egyptian Senate's Committee on Education, Scientific Research &amp; ICT</a:t>
            </a:r>
            <a:endParaRPr lang="en-US" sz="1700" dirty="0"/>
          </a:p>
        </p:txBody>
      </p:sp>
      <p:sp>
        <p:nvSpPr>
          <p:cNvPr id="14" name="pres-icon-3-circle"/>
          <p:cNvSpPr/>
          <p:nvPr/>
        </p:nvSpPr>
        <p:spPr>
          <a:xfrm>
            <a:off x="4251960" y="503834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pres-icon-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8381" y="5204765"/>
            <a:ext cx="307238" cy="30723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5074920" y="4992624"/>
            <a:ext cx="6537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Academic leadership and quality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Former Acting President of Port Said University; certified NAQAAE quality reviewer; about 40 research papers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Board Bridging Government, Academia &amp; Industry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The Board of Trustees supports the university's strategy and institutional partnerships</a:t>
            </a:r>
            <a:endParaRPr lang="en-US" sz="1500" dirty="0"/>
          </a:p>
        </p:txBody>
      </p:sp>
      <p:sp>
        <p:nvSpPr>
          <p:cNvPr id="4" name="chair-card"/>
          <p:cNvSpPr/>
          <p:nvPr/>
        </p:nvSpPr>
        <p:spPr>
          <a:xfrm>
            <a:off x="548640" y="1600200"/>
            <a:ext cx="3383280" cy="4526280"/>
          </a:xfrm>
          <a:prstGeom prst="roundRect">
            <a:avLst>
              <a:gd name="adj" fmla="val 4054"/>
            </a:avLst>
          </a:prstGeom>
          <a:solidFill>
            <a:schemeClr val="tx2"/>
          </a:solidFill>
          <a:ln/>
        </p:spPr>
      </p:sp>
      <p:sp>
        <p:nvSpPr>
          <p:cNvPr id="5" name="chair-icon-circle"/>
          <p:cNvSpPr/>
          <p:nvPr/>
        </p:nvSpPr>
        <p:spPr>
          <a:xfrm>
            <a:off x="868680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hai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342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9260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Chairman</a:t>
            </a:r>
            <a:endParaRPr lang="en-US" sz="13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Eng. Ibrahim Mahlab</a:t>
            </a:r>
            <a:endParaRPr lang="en-US" sz="1300" dirty="0"/>
          </a:p>
          <a:p>
            <a:pPr indent="0" marL="0">
              <a:buNone/>
            </a:pPr>
            <a:r>
              <a:rPr lang="en-US" sz="1500" dirty="0">
                <a:solidFill>
                  <a:srgbClr val="C9D8EC"/>
                </a:solidFill>
              </a:rPr>
              <a:t>Former Prime Minister of Egypt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754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8EC"/>
                </a:solidFill>
              </a:rPr>
              <a:t>Members bring together government, universities, medicine, and trade and industry.</a:t>
            </a:r>
            <a:endParaRPr lang="en-US" sz="1400" dirty="0"/>
          </a:p>
        </p:txBody>
      </p:sp>
      <p:sp>
        <p:nvSpPr>
          <p:cNvPr id="9" name="board-group-0"/>
          <p:cNvSpPr/>
          <p:nvPr/>
        </p:nvSpPr>
        <p:spPr>
          <a:xfrm>
            <a:off x="4206240" y="1600200"/>
            <a:ext cx="7436815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board-icon-0-circle"/>
          <p:cNvSpPr/>
          <p:nvPr/>
        </p:nvSpPr>
        <p:spPr>
          <a:xfrm>
            <a:off x="443484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board-icon-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599" y="191383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74920" y="1783080"/>
            <a:ext cx="6339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Academia &amp; medicine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404872"/>
            <a:ext cx="69338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Prof. Dr. Atef Alam El-Din, University President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Prof. Dr. Sherif Youssef Saleh, President of Port Said University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Prof. Dr. Mohamed Hassan El-Kenawy, former President of Mansoura University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Prof. Dr. El-Sayed Hussein Hegazy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Prof. Dr. Mamdouh Radwan El-Nahas, President, Egyptian Society of Diabetes and Lipidology</a:t>
            </a:r>
            <a:endParaRPr lang="en-US" sz="1300" dirty="0"/>
          </a:p>
        </p:txBody>
      </p:sp>
      <p:sp>
        <p:nvSpPr>
          <p:cNvPr id="14" name="board-group-1"/>
          <p:cNvSpPr/>
          <p:nvPr/>
        </p:nvSpPr>
        <p:spPr>
          <a:xfrm>
            <a:off x="4206240" y="3886200"/>
            <a:ext cx="3626968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5" name="board-icon-1-circle"/>
          <p:cNvSpPr/>
          <p:nvPr/>
        </p:nvSpPr>
        <p:spPr>
          <a:xfrm>
            <a:off x="4434840" y="4069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board-icon-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599" y="419983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074920" y="4069080"/>
            <a:ext cx="2529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Government &amp; public service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480560" y="4690872"/>
            <a:ext cx="3124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Maj. Gen. Ahmed Abdullah, former Governor of the Red Sea and Port Said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Maj. Gen. Ibrahim Abu Limoun, Governor of Port Said</a:t>
            </a:r>
            <a:endParaRPr lang="en-US" sz="1300" dirty="0"/>
          </a:p>
        </p:txBody>
      </p:sp>
      <p:sp>
        <p:nvSpPr>
          <p:cNvPr id="19" name="board-group-2"/>
          <p:cNvSpPr/>
          <p:nvPr/>
        </p:nvSpPr>
        <p:spPr>
          <a:xfrm>
            <a:off x="8016088" y="3886200"/>
            <a:ext cx="3626968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board-icon-2-circle"/>
          <p:cNvSpPr/>
          <p:nvPr/>
        </p:nvSpPr>
        <p:spPr>
          <a:xfrm>
            <a:off x="8244688" y="4069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board-icon-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447" y="419983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884768" y="4069080"/>
            <a:ext cx="2529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Industry &amp; trade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290408" y="4690872"/>
            <a:ext cx="3124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Eng. Lotfy Hassan El-Badrawy, KAPCI Coatings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Mr. Mohamed El-Said Saada, Port Said Chamber of Commerce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Dr. Hassan Hassanein Khalil Hassan, pharmaceutical sector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Leadership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Program directors and university offices leading teaching, quality and international relations</a:t>
            </a:r>
            <a:endParaRPr lang="en-US" sz="1500" dirty="0"/>
          </a:p>
        </p:txBody>
      </p:sp>
      <p:sp>
        <p:nvSpPr>
          <p:cNvPr id="4" name="lead-card-0"/>
          <p:cNvSpPr/>
          <p:nvPr/>
        </p:nvSpPr>
        <p:spPr>
          <a:xfrm>
            <a:off x="548640" y="1600200"/>
            <a:ext cx="239268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5" name="lead-icon-0-circle"/>
          <p:cNvSpPr/>
          <p:nvPr/>
        </p:nvSpPr>
        <p:spPr>
          <a:xfrm>
            <a:off x="749808" y="180136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lea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567" y="1932127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783080"/>
            <a:ext cx="143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Engineering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496312"/>
            <a:ext cx="2026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Assoc. Prof. Mohamed El-Sakka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Mechatronics &amp; Automation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Assoc. Prof. Asmaa Rady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AI &amp; Machine Learning · Construction</a:t>
            </a:r>
            <a:endParaRPr lang="en-US" sz="1500" dirty="0"/>
          </a:p>
        </p:txBody>
      </p:sp>
      <p:sp>
        <p:nvSpPr>
          <p:cNvPr id="9" name="lead-card-1"/>
          <p:cNvSpPr/>
          <p:nvPr/>
        </p:nvSpPr>
        <p:spPr>
          <a:xfrm>
            <a:off x="3169920" y="1600200"/>
            <a:ext cx="239268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lead-icon-1-circle"/>
          <p:cNvSpPr/>
          <p:nvPr/>
        </p:nvSpPr>
        <p:spPr>
          <a:xfrm>
            <a:off x="3371088" y="180136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lea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847" y="193212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92880" y="1783080"/>
            <a:ext cx="143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Computer Science &amp; IT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3371088" y="2496312"/>
            <a:ext cx="2026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Prof. Osama El-Baksawy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Director of the Faculty's Programs</a:t>
            </a:r>
            <a:endParaRPr lang="en-US" sz="1500" dirty="0"/>
          </a:p>
        </p:txBody>
      </p:sp>
      <p:sp>
        <p:nvSpPr>
          <p:cNvPr id="14" name="lead-card-2"/>
          <p:cNvSpPr/>
          <p:nvPr/>
        </p:nvSpPr>
        <p:spPr>
          <a:xfrm>
            <a:off x="5791200" y="1600200"/>
            <a:ext cx="239268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5" name="lead-icon-2-circle"/>
          <p:cNvSpPr/>
          <p:nvPr/>
        </p:nvSpPr>
        <p:spPr>
          <a:xfrm>
            <a:off x="5992368" y="180136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lea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127" y="193212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614160" y="1783080"/>
            <a:ext cx="143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Medicine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5992368" y="2496312"/>
            <a:ext cx="2026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Assoc. Prof. Sherine El-Khouly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Medicine and Surgery</a:t>
            </a:r>
            <a:endParaRPr lang="en-US" sz="1500" dirty="0"/>
          </a:p>
        </p:txBody>
      </p:sp>
      <p:sp>
        <p:nvSpPr>
          <p:cNvPr id="19" name="lead-card-3"/>
          <p:cNvSpPr/>
          <p:nvPr/>
        </p:nvSpPr>
        <p:spPr>
          <a:xfrm>
            <a:off x="548640" y="3977640"/>
            <a:ext cx="239268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lead-icon-3-circle"/>
          <p:cNvSpPr/>
          <p:nvPr/>
        </p:nvSpPr>
        <p:spPr>
          <a:xfrm>
            <a:off x="749808" y="417880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lead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67" y="4309567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71600" y="4160520"/>
            <a:ext cx="143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Pharmacy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4873752"/>
            <a:ext cx="2026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Assoc. Prof. Mohamed Yasser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Clinical Pharmacy (PharmD)</a:t>
            </a:r>
            <a:endParaRPr lang="en-US" sz="1500" dirty="0"/>
          </a:p>
        </p:txBody>
      </p:sp>
      <p:sp>
        <p:nvSpPr>
          <p:cNvPr id="24" name="lead-card-4"/>
          <p:cNvSpPr/>
          <p:nvPr/>
        </p:nvSpPr>
        <p:spPr>
          <a:xfrm>
            <a:off x="3169920" y="3977640"/>
            <a:ext cx="239268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5" name="lead-icon-4-circle"/>
          <p:cNvSpPr/>
          <p:nvPr/>
        </p:nvSpPr>
        <p:spPr>
          <a:xfrm>
            <a:off x="3371088" y="417880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lead-icon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1847" y="4309567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992880" y="4160520"/>
            <a:ext cx="143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Applied Health Sciences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3371088" y="4873752"/>
            <a:ext cx="2026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Dr. Salma Khairallah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Director of the Faculty's Programs</a:t>
            </a:r>
            <a:endParaRPr lang="en-US" sz="1500" dirty="0"/>
          </a:p>
        </p:txBody>
      </p:sp>
      <p:sp>
        <p:nvSpPr>
          <p:cNvPr id="29" name="lead-card-5"/>
          <p:cNvSpPr/>
          <p:nvPr/>
        </p:nvSpPr>
        <p:spPr>
          <a:xfrm>
            <a:off x="5791200" y="3977640"/>
            <a:ext cx="239268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30" name="lead-icon-5-circle"/>
          <p:cNvSpPr/>
          <p:nvPr/>
        </p:nvSpPr>
        <p:spPr>
          <a:xfrm>
            <a:off x="5992368" y="417880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lead-icon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3127" y="4309567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614160" y="4160520"/>
            <a:ext cx="143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Business Sciences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5992368" y="4873752"/>
            <a:ext cx="2026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Dr. Ali Gomaa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Accounting &amp; Software Applications</a:t>
            </a:r>
            <a:endParaRPr lang="en-US" sz="1500" dirty="0"/>
          </a:p>
        </p:txBody>
      </p:sp>
      <p:sp>
        <p:nvSpPr>
          <p:cNvPr id="34" name="offices-card"/>
          <p:cNvSpPr/>
          <p:nvPr/>
        </p:nvSpPr>
        <p:spPr>
          <a:xfrm>
            <a:off x="8458200" y="1600200"/>
            <a:ext cx="3184855" cy="4526280"/>
          </a:xfrm>
          <a:prstGeom prst="roundRect">
            <a:avLst>
              <a:gd name="adj" fmla="val 4307"/>
            </a:avLst>
          </a:prstGeom>
          <a:solidFill>
            <a:schemeClr val="tx2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8732520" y="1783080"/>
            <a:ext cx="2636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University Offices</a:t>
            </a:r>
            <a:endParaRPr lang="en-US" sz="1700" dirty="0"/>
          </a:p>
        </p:txBody>
      </p:sp>
      <p:sp>
        <p:nvSpPr>
          <p:cNvPr id="36" name="office-icon-0-circle"/>
          <p:cNvSpPr/>
          <p:nvPr/>
        </p:nvSpPr>
        <p:spPr>
          <a:xfrm>
            <a:off x="8732520" y="245059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7" name="office-icon-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1392" y="2569464"/>
            <a:ext cx="219456" cy="219456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9326880" y="2377440"/>
            <a:ext cx="2133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</a:rPr>
              <a:t>International Relations Office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Assoc. Prof. Mohamed El-Sakka</a:t>
            </a:r>
            <a:endParaRPr lang="en-US" sz="1200" dirty="0"/>
          </a:p>
        </p:txBody>
      </p:sp>
      <p:sp>
        <p:nvSpPr>
          <p:cNvPr id="39" name="office-icon-1-circle"/>
          <p:cNvSpPr/>
          <p:nvPr/>
        </p:nvSpPr>
        <p:spPr>
          <a:xfrm>
            <a:off x="8732520" y="33649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office-icon-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1392" y="3483864"/>
            <a:ext cx="219456" cy="219456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326880" y="3291840"/>
            <a:ext cx="2133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</a:rPr>
              <a:t>Quality Assurance Center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Prof. Osama El-Baksawy</a:t>
            </a:r>
            <a:endParaRPr lang="en-US" sz="1200" dirty="0"/>
          </a:p>
        </p:txBody>
      </p:sp>
      <p:sp>
        <p:nvSpPr>
          <p:cNvPr id="42" name="office-icon-2-circle"/>
          <p:cNvSpPr/>
          <p:nvPr/>
        </p:nvSpPr>
        <p:spPr>
          <a:xfrm>
            <a:off x="8732520" y="42793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3" name="office-icon-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1392" y="4398264"/>
            <a:ext cx="219456" cy="219456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9326880" y="4206240"/>
            <a:ext cx="2133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</a:rPr>
              <a:t>Training &amp; Professional Development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Assoc. Prof. Asmaa Rady</a:t>
            </a:r>
            <a:endParaRPr lang="en-US" sz="1200" dirty="0"/>
          </a:p>
        </p:txBody>
      </p:sp>
      <p:sp>
        <p:nvSpPr>
          <p:cNvPr id="45" name="office-icon-3-circle"/>
          <p:cNvSpPr/>
          <p:nvPr/>
        </p:nvSpPr>
        <p:spPr>
          <a:xfrm>
            <a:off x="8732520" y="51937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6" name="office-icon-3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1392" y="5312664"/>
            <a:ext cx="219456" cy="219456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9326880" y="5120640"/>
            <a:ext cx="2133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</a:rPr>
              <a:t>Secretary-General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Ms. Ghada Shazly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al-watermark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001000" y="1828800"/>
            <a:ext cx="3931920" cy="3931920"/>
          </a:xfrm>
          <a:prstGeom prst="rect">
            <a:avLst/>
          </a:prstGeom>
        </p:spPr>
      </p:pic>
      <p:sp>
        <p:nvSpPr>
          <p:cNvPr id="3" name="section-number"/>
          <p:cNvSpPr txBox="1"/>
          <p:nvPr/>
        </p:nvSpPr>
        <p:spPr>
          <a:xfrm>
            <a:off x="1097280" y="1874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109728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Academics</a:t>
            </a:r>
            <a:endParaRPr lang="en-US" sz="4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1097280" y="379476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Seven faculties with programs designed for tomorrow's labor market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Faculties, Future-Ready Programs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13+ bachelor's programs, with artificial intelligence across engineering, computing and the arts</a:t>
            </a:r>
            <a:endParaRPr lang="en-US" sz="1500" dirty="0"/>
          </a:p>
        </p:txBody>
      </p:sp>
      <p:sp>
        <p:nvSpPr>
          <p:cNvPr id="4" name="faculty-card-0"/>
          <p:cNvSpPr/>
          <p:nvPr/>
        </p:nvSpPr>
        <p:spPr>
          <a:xfrm>
            <a:off x="548640" y="155448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5" name="faculty-icon-0-circle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faculty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83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Engineering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68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Mechatronics &amp; Automation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 &amp; Machine Learning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Construction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Energy &amp; Electrical Power</a:t>
            </a:r>
            <a:endParaRPr lang="en-US" sz="1300" dirty="0"/>
          </a:p>
        </p:txBody>
      </p:sp>
      <p:sp>
        <p:nvSpPr>
          <p:cNvPr id="9" name="faculty-card-1"/>
          <p:cNvSpPr/>
          <p:nvPr/>
        </p:nvSpPr>
        <p:spPr>
          <a:xfrm>
            <a:off x="3383280" y="155448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faculty-icon-1-circle"/>
          <p:cNvSpPr/>
          <p:nvPr/>
        </p:nvSpPr>
        <p:spPr>
          <a:xfrm>
            <a:off x="361188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faculty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526" y="19257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51960" y="1783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Medicine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611880" y="2468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Medicine and Surgery: 5 years plus a 2-year internship (ECTS)</a:t>
            </a:r>
            <a:endParaRPr lang="en-US" sz="1300" dirty="0"/>
          </a:p>
        </p:txBody>
      </p:sp>
      <p:sp>
        <p:nvSpPr>
          <p:cNvPr id="14" name="faculty-card-2"/>
          <p:cNvSpPr/>
          <p:nvPr/>
        </p:nvSpPr>
        <p:spPr>
          <a:xfrm>
            <a:off x="6217920" y="155448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5" name="faculty-icon-2-circle"/>
          <p:cNvSpPr/>
          <p:nvPr/>
        </p:nvSpPr>
        <p:spPr>
          <a:xfrm>
            <a:off x="644652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faculty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166" y="19257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86600" y="1783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Pharmacy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446520" y="2468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Clinical Pharmacy (PharmD)</a:t>
            </a:r>
            <a:endParaRPr lang="en-US" sz="1300" dirty="0"/>
          </a:p>
        </p:txBody>
      </p:sp>
      <p:sp>
        <p:nvSpPr>
          <p:cNvPr id="19" name="faculty-card-3"/>
          <p:cNvSpPr/>
          <p:nvPr/>
        </p:nvSpPr>
        <p:spPr>
          <a:xfrm>
            <a:off x="9052560" y="155448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faculty-icon-3-circle"/>
          <p:cNvSpPr/>
          <p:nvPr/>
        </p:nvSpPr>
        <p:spPr>
          <a:xfrm>
            <a:off x="928116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faculty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806" y="192572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921240" y="1783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Computer Science &amp; IT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281160" y="2468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Computer Science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Artificial Intelligence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Data Science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Biomedical Informatics</a:t>
            </a:r>
            <a:endParaRPr lang="en-US" sz="1300" dirty="0"/>
          </a:p>
        </p:txBody>
      </p:sp>
      <p:sp>
        <p:nvSpPr>
          <p:cNvPr id="24" name="faculty-card-4"/>
          <p:cNvSpPr/>
          <p:nvPr/>
        </p:nvSpPr>
        <p:spPr>
          <a:xfrm>
            <a:off x="1965960" y="393192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5" name="faculty-icon-4-circle"/>
          <p:cNvSpPr/>
          <p:nvPr/>
        </p:nvSpPr>
        <p:spPr>
          <a:xfrm>
            <a:off x="2194560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faculty-icon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7206" y="430316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2834640" y="4160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Applied Health Sciences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2194560" y="4846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Medical Laboratory Technology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Medical Imaging &amp; Radiologic Technology</a:t>
            </a:r>
            <a:endParaRPr lang="en-US" sz="1300" dirty="0"/>
          </a:p>
        </p:txBody>
      </p:sp>
      <p:sp>
        <p:nvSpPr>
          <p:cNvPr id="29" name="faculty-card-5"/>
          <p:cNvSpPr/>
          <p:nvPr/>
        </p:nvSpPr>
        <p:spPr>
          <a:xfrm>
            <a:off x="4800600" y="393192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30" name="faculty-icon-5-circle"/>
          <p:cNvSpPr/>
          <p:nvPr/>
        </p:nvSpPr>
        <p:spPr>
          <a:xfrm>
            <a:off x="5029200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faculty-icon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1846" y="430316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669280" y="4160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Business Sciences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5029200" y="4846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Accounting &amp; Software Applications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Digital Marketing &amp; E-Management</a:t>
            </a:r>
            <a:endParaRPr lang="en-US" sz="1300" dirty="0"/>
          </a:p>
        </p:txBody>
      </p:sp>
      <p:sp>
        <p:nvSpPr>
          <p:cNvPr id="34" name="faculty-card-6"/>
          <p:cNvSpPr/>
          <p:nvPr/>
        </p:nvSpPr>
        <p:spPr>
          <a:xfrm>
            <a:off x="7635240" y="393192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35" name="faculty-icon-6-circle"/>
          <p:cNvSpPr/>
          <p:nvPr/>
        </p:nvSpPr>
        <p:spPr>
          <a:xfrm>
            <a:off x="7863840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faculty-icon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6486" y="4303166"/>
            <a:ext cx="263347" cy="263347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503920" y="4160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Arts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7863840" y="4846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English Language &amp; Translation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Geomatics &amp; Artificial Intelligence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of Engineering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A shared preparatory year, then three future-focused specializations</a:t>
            </a:r>
            <a:endParaRPr lang="en-US" sz="1500" dirty="0"/>
          </a:p>
        </p:txBody>
      </p:sp>
      <p:pic>
        <p:nvPicPr>
          <p:cNvPr id="4" name="fac-photo" descr="Engineering students in white coats at a workshop training ses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886200" cy="2331720"/>
          </a:xfrm>
          <a:prstGeom prst="rect">
            <a:avLst/>
          </a:prstGeom>
        </p:spPr>
      </p:pic>
      <p:sp>
        <p:nvSpPr>
          <p:cNvPr id="5" name="fac-programs"/>
          <p:cNvSpPr/>
          <p:nvPr/>
        </p:nvSpPr>
        <p:spPr>
          <a:xfrm>
            <a:off x="548640" y="4114800"/>
            <a:ext cx="388620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42245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Programs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61772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Mechatronics &amp; Automation Engineering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AI &amp; Machine Learning Engineering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Construction Engineering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Energy &amp; Electrical Power Engineering</a:t>
            </a:r>
            <a:endParaRPr lang="en-US" sz="1300" dirty="0"/>
          </a:p>
        </p:txBody>
      </p:sp>
      <p:sp>
        <p:nvSpPr>
          <p:cNvPr id="8" name="fac-fact-0"/>
          <p:cNvSpPr/>
          <p:nvPr/>
        </p:nvSpPr>
        <p:spPr>
          <a:xfrm>
            <a:off x="4709160" y="160020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9" name="fac-fact-icon-0-circle"/>
          <p:cNvSpPr/>
          <p:nvPr/>
        </p:nvSpPr>
        <p:spPr>
          <a:xfrm>
            <a:off x="4892040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ac-fact-icon-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90195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70992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Hands-on from day one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Robotics projects, from line-following robots to 4- and 6-axis industrial robot models</a:t>
            </a:r>
            <a:endParaRPr lang="en-US" sz="1400" dirty="0"/>
          </a:p>
        </p:txBody>
      </p:sp>
      <p:sp>
        <p:nvSpPr>
          <p:cNvPr id="12" name="fac-fact-1"/>
          <p:cNvSpPr/>
          <p:nvPr/>
        </p:nvSpPr>
        <p:spPr>
          <a:xfrm>
            <a:off x="4709160" y="277749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fac-fact-icon-1-circle"/>
          <p:cNvSpPr/>
          <p:nvPr/>
        </p:nvSpPr>
        <p:spPr>
          <a:xfrm>
            <a:off x="4892040" y="296037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fac-fact-icon-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307924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86400" y="288721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Huawei ICT Academy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 students train in cloud, IoT and networking through Huawei's academy at EPNU</a:t>
            </a:r>
            <a:endParaRPr lang="en-US" sz="1400" dirty="0"/>
          </a:p>
        </p:txBody>
      </p:sp>
      <p:sp>
        <p:nvSpPr>
          <p:cNvPr id="16" name="fac-fact-2"/>
          <p:cNvSpPr/>
          <p:nvPr/>
        </p:nvSpPr>
        <p:spPr>
          <a:xfrm>
            <a:off x="4709160" y="395478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fac-fact-icon-2-circle"/>
          <p:cNvSpPr/>
          <p:nvPr/>
        </p:nvSpPr>
        <p:spPr>
          <a:xfrm>
            <a:off x="4892040" y="41376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fac-fact-icon-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425653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86400" y="406450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Industry training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Workshops at the Suez Canal Authority Training Center; a signed protocol with BEDO for factory training and applied research</a:t>
            </a:r>
            <a:endParaRPr lang="en-US" sz="1400" dirty="0"/>
          </a:p>
        </p:txBody>
      </p:sp>
      <p:sp>
        <p:nvSpPr>
          <p:cNvPr id="20" name="fac-fact-3"/>
          <p:cNvSpPr/>
          <p:nvPr/>
        </p:nvSpPr>
        <p:spPr>
          <a:xfrm>
            <a:off x="4709160" y="513207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1" name="fac-fact-icon-3-circle"/>
          <p:cNvSpPr/>
          <p:nvPr/>
        </p:nvSpPr>
        <p:spPr>
          <a:xfrm>
            <a:off x="4892040" y="531495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fac-fact-icon-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543382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486400" y="524179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Competing nationally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Teams at ITC-Egypt 2026 and the ICIAAI 2026 AI Hackathon</a:t>
            </a:r>
            <a:endParaRPr lang="en-US" sz="1400" dirty="0"/>
          </a:p>
        </p:txBody>
      </p:sp>
      <p:sp>
        <p:nvSpPr>
          <p:cNvPr id="24" name="director-card"/>
          <p:cNvSpPr/>
          <p:nvPr/>
        </p:nvSpPr>
        <p:spPr>
          <a:xfrm>
            <a:off x="8641080" y="1600200"/>
            <a:ext cx="3001975" cy="4526280"/>
          </a:xfrm>
          <a:prstGeom prst="roundRect">
            <a:avLst>
              <a:gd name="adj" fmla="val 4569"/>
            </a:avLst>
          </a:prstGeom>
          <a:solidFill>
            <a:schemeClr val="tx2"/>
          </a:solidFill>
          <a:ln/>
        </p:spPr>
      </p:sp>
      <p:sp>
        <p:nvSpPr>
          <p:cNvPr id="25" name="dir-icon-circle"/>
          <p:cNvSpPr/>
          <p:nvPr/>
        </p:nvSpPr>
        <p:spPr>
          <a:xfrm>
            <a:off x="8915400" y="18288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dir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6159" y="1959559"/>
            <a:ext cx="241402" cy="2414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555480" y="1828800"/>
            <a:ext cx="1904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</a:rPr>
              <a:t>Program Directors</a:t>
            </a:r>
            <a:endParaRPr lang="en-US" sz="1500" dirty="0"/>
          </a:p>
        </p:txBody>
      </p:sp>
      <p:sp>
        <p:nvSpPr>
          <p:cNvPr id="28" name="director-0"/>
          <p:cNvSpPr txBox="1"/>
          <p:nvPr/>
        </p:nvSpPr>
        <p:spPr>
          <a:xfrm>
            <a:off x="8915400" y="2514600"/>
            <a:ext cx="2453335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Assoc. Prof. Mohamed El-Sakka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D4FF"/>
                </a:solidFill>
              </a:rPr>
              <a:t>Mechatronics &amp; Automation · Engineering Programs · IR Office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DCE6F2"/>
                </a:solidFill>
              </a:rPr>
              <a:t>PhD, University of Sheffield (UK); wind-energy and CFD research at Port Said University.</a:t>
            </a:r>
            <a:endParaRPr lang="en-US" sz="1500" dirty="0"/>
          </a:p>
        </p:txBody>
      </p:sp>
      <p:sp>
        <p:nvSpPr>
          <p:cNvPr id="29" name="dir-sep"/>
          <p:cNvSpPr/>
          <p:nvPr/>
        </p:nvSpPr>
        <p:spPr>
          <a:xfrm>
            <a:off x="8915400" y="4201668"/>
            <a:ext cx="2453335" cy="0"/>
          </a:xfrm>
          <a:prstGeom prst="line">
            <a:avLst/>
          </a:prstGeom>
          <a:noFill/>
          <a:ln w="12700">
            <a:solidFill>
              <a:srgbClr val="35537F"/>
            </a:solidFill>
            <a:prstDash val="solid"/>
          </a:ln>
        </p:spPr>
      </p:sp>
      <p:sp>
        <p:nvSpPr>
          <p:cNvPr id="30" name="director-1"/>
          <p:cNvSpPr txBox="1"/>
          <p:nvPr/>
        </p:nvSpPr>
        <p:spPr>
          <a:xfrm>
            <a:off x="8915400" y="4274820"/>
            <a:ext cx="2453335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Assoc. Prof. Asmaa Rady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D4FF"/>
                </a:solidFill>
              </a:rPr>
              <a:t>AI &amp; Machine Learning · Construction · Training Center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DCE6F2"/>
                </a:solidFill>
              </a:rPr>
              <a:t>PhD, University of Exeter (UK; Newton-Mosharafa scholar); research fellow, Politecnico di Torino.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of Computer Science &amp; IT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Four-year programs built around AI, data and digital health</a:t>
            </a:r>
            <a:endParaRPr lang="en-US" sz="1500" dirty="0"/>
          </a:p>
        </p:txBody>
      </p:sp>
      <p:pic>
        <p:nvPicPr>
          <p:cNvPr id="4" name="fac-photo" descr="Computer science students competing at laptops in a programming conte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886200" cy="2331720"/>
          </a:xfrm>
          <a:prstGeom prst="rect">
            <a:avLst/>
          </a:prstGeom>
        </p:spPr>
      </p:pic>
      <p:sp>
        <p:nvSpPr>
          <p:cNvPr id="5" name="fac-programs"/>
          <p:cNvSpPr/>
          <p:nvPr/>
        </p:nvSpPr>
        <p:spPr>
          <a:xfrm>
            <a:off x="548640" y="4114800"/>
            <a:ext cx="388620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42245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Programs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61772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Computer Science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Artificial Intelligence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Data Science in Information Systems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Biomedical Informatics</a:t>
            </a:r>
            <a:endParaRPr lang="en-US" sz="1300" dirty="0"/>
          </a:p>
        </p:txBody>
      </p:sp>
      <p:sp>
        <p:nvSpPr>
          <p:cNvPr id="8" name="fac-fact-0"/>
          <p:cNvSpPr/>
          <p:nvPr/>
        </p:nvSpPr>
        <p:spPr>
          <a:xfrm>
            <a:off x="4709160" y="160020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9" name="fac-fact-icon-0-circle"/>
          <p:cNvSpPr/>
          <p:nvPr/>
        </p:nvSpPr>
        <p:spPr>
          <a:xfrm>
            <a:off x="4892040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ac-fact-icon-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90195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70992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 at the core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Machine learning, intelligent systems and decision support across the programs</a:t>
            </a:r>
            <a:endParaRPr lang="en-US" sz="1400" dirty="0"/>
          </a:p>
        </p:txBody>
      </p:sp>
      <p:sp>
        <p:nvSpPr>
          <p:cNvPr id="12" name="fac-fact-1"/>
          <p:cNvSpPr/>
          <p:nvPr/>
        </p:nvSpPr>
        <p:spPr>
          <a:xfrm>
            <a:off x="4709160" y="277749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fac-fact-icon-1-circle"/>
          <p:cNvSpPr/>
          <p:nvPr/>
        </p:nvSpPr>
        <p:spPr>
          <a:xfrm>
            <a:off x="4892040" y="296037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fac-fact-icon-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307924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86400" y="288721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Computing meets medicine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Biomedical Informatics builds systems on clinical data, biometrics and medical imaging</a:t>
            </a:r>
            <a:endParaRPr lang="en-US" sz="1400" dirty="0"/>
          </a:p>
        </p:txBody>
      </p:sp>
      <p:sp>
        <p:nvSpPr>
          <p:cNvPr id="16" name="fac-fact-2"/>
          <p:cNvSpPr/>
          <p:nvPr/>
        </p:nvSpPr>
        <p:spPr>
          <a:xfrm>
            <a:off x="4709160" y="395478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fac-fact-icon-2-circle"/>
          <p:cNvSpPr/>
          <p:nvPr/>
        </p:nvSpPr>
        <p:spPr>
          <a:xfrm>
            <a:off x="4892040" y="41376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fac-fact-icon-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425653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86400" y="406450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Competitive programmers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Qualified for the Egyptian Collegiate Programming Contest (ECPC) 2026; ICPC-style community contests on campus</a:t>
            </a:r>
            <a:endParaRPr lang="en-US" sz="1400" dirty="0"/>
          </a:p>
        </p:txBody>
      </p:sp>
      <p:sp>
        <p:nvSpPr>
          <p:cNvPr id="20" name="fac-fact-3"/>
          <p:cNvSpPr/>
          <p:nvPr/>
        </p:nvSpPr>
        <p:spPr>
          <a:xfrm>
            <a:off x="4709160" y="513207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1" name="fac-fact-icon-3-circle"/>
          <p:cNvSpPr/>
          <p:nvPr/>
        </p:nvSpPr>
        <p:spPr>
          <a:xfrm>
            <a:off x="4892040" y="531495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fac-fact-icon-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543382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486400" y="524179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Skills partners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Cooperation talks with ITI and Creativa Port Said on digital-skills training</a:t>
            </a:r>
            <a:endParaRPr lang="en-US" sz="1400" dirty="0"/>
          </a:p>
        </p:txBody>
      </p:sp>
      <p:sp>
        <p:nvSpPr>
          <p:cNvPr id="24" name="director-card"/>
          <p:cNvSpPr/>
          <p:nvPr/>
        </p:nvSpPr>
        <p:spPr>
          <a:xfrm>
            <a:off x="8641080" y="1600200"/>
            <a:ext cx="3001975" cy="4526280"/>
          </a:xfrm>
          <a:prstGeom prst="roundRect">
            <a:avLst>
              <a:gd name="adj" fmla="val 4569"/>
            </a:avLst>
          </a:prstGeom>
          <a:solidFill>
            <a:schemeClr val="tx2"/>
          </a:solidFill>
          <a:ln/>
        </p:spPr>
      </p:sp>
      <p:sp>
        <p:nvSpPr>
          <p:cNvPr id="25" name="dir-icon-circle"/>
          <p:cNvSpPr/>
          <p:nvPr/>
        </p:nvSpPr>
        <p:spPr>
          <a:xfrm>
            <a:off x="8915400" y="18288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dir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6159" y="1959559"/>
            <a:ext cx="241402" cy="2414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555480" y="1828800"/>
            <a:ext cx="1904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</a:rPr>
              <a:t>Program Director</a:t>
            </a:r>
            <a:endParaRPr lang="en-US" sz="1500" dirty="0"/>
          </a:p>
        </p:txBody>
      </p:sp>
      <p:sp>
        <p:nvSpPr>
          <p:cNvPr id="28" name="director-0"/>
          <p:cNvSpPr txBox="1"/>
          <p:nvPr/>
        </p:nvSpPr>
        <p:spPr>
          <a:xfrm>
            <a:off x="8915400" y="2514600"/>
            <a:ext cx="245333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Prof. Osama El-Baksawy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D4FF"/>
                </a:solidFill>
              </a:rPr>
              <a:t>Director of the Faculty's Programs · Quality Assurance Center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</a:rPr>
              <a:t>Faculty member in Electrical Power &amp; Machines Engineering at Port Said University. His research covers renewable energy, fractional-order control and metaheuristic optimization, with 24 indexed papers and 780+ citations (h-index 15, OpenAlex).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of Medicine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An integrated, English-medium MBBCh with early clinical exposure</a:t>
            </a:r>
            <a:endParaRPr lang="en-US" sz="1500" dirty="0"/>
          </a:p>
        </p:txBody>
      </p:sp>
      <p:pic>
        <p:nvPicPr>
          <p:cNvPr id="4" name="fac-photo" descr="Medical student measuring a patient's blood pressure at a clinical outrea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886200" cy="2331720"/>
          </a:xfrm>
          <a:prstGeom prst="rect">
            <a:avLst/>
          </a:prstGeom>
        </p:spPr>
      </p:pic>
      <p:sp>
        <p:nvSpPr>
          <p:cNvPr id="5" name="fac-programs"/>
          <p:cNvSpPr/>
          <p:nvPr/>
        </p:nvSpPr>
        <p:spPr>
          <a:xfrm>
            <a:off x="548640" y="4114800"/>
            <a:ext cx="388620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42245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Programs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61772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Bachelor of Medicine &amp; Surgery (MBBCh)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5 years (10 semesters) + 2-year internship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ECTS credit system, taught in English</a:t>
            </a:r>
            <a:endParaRPr lang="en-US" sz="1300" dirty="0"/>
          </a:p>
        </p:txBody>
      </p:sp>
      <p:sp>
        <p:nvSpPr>
          <p:cNvPr id="8" name="fac-fact-0"/>
          <p:cNvSpPr/>
          <p:nvPr/>
        </p:nvSpPr>
        <p:spPr>
          <a:xfrm>
            <a:off x="4709160" y="160020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9" name="fac-fact-icon-0-circle"/>
          <p:cNvSpPr/>
          <p:nvPr/>
        </p:nvSpPr>
        <p:spPr>
          <a:xfrm>
            <a:off x="4892040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ac-fact-icon-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90195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70992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Integrated curriculum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Basic sciences, clinical training and community service taught together</a:t>
            </a:r>
            <a:endParaRPr lang="en-US" sz="1400" dirty="0"/>
          </a:p>
        </p:txBody>
      </p:sp>
      <p:sp>
        <p:nvSpPr>
          <p:cNvPr id="12" name="fac-fact-1"/>
          <p:cNvSpPr/>
          <p:nvPr/>
        </p:nvSpPr>
        <p:spPr>
          <a:xfrm>
            <a:off x="4709160" y="277749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fac-fact-icon-1-circle"/>
          <p:cNvSpPr/>
          <p:nvPr/>
        </p:nvSpPr>
        <p:spPr>
          <a:xfrm>
            <a:off x="4892040" y="296037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fac-fact-icon-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307924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86400" y="288721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Community medicine in Sinai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Students train with medical convoys at primary-care units in North Sinai</a:t>
            </a:r>
            <a:endParaRPr lang="en-US" sz="1400" dirty="0"/>
          </a:p>
        </p:txBody>
      </p:sp>
      <p:sp>
        <p:nvSpPr>
          <p:cNvPr id="16" name="fac-fact-2"/>
          <p:cNvSpPr/>
          <p:nvPr/>
        </p:nvSpPr>
        <p:spPr>
          <a:xfrm>
            <a:off x="4709160" y="395478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fac-fact-icon-2-circle"/>
          <p:cNvSpPr/>
          <p:nvPr/>
        </p:nvSpPr>
        <p:spPr>
          <a:xfrm>
            <a:off x="4892040" y="41376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fac-fact-icon-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425653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86400" y="406450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Student research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Medical students present papers at national conferences, including Ain Shams and Suez Canal universities</a:t>
            </a:r>
            <a:endParaRPr lang="en-US" sz="1400" dirty="0"/>
          </a:p>
        </p:txBody>
      </p:sp>
      <p:sp>
        <p:nvSpPr>
          <p:cNvPr id="20" name="fac-fact-3"/>
          <p:cNvSpPr/>
          <p:nvPr/>
        </p:nvSpPr>
        <p:spPr>
          <a:xfrm>
            <a:off x="4709160" y="513207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1" name="fac-fact-icon-3-circle"/>
          <p:cNvSpPr/>
          <p:nvPr/>
        </p:nvSpPr>
        <p:spPr>
          <a:xfrm>
            <a:off x="4892040" y="531495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fac-fact-icon-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543382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486400" y="524179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Clinical partners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Port Said University's new university hospital; a signed protocol with Ahl Masr Hospital; MoU with 57357</a:t>
            </a:r>
            <a:endParaRPr lang="en-US" sz="1400" dirty="0"/>
          </a:p>
        </p:txBody>
      </p:sp>
      <p:sp>
        <p:nvSpPr>
          <p:cNvPr id="24" name="director-card"/>
          <p:cNvSpPr/>
          <p:nvPr/>
        </p:nvSpPr>
        <p:spPr>
          <a:xfrm>
            <a:off x="8641080" y="1600200"/>
            <a:ext cx="3001975" cy="4526280"/>
          </a:xfrm>
          <a:prstGeom prst="roundRect">
            <a:avLst>
              <a:gd name="adj" fmla="val 4569"/>
            </a:avLst>
          </a:prstGeom>
          <a:solidFill>
            <a:schemeClr val="tx2"/>
          </a:solidFill>
          <a:ln/>
        </p:spPr>
      </p:sp>
      <p:sp>
        <p:nvSpPr>
          <p:cNvPr id="25" name="dir-icon-circle"/>
          <p:cNvSpPr/>
          <p:nvPr/>
        </p:nvSpPr>
        <p:spPr>
          <a:xfrm>
            <a:off x="8915400" y="18288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dir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6159" y="1959559"/>
            <a:ext cx="241402" cy="2414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555480" y="1828800"/>
            <a:ext cx="1904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</a:rPr>
              <a:t>Program Director</a:t>
            </a:r>
            <a:endParaRPr lang="en-US" sz="1500" dirty="0"/>
          </a:p>
        </p:txBody>
      </p:sp>
      <p:sp>
        <p:nvSpPr>
          <p:cNvPr id="28" name="director-0"/>
          <p:cNvSpPr txBox="1"/>
          <p:nvPr/>
        </p:nvSpPr>
        <p:spPr>
          <a:xfrm>
            <a:off x="8915400" y="2514600"/>
            <a:ext cx="245333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Assoc. Prof. Sherine El-Khouly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D4FF"/>
                </a:solidFill>
              </a:rPr>
              <a:t>Program Director, Medicine &amp; Surgery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</a:rPr>
              <a:t>Leads the alignment of medical training and learning outcomes with Egypt's healthcare needs. She supervises student research, clinical training and community medical convoys, and holds a professional diploma (grade: Excellent) from GAHAR, Egypt's healthcare accreditation authority.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of Pharmacy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Clinical Pharmacy (PharmD) with a strong research and industry base</a:t>
            </a:r>
            <a:endParaRPr lang="en-US" sz="1500" dirty="0"/>
          </a:p>
        </p:txBody>
      </p:sp>
      <p:pic>
        <p:nvPicPr>
          <p:cNvPr id="4" name="fac-photo" descr="Pharmacy students receiving certificates of achievement at a faculty ev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886200" cy="2331720"/>
          </a:xfrm>
          <a:prstGeom prst="rect">
            <a:avLst/>
          </a:prstGeom>
        </p:spPr>
      </p:pic>
      <p:sp>
        <p:nvSpPr>
          <p:cNvPr id="5" name="fac-programs"/>
          <p:cNvSpPr/>
          <p:nvPr/>
        </p:nvSpPr>
        <p:spPr>
          <a:xfrm>
            <a:off x="548640" y="4114800"/>
            <a:ext cx="388620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42245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Programs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61772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Bachelor of Pharmacy: PharmD (Clinical Pharmacy)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10 semesters, taught in English</a:t>
            </a:r>
            <a:endParaRPr lang="en-US" sz="1300" dirty="0"/>
          </a:p>
        </p:txBody>
      </p:sp>
      <p:sp>
        <p:nvSpPr>
          <p:cNvPr id="8" name="fac-fact-0"/>
          <p:cNvSpPr/>
          <p:nvPr/>
        </p:nvSpPr>
        <p:spPr>
          <a:xfrm>
            <a:off x="4709160" y="160020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9" name="fac-fact-icon-0-circle"/>
          <p:cNvSpPr/>
          <p:nvPr/>
        </p:nvSpPr>
        <p:spPr>
          <a:xfrm>
            <a:off x="4892040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ac-fact-icon-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90195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70992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Modern labs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HPLC and UV-Vis instruments, plus clinical simulation rooms for dose calculation</a:t>
            </a:r>
            <a:endParaRPr lang="en-US" sz="1400" dirty="0"/>
          </a:p>
        </p:txBody>
      </p:sp>
      <p:sp>
        <p:nvSpPr>
          <p:cNvPr id="12" name="fac-fact-1"/>
          <p:cNvSpPr/>
          <p:nvPr/>
        </p:nvSpPr>
        <p:spPr>
          <a:xfrm>
            <a:off x="4709160" y="277749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fac-fact-icon-1-circle"/>
          <p:cNvSpPr/>
          <p:nvPr/>
        </p:nvSpPr>
        <p:spPr>
          <a:xfrm>
            <a:off x="4892040" y="296037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fac-fact-icon-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307924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86400" y="288721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Industry partners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EIPICO, EVA Pharma, Lavender Life and Royal Cosmetics</a:t>
            </a:r>
            <a:endParaRPr lang="en-US" sz="1400" dirty="0"/>
          </a:p>
        </p:txBody>
      </p:sp>
      <p:sp>
        <p:nvSpPr>
          <p:cNvPr id="16" name="fac-fact-2"/>
          <p:cNvSpPr/>
          <p:nvPr/>
        </p:nvSpPr>
        <p:spPr>
          <a:xfrm>
            <a:off x="4709160" y="395478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fac-fact-icon-2-circle"/>
          <p:cNvSpPr/>
          <p:nvPr/>
        </p:nvSpPr>
        <p:spPr>
          <a:xfrm>
            <a:off x="4892040" y="41376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fac-fact-icon-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425653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86400" y="406450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First international partner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Leads the Universiti Putra Malaysia partnership and joint webinars</a:t>
            </a:r>
            <a:endParaRPr lang="en-US" sz="1400" dirty="0"/>
          </a:p>
        </p:txBody>
      </p:sp>
      <p:sp>
        <p:nvSpPr>
          <p:cNvPr id="20" name="fac-fact-3"/>
          <p:cNvSpPr/>
          <p:nvPr/>
        </p:nvSpPr>
        <p:spPr>
          <a:xfrm>
            <a:off x="4709160" y="513207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1" name="fac-fact-icon-3-circle"/>
          <p:cNvSpPr/>
          <p:nvPr/>
        </p:nvSpPr>
        <p:spPr>
          <a:xfrm>
            <a:off x="4892040" y="531495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fac-fact-icon-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543382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486400" y="524179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Research-active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Pharmacy and medicinal chemistry account for most of EPNU's international papers</a:t>
            </a:r>
            <a:endParaRPr lang="en-US" sz="1400" dirty="0"/>
          </a:p>
        </p:txBody>
      </p:sp>
      <p:sp>
        <p:nvSpPr>
          <p:cNvPr id="24" name="director-card"/>
          <p:cNvSpPr/>
          <p:nvPr/>
        </p:nvSpPr>
        <p:spPr>
          <a:xfrm>
            <a:off x="8641080" y="1600200"/>
            <a:ext cx="3001975" cy="4526280"/>
          </a:xfrm>
          <a:prstGeom prst="roundRect">
            <a:avLst>
              <a:gd name="adj" fmla="val 4569"/>
            </a:avLst>
          </a:prstGeom>
          <a:solidFill>
            <a:schemeClr val="tx2"/>
          </a:solidFill>
          <a:ln/>
        </p:spPr>
      </p:sp>
      <p:sp>
        <p:nvSpPr>
          <p:cNvPr id="25" name="dir-icon-circle"/>
          <p:cNvSpPr/>
          <p:nvPr/>
        </p:nvSpPr>
        <p:spPr>
          <a:xfrm>
            <a:off x="8915400" y="18288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dir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6159" y="1959559"/>
            <a:ext cx="241402" cy="2414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555480" y="1828800"/>
            <a:ext cx="1904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</a:rPr>
              <a:t>Program Director</a:t>
            </a:r>
            <a:endParaRPr lang="en-US" sz="1500" dirty="0"/>
          </a:p>
        </p:txBody>
      </p:sp>
      <p:sp>
        <p:nvSpPr>
          <p:cNvPr id="28" name="director-0"/>
          <p:cNvSpPr txBox="1"/>
          <p:nvPr/>
        </p:nvSpPr>
        <p:spPr>
          <a:xfrm>
            <a:off x="8915400" y="2514600"/>
            <a:ext cx="245333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Assoc. Prof. Mohamed Yasser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D4FF"/>
                </a:solidFill>
              </a:rPr>
              <a:t>Program Director, Clinical Pharmacy · Entrepreneurship Club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</a:rPr>
              <a:t>Faculty member in the Department of Pharmaceutics, Faculty of Pharmacy, Port Said University. His interests include pharmaceutical and cosmetic formulation, and he champions entrepreneurship and innovation among EPNU's pharmacy students.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of Applied Health Sciences Technology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Training the technologists behind modern diagnostics</a:t>
            </a:r>
            <a:endParaRPr lang="en-US" sz="1500" dirty="0"/>
          </a:p>
        </p:txBody>
      </p:sp>
      <p:pic>
        <p:nvPicPr>
          <p:cNvPr id="4" name="fac-photo" descr="Applied health sciences students using microscopes in a clinical labora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886200" cy="2331720"/>
          </a:xfrm>
          <a:prstGeom prst="rect">
            <a:avLst/>
          </a:prstGeom>
        </p:spPr>
      </p:pic>
      <p:sp>
        <p:nvSpPr>
          <p:cNvPr id="5" name="fac-programs"/>
          <p:cNvSpPr/>
          <p:nvPr/>
        </p:nvSpPr>
        <p:spPr>
          <a:xfrm>
            <a:off x="548640" y="4114800"/>
            <a:ext cx="388620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42245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Programs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61772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Medical Laboratory Technology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Medical Imaging &amp; Radiologic Technology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Taught in English (131 credit hours)</a:t>
            </a:r>
            <a:endParaRPr lang="en-US" sz="1300" dirty="0"/>
          </a:p>
        </p:txBody>
      </p:sp>
      <p:sp>
        <p:nvSpPr>
          <p:cNvPr id="8" name="fac-fact-0"/>
          <p:cNvSpPr/>
          <p:nvPr/>
        </p:nvSpPr>
        <p:spPr>
          <a:xfrm>
            <a:off x="4709160" y="160020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9" name="fac-fact-icon-0-circle"/>
          <p:cNvSpPr/>
          <p:nvPr/>
        </p:nvSpPr>
        <p:spPr>
          <a:xfrm>
            <a:off x="4892040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ac-fact-icon-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90195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70992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Diagnostic labs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Hematology, biochemistry, microbiology and microscopy labs</a:t>
            </a:r>
            <a:endParaRPr lang="en-US" sz="1400" dirty="0"/>
          </a:p>
        </p:txBody>
      </p:sp>
      <p:sp>
        <p:nvSpPr>
          <p:cNvPr id="12" name="fac-fact-1"/>
          <p:cNvSpPr/>
          <p:nvPr/>
        </p:nvSpPr>
        <p:spPr>
          <a:xfrm>
            <a:off x="4709160" y="277749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fac-fact-icon-1-circle"/>
          <p:cNvSpPr/>
          <p:nvPr/>
        </p:nvSpPr>
        <p:spPr>
          <a:xfrm>
            <a:off x="4892040" y="296037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fac-fact-icon-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307924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86400" y="288721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Imaging training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Training on X-ray, CT and MRI equipment, with radiation protection and quality standards</a:t>
            </a:r>
            <a:endParaRPr lang="en-US" sz="1400" dirty="0"/>
          </a:p>
        </p:txBody>
      </p:sp>
      <p:sp>
        <p:nvSpPr>
          <p:cNvPr id="16" name="fac-fact-2"/>
          <p:cNvSpPr/>
          <p:nvPr/>
        </p:nvSpPr>
        <p:spPr>
          <a:xfrm>
            <a:off x="4709160" y="395478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fac-fact-icon-2-circle"/>
          <p:cNvSpPr/>
          <p:nvPr/>
        </p:nvSpPr>
        <p:spPr>
          <a:xfrm>
            <a:off x="4892040" y="41376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fac-fact-icon-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425653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86400" y="406450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Hospital training network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Port Said University Hospital, Saudi German Hospital Cairo, Ahl Masr Hospital and 57357</a:t>
            </a:r>
            <a:endParaRPr lang="en-US" sz="1400" dirty="0"/>
          </a:p>
        </p:txBody>
      </p:sp>
      <p:sp>
        <p:nvSpPr>
          <p:cNvPr id="20" name="fac-fact-3"/>
          <p:cNvSpPr/>
          <p:nvPr/>
        </p:nvSpPr>
        <p:spPr>
          <a:xfrm>
            <a:off x="4709160" y="513207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1" name="fac-fact-icon-3-circle"/>
          <p:cNvSpPr/>
          <p:nvPr/>
        </p:nvSpPr>
        <p:spPr>
          <a:xfrm>
            <a:off x="4892040" y="531495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fac-fact-icon-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543382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486400" y="524179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57357 MoU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signed MoU with the 57357 Group covers practical training and research</a:t>
            </a:r>
            <a:endParaRPr lang="en-US" sz="1400" dirty="0"/>
          </a:p>
        </p:txBody>
      </p:sp>
      <p:sp>
        <p:nvSpPr>
          <p:cNvPr id="24" name="director-card"/>
          <p:cNvSpPr/>
          <p:nvPr/>
        </p:nvSpPr>
        <p:spPr>
          <a:xfrm>
            <a:off x="8641080" y="1600200"/>
            <a:ext cx="3001975" cy="4526280"/>
          </a:xfrm>
          <a:prstGeom prst="roundRect">
            <a:avLst>
              <a:gd name="adj" fmla="val 4569"/>
            </a:avLst>
          </a:prstGeom>
          <a:solidFill>
            <a:schemeClr val="tx2"/>
          </a:solidFill>
          <a:ln/>
        </p:spPr>
      </p:sp>
      <p:sp>
        <p:nvSpPr>
          <p:cNvPr id="25" name="dir-icon-circle"/>
          <p:cNvSpPr/>
          <p:nvPr/>
        </p:nvSpPr>
        <p:spPr>
          <a:xfrm>
            <a:off x="8915400" y="18288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dir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6159" y="1959559"/>
            <a:ext cx="241402" cy="2414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555480" y="1828800"/>
            <a:ext cx="1904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</a:rPr>
              <a:t>Program Director</a:t>
            </a:r>
            <a:endParaRPr lang="en-US" sz="1500" dirty="0"/>
          </a:p>
        </p:txBody>
      </p:sp>
      <p:sp>
        <p:nvSpPr>
          <p:cNvPr id="28" name="director-0"/>
          <p:cNvSpPr txBox="1"/>
          <p:nvPr/>
        </p:nvSpPr>
        <p:spPr>
          <a:xfrm>
            <a:off x="8915400" y="2514600"/>
            <a:ext cx="245333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Dr. Salma Khairallah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D4FF"/>
                </a:solidFill>
              </a:rPr>
              <a:t>Director of the Faculty's Programs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</a:rPr>
              <a:t>Directs both the Medical Laboratory and Medical Imaging programs. She holds a PhD in Biochemistry from Port Said University's Faculty of Science, where she previously directed the Biochemistry &amp; Microbiology program.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of Business Sciences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Accounting and marketing for a digital economy</a:t>
            </a:r>
            <a:endParaRPr lang="en-US" sz="1500" dirty="0"/>
          </a:p>
        </p:txBody>
      </p:sp>
      <p:pic>
        <p:nvPicPr>
          <p:cNvPr id="4" name="fac-photo" descr="Students in business attire meeting around a conference 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886200" cy="2331720"/>
          </a:xfrm>
          <a:prstGeom prst="rect">
            <a:avLst/>
          </a:prstGeom>
        </p:spPr>
      </p:pic>
      <p:sp>
        <p:nvSpPr>
          <p:cNvPr id="5" name="fac-programs"/>
          <p:cNvSpPr/>
          <p:nvPr/>
        </p:nvSpPr>
        <p:spPr>
          <a:xfrm>
            <a:off x="548640" y="4114800"/>
            <a:ext cx="388620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42245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Programs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61772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Accounting &amp; Software Applications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Digital Marketing &amp; E-Management</a:t>
            </a:r>
            <a:endParaRPr lang="en-US" sz="1300" dirty="0"/>
          </a:p>
        </p:txBody>
      </p:sp>
      <p:sp>
        <p:nvSpPr>
          <p:cNvPr id="8" name="fac-fact-0"/>
          <p:cNvSpPr/>
          <p:nvPr/>
        </p:nvSpPr>
        <p:spPr>
          <a:xfrm>
            <a:off x="4709160" y="160020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9" name="fac-fact-icon-0-circle"/>
          <p:cNvSpPr/>
          <p:nvPr/>
        </p:nvSpPr>
        <p:spPr>
          <a:xfrm>
            <a:off x="4892040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ac-fact-icon-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90195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70992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Digital accounting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Accounting information systems, financial software and financial analysis</a:t>
            </a:r>
            <a:endParaRPr lang="en-US" sz="1400" dirty="0"/>
          </a:p>
        </p:txBody>
      </p:sp>
      <p:sp>
        <p:nvSpPr>
          <p:cNvPr id="12" name="fac-fact-1"/>
          <p:cNvSpPr/>
          <p:nvPr/>
        </p:nvSpPr>
        <p:spPr>
          <a:xfrm>
            <a:off x="4709160" y="277749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fac-fact-icon-1-circle"/>
          <p:cNvSpPr/>
          <p:nvPr/>
        </p:nvSpPr>
        <p:spPr>
          <a:xfrm>
            <a:off x="4892040" y="296037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fac-fact-icon-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307924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86400" y="288721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Digital marketing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Campaigns, e-commerce, platform management and consumer analytics</a:t>
            </a:r>
            <a:endParaRPr lang="en-US" sz="1400" dirty="0"/>
          </a:p>
        </p:txBody>
      </p:sp>
      <p:sp>
        <p:nvSpPr>
          <p:cNvPr id="16" name="fac-fact-2"/>
          <p:cNvSpPr/>
          <p:nvPr/>
        </p:nvSpPr>
        <p:spPr>
          <a:xfrm>
            <a:off x="4709160" y="395478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fac-fact-icon-2-circle"/>
          <p:cNvSpPr/>
          <p:nvPr/>
        </p:nvSpPr>
        <p:spPr>
          <a:xfrm>
            <a:off x="4892040" y="41376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fac-fact-icon-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425653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86400" y="406450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First cohort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faculty welcomed its first cohort with a dedicated orientation day</a:t>
            </a:r>
            <a:endParaRPr lang="en-US" sz="1400" dirty="0"/>
          </a:p>
        </p:txBody>
      </p:sp>
      <p:sp>
        <p:nvSpPr>
          <p:cNvPr id="20" name="fac-fact-3"/>
          <p:cNvSpPr/>
          <p:nvPr/>
        </p:nvSpPr>
        <p:spPr>
          <a:xfrm>
            <a:off x="4709160" y="513207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1" name="fac-fact-icon-3-circle"/>
          <p:cNvSpPr/>
          <p:nvPr/>
        </p:nvSpPr>
        <p:spPr>
          <a:xfrm>
            <a:off x="4892040" y="531495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fac-fact-icon-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543382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486400" y="524179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Career-ready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Pathways to accounting, auditing, taxation, banking, marketing and e-commerce roles</a:t>
            </a:r>
            <a:endParaRPr lang="en-US" sz="1400" dirty="0"/>
          </a:p>
        </p:txBody>
      </p:sp>
      <p:sp>
        <p:nvSpPr>
          <p:cNvPr id="24" name="director-card"/>
          <p:cNvSpPr/>
          <p:nvPr/>
        </p:nvSpPr>
        <p:spPr>
          <a:xfrm>
            <a:off x="8641080" y="1600200"/>
            <a:ext cx="3001975" cy="4526280"/>
          </a:xfrm>
          <a:prstGeom prst="roundRect">
            <a:avLst>
              <a:gd name="adj" fmla="val 4569"/>
            </a:avLst>
          </a:prstGeom>
          <a:solidFill>
            <a:schemeClr val="tx2"/>
          </a:solidFill>
          <a:ln/>
        </p:spPr>
      </p:sp>
      <p:sp>
        <p:nvSpPr>
          <p:cNvPr id="25" name="dir-icon-circle"/>
          <p:cNvSpPr/>
          <p:nvPr/>
        </p:nvSpPr>
        <p:spPr>
          <a:xfrm>
            <a:off x="8915400" y="18288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dir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6159" y="1959559"/>
            <a:ext cx="241402" cy="2414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555480" y="1828800"/>
            <a:ext cx="1904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</a:rPr>
              <a:t>Program Director</a:t>
            </a:r>
            <a:endParaRPr lang="en-US" sz="1500" dirty="0"/>
          </a:p>
        </p:txBody>
      </p:sp>
      <p:sp>
        <p:nvSpPr>
          <p:cNvPr id="28" name="director-0"/>
          <p:cNvSpPr txBox="1"/>
          <p:nvPr/>
        </p:nvSpPr>
        <p:spPr>
          <a:xfrm>
            <a:off x="8915400" y="2514600"/>
            <a:ext cx="245333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Dr. Ali Gomaa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D4FF"/>
                </a:solidFill>
              </a:rPr>
              <a:t>Program Director, Accounting &amp; Software Applications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</a:rPr>
              <a:t>Leads the Accounting &amp; Software Applications program, which prepares students for accounting, auditing, financial analysis, taxation and financial-software careers.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of Arts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Humanities connected to technology and global communication</a:t>
            </a:r>
            <a:endParaRPr lang="en-US" sz="1500" dirty="0"/>
          </a:p>
        </p:txBody>
      </p:sp>
      <p:pic>
        <p:nvPicPr>
          <p:cNvPr id="4" name="fac-photo" descr="Students and staff in traditional Sinai heritage dress at Sinai Cultural D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886200" cy="2331720"/>
          </a:xfrm>
          <a:prstGeom prst="rect">
            <a:avLst/>
          </a:prstGeom>
        </p:spPr>
      </p:pic>
      <p:sp>
        <p:nvSpPr>
          <p:cNvPr id="5" name="fac-programs"/>
          <p:cNvSpPr/>
          <p:nvPr/>
        </p:nvSpPr>
        <p:spPr>
          <a:xfrm>
            <a:off x="548640" y="4114800"/>
            <a:ext cx="388620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42245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Programs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61772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English Language &amp; Translation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Geomatics &amp; Artificial Intelligence</a:t>
            </a:r>
            <a:endParaRPr lang="en-US" sz="1300" dirty="0"/>
          </a:p>
        </p:txBody>
      </p:sp>
      <p:sp>
        <p:nvSpPr>
          <p:cNvPr id="8" name="fac-fact-0"/>
          <p:cNvSpPr/>
          <p:nvPr/>
        </p:nvSpPr>
        <p:spPr>
          <a:xfrm>
            <a:off x="4709160" y="160020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9" name="fac-fact-icon-0-circle"/>
          <p:cNvSpPr/>
          <p:nvPr/>
        </p:nvSpPr>
        <p:spPr>
          <a:xfrm>
            <a:off x="4892040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ac-fact-icon-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90195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70992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Specialized translation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Written and interpreting translation: medical, legal, literary and audiovisual</a:t>
            </a:r>
            <a:endParaRPr lang="en-US" sz="1400" dirty="0"/>
          </a:p>
        </p:txBody>
      </p:sp>
      <p:sp>
        <p:nvSpPr>
          <p:cNvPr id="12" name="fac-fact-1"/>
          <p:cNvSpPr/>
          <p:nvPr/>
        </p:nvSpPr>
        <p:spPr>
          <a:xfrm>
            <a:off x="4709160" y="277749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fac-fact-icon-1-circle"/>
          <p:cNvSpPr/>
          <p:nvPr/>
        </p:nvSpPr>
        <p:spPr>
          <a:xfrm>
            <a:off x="4892040" y="296037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fac-fact-icon-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307924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86400" y="288721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Geomatics &amp; AI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GIS, remote sensing, digital surveying and AI-based spatial analysis</a:t>
            </a:r>
            <a:endParaRPr lang="en-US" sz="1400" dirty="0"/>
          </a:p>
        </p:txBody>
      </p:sp>
      <p:sp>
        <p:nvSpPr>
          <p:cNvPr id="16" name="fac-fact-2"/>
          <p:cNvSpPr/>
          <p:nvPr/>
        </p:nvSpPr>
        <p:spPr>
          <a:xfrm>
            <a:off x="4709160" y="395478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fac-fact-icon-2-circle"/>
          <p:cNvSpPr/>
          <p:nvPr/>
        </p:nvSpPr>
        <p:spPr>
          <a:xfrm>
            <a:off x="4892040" y="41376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fac-fact-icon-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425653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86400" y="406450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Smart-city careers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Graduates target GIS, urban planning, smart cities and telecoms</a:t>
            </a:r>
            <a:endParaRPr lang="en-US" sz="1400" dirty="0"/>
          </a:p>
        </p:txBody>
      </p:sp>
      <p:sp>
        <p:nvSpPr>
          <p:cNvPr id="20" name="fac-fact-3"/>
          <p:cNvSpPr/>
          <p:nvPr/>
        </p:nvSpPr>
        <p:spPr>
          <a:xfrm>
            <a:off x="4709160" y="5132070"/>
            <a:ext cx="3657600" cy="99441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1" name="fac-fact-icon-3-circle"/>
          <p:cNvSpPr/>
          <p:nvPr/>
        </p:nvSpPr>
        <p:spPr>
          <a:xfrm>
            <a:off x="4892040" y="531495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fac-fact-icon-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543382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486400" y="5241798"/>
            <a:ext cx="274320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Intercultural skills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Applied linguistics and communication for media, tourism and diplomacy</a:t>
            </a:r>
            <a:endParaRPr lang="en-US" sz="1400" dirty="0"/>
          </a:p>
        </p:txBody>
      </p:sp>
      <p:sp>
        <p:nvSpPr>
          <p:cNvPr id="24" name="director-card"/>
          <p:cNvSpPr/>
          <p:nvPr/>
        </p:nvSpPr>
        <p:spPr>
          <a:xfrm>
            <a:off x="8641080" y="1600200"/>
            <a:ext cx="3001975" cy="4526280"/>
          </a:xfrm>
          <a:prstGeom prst="roundRect">
            <a:avLst>
              <a:gd name="adj" fmla="val 4569"/>
            </a:avLst>
          </a:prstGeom>
          <a:solidFill>
            <a:schemeClr val="tx2"/>
          </a:solidFill>
          <a:ln/>
        </p:spPr>
      </p:sp>
      <p:sp>
        <p:nvSpPr>
          <p:cNvPr id="25" name="dir-icon-circle"/>
          <p:cNvSpPr/>
          <p:nvPr/>
        </p:nvSpPr>
        <p:spPr>
          <a:xfrm>
            <a:off x="8915400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dir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1821" y="2040941"/>
            <a:ext cx="307238" cy="30723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915400" y="2697480"/>
            <a:ext cx="24533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D4FF"/>
                </a:solidFill>
              </a:rPr>
              <a:t>Interdisciplinary by design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The Faculty of Arts pairs language and translation with geospatial technology and AI. That makes it a natural partner for joint programs in translation studies, digital humanities and smart-city research.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International Academic Standards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Rules and standards that support credit transfer, exchange and joint programs</a:t>
            </a:r>
            <a:endParaRPr lang="en-US" sz="1500" dirty="0"/>
          </a:p>
        </p:txBody>
      </p:sp>
      <p:pic>
        <p:nvPicPr>
          <p:cNvPr id="4" name="lab-photo" descr="Students in a modern EPNU labora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4015" y="1600200"/>
            <a:ext cx="3749040" cy="4526280"/>
          </a:xfrm>
          <a:prstGeom prst="rect">
            <a:avLst/>
          </a:prstGeom>
        </p:spPr>
      </p:pic>
      <p:sp>
        <p:nvSpPr>
          <p:cNvPr id="5" name="std-card-0"/>
          <p:cNvSpPr/>
          <p:nvPr/>
        </p:nvSpPr>
        <p:spPr>
          <a:xfrm>
            <a:off x="548640" y="1600200"/>
            <a:ext cx="3154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td-icon-0-circle"/>
          <p:cNvSpPr/>
          <p:nvPr/>
        </p:nvSpPr>
        <p:spPr>
          <a:xfrm>
            <a:off x="731520" y="180136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std-icon-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79" y="1932127"/>
            <a:ext cx="241402" cy="2414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764792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English-medium instruction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English is the official language of teaching, textbooks and exams</a:t>
            </a:r>
            <a:endParaRPr lang="en-US" sz="1500" dirty="0"/>
          </a:p>
        </p:txBody>
      </p:sp>
      <p:sp>
        <p:nvSpPr>
          <p:cNvPr id="9" name="std-card-1"/>
          <p:cNvSpPr/>
          <p:nvPr/>
        </p:nvSpPr>
        <p:spPr>
          <a:xfrm>
            <a:off x="3931920" y="1600200"/>
            <a:ext cx="3154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std-icon-1-circle"/>
          <p:cNvSpPr/>
          <p:nvPr/>
        </p:nvSpPr>
        <p:spPr>
          <a:xfrm>
            <a:off x="4114800" y="180136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std-icon-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559" y="1932127"/>
            <a:ext cx="241402" cy="2414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754880" y="1764792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Credit hours ≈ ECTS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One semester's load ≈ 30 ECTS (750 hours of student workload)</a:t>
            </a:r>
            <a:endParaRPr lang="en-US" sz="1500" dirty="0"/>
          </a:p>
        </p:txBody>
      </p:sp>
      <p:sp>
        <p:nvSpPr>
          <p:cNvPr id="13" name="std-card-2"/>
          <p:cNvSpPr/>
          <p:nvPr/>
        </p:nvSpPr>
        <p:spPr>
          <a:xfrm>
            <a:off x="548640" y="3172968"/>
            <a:ext cx="3154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4" name="std-icon-2-circle"/>
          <p:cNvSpPr/>
          <p:nvPr/>
        </p:nvSpPr>
        <p:spPr>
          <a:xfrm>
            <a:off x="731520" y="337413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std-icon-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" y="3504895"/>
            <a:ext cx="241402" cy="2414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71600" y="33375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Bilingual certificates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Graduation certificates issued in Arabic and English</a:t>
            </a:r>
            <a:endParaRPr lang="en-US" sz="1500" dirty="0"/>
          </a:p>
        </p:txBody>
      </p:sp>
      <p:sp>
        <p:nvSpPr>
          <p:cNvPr id="17" name="std-card-3"/>
          <p:cNvSpPr/>
          <p:nvPr/>
        </p:nvSpPr>
        <p:spPr>
          <a:xfrm>
            <a:off x="3931920" y="3172968"/>
            <a:ext cx="3154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8" name="std-icon-3-circle"/>
          <p:cNvSpPr/>
          <p:nvPr/>
        </p:nvSpPr>
        <p:spPr>
          <a:xfrm>
            <a:off x="4114800" y="337413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std-icon-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5559" y="3504895"/>
            <a:ext cx="241402" cy="24140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754880" y="33375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Mobility-ready rules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Non-degree and auditor registration; transfer with course equivalency</a:t>
            </a:r>
            <a:endParaRPr lang="en-US" sz="1500" dirty="0"/>
          </a:p>
        </p:txBody>
      </p:sp>
      <p:sp>
        <p:nvSpPr>
          <p:cNvPr id="21" name="std-card-4"/>
          <p:cNvSpPr/>
          <p:nvPr/>
        </p:nvSpPr>
        <p:spPr>
          <a:xfrm>
            <a:off x="548640" y="4745736"/>
            <a:ext cx="3154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2" name="std-icon-4-circle"/>
          <p:cNvSpPr/>
          <p:nvPr/>
        </p:nvSpPr>
        <p:spPr>
          <a:xfrm>
            <a:off x="731520" y="494690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std-icon-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" y="5077663"/>
            <a:ext cx="241402" cy="24140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371600" y="4910328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International entry routes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Admission rules accept IGCSE, the Nile International Certificate and foreign certificates</a:t>
            </a:r>
            <a:endParaRPr lang="en-US" sz="1500" dirty="0"/>
          </a:p>
        </p:txBody>
      </p:sp>
      <p:sp>
        <p:nvSpPr>
          <p:cNvPr id="25" name="std-card-5"/>
          <p:cNvSpPr/>
          <p:nvPr/>
        </p:nvSpPr>
        <p:spPr>
          <a:xfrm>
            <a:off x="3931920" y="4745736"/>
            <a:ext cx="3154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6" name="std-icon-5-circle"/>
          <p:cNvSpPr/>
          <p:nvPr/>
        </p:nvSpPr>
        <p:spPr>
          <a:xfrm>
            <a:off x="4114800" y="494690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std-icon-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5559" y="5077663"/>
            <a:ext cx="241402" cy="24140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4754880" y="4910328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Huawei ICT Academy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Training in AI, cloud, networks, IoT and modern communications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with International Reach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A young university already publishing with leading international publishers</a:t>
            </a:r>
            <a:endParaRPr lang="en-US" sz="1500" dirty="0"/>
          </a:p>
        </p:txBody>
      </p:sp>
      <p:sp>
        <p:nvSpPr>
          <p:cNvPr id="4" name="research-hero"/>
          <p:cNvSpPr/>
          <p:nvPr/>
        </p:nvSpPr>
        <p:spPr>
          <a:xfrm>
            <a:off x="548640" y="1600200"/>
            <a:ext cx="3749040" cy="4526280"/>
          </a:xfrm>
          <a:prstGeom prst="roundRect">
            <a:avLst>
              <a:gd name="adj" fmla="val 3659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</a:t>
            </a:r>
            <a:endParaRPr lang="en-US" sz="8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004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peer-reviewed international publications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C9D8EC"/>
                </a:solidFill>
              </a:rPr>
              <a:t>carry the EPNU affiliation, 2024 to October 2026, well beyond the 50+ milestone</a:t>
            </a:r>
            <a:endParaRPr lang="en-US" sz="1900" dirty="0"/>
          </a:p>
        </p:txBody>
      </p:sp>
      <p:pic>
        <p:nvPicPr>
          <p:cNvPr id="7" name="research-photo" descr="Medical students and supervisor beside their research posters at Research Society D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754880"/>
            <a:ext cx="3017520" cy="1143000"/>
          </a:xfrm>
          <a:prstGeom prst="rect">
            <a:avLst/>
          </a:prstGeom>
        </p:spPr>
      </p:pic>
      <p:sp>
        <p:nvSpPr>
          <p:cNvPr id="8" name="research-chart-card"/>
          <p:cNvSpPr/>
          <p:nvPr/>
        </p:nvSpPr>
        <p:spPr>
          <a:xfrm>
            <a:off x="4526280" y="1600200"/>
            <a:ext cx="3457804" cy="4526280"/>
          </a:xfrm>
          <a:prstGeom prst="roundRect">
            <a:avLst>
              <a:gd name="adj" fmla="val 3173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754880" y="1737360"/>
            <a:ext cx="30097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Publications per year</a:t>
            </a:r>
            <a:endParaRPr lang="en-US" sz="1400" dirty="0"/>
          </a:p>
        </p:txBody>
      </p:sp>
      <p:graphicFrame>
        <p:nvGraphicFramePr>
          <p:cNvPr id="10" name="research-chart" descr=""/>
          <p:cNvGraphicFramePr/>
          <p:nvPr/>
        </p:nvGraphicFramePr>
        <p:xfrm>
          <a:off x="4663440" y="2148840"/>
          <a:ext cx="3192628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search-fact-0"/>
          <p:cNvSpPr/>
          <p:nvPr/>
        </p:nvSpPr>
        <p:spPr>
          <a:xfrm>
            <a:off x="8185252" y="1600200"/>
            <a:ext cx="3457804" cy="1386840"/>
          </a:xfrm>
          <a:prstGeom prst="roundRect">
            <a:avLst>
              <a:gd name="adj" fmla="val 7912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2" name="research-icon-0-circle"/>
          <p:cNvSpPr/>
          <p:nvPr/>
        </p:nvSpPr>
        <p:spPr>
          <a:xfrm>
            <a:off x="8368132" y="20650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research-icon-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004" y="218389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962492" y="1673352"/>
            <a:ext cx="2543404" cy="1240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Top-tier publishers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98% with international publishers: Elsevier, Springer Nature, the Royal Society of Chemistry and Wiley</a:t>
            </a:r>
            <a:endParaRPr lang="en-US" sz="1400" dirty="0"/>
          </a:p>
        </p:txBody>
      </p:sp>
      <p:sp>
        <p:nvSpPr>
          <p:cNvPr id="15" name="research-fact-1"/>
          <p:cNvSpPr/>
          <p:nvPr/>
        </p:nvSpPr>
        <p:spPr>
          <a:xfrm>
            <a:off x="8185252" y="3169920"/>
            <a:ext cx="3457804" cy="1386840"/>
          </a:xfrm>
          <a:prstGeom prst="roundRect">
            <a:avLst>
              <a:gd name="adj" fmla="val 7912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6" name="research-icon-1-circle"/>
          <p:cNvSpPr/>
          <p:nvPr/>
        </p:nvSpPr>
        <p:spPr>
          <a:xfrm>
            <a:off x="8368132" y="36347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research-icon-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7004" y="375361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62492" y="3243072"/>
            <a:ext cx="2543404" cy="1240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Co-authors in 15 countries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Nearly two-thirds of papers are internationally co-authored: Saudi Arabia, Jordan, the US, the UK, China, Japan, Malaysia and others</a:t>
            </a:r>
            <a:endParaRPr lang="en-US" sz="1400" dirty="0"/>
          </a:p>
        </p:txBody>
      </p:sp>
      <p:sp>
        <p:nvSpPr>
          <p:cNvPr id="19" name="research-fact-2"/>
          <p:cNvSpPr/>
          <p:nvPr/>
        </p:nvSpPr>
        <p:spPr>
          <a:xfrm>
            <a:off x="8185252" y="4739640"/>
            <a:ext cx="3457804" cy="1386840"/>
          </a:xfrm>
          <a:prstGeom prst="roundRect">
            <a:avLst>
              <a:gd name="adj" fmla="val 7912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research-icon-2-circle"/>
          <p:cNvSpPr/>
          <p:nvPr/>
        </p:nvSpPr>
        <p:spPr>
          <a:xfrm>
            <a:off x="8368132" y="52044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research-icon-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004" y="5323332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962492" y="4812792"/>
            <a:ext cx="2543404" cy="1240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Research strengths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Medicinal chemistry and pharmacy, medicine, and renewable-energy engineering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al-watermark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001000" y="1828800"/>
            <a:ext cx="3931920" cy="3931920"/>
          </a:xfrm>
          <a:prstGeom prst="rect">
            <a:avLst/>
          </a:prstGeom>
        </p:spPr>
      </p:pic>
      <p:sp>
        <p:nvSpPr>
          <p:cNvPr id="3" name="section-number"/>
          <p:cNvSpPr txBox="1"/>
          <p:nvPr/>
        </p:nvSpPr>
        <p:spPr>
          <a:xfrm>
            <a:off x="1097280" y="1874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109728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Relations</a:t>
            </a:r>
            <a:endParaRPr lang="en-US" sz="4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1097280" y="379476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"Global Openness" is one of the university's four pillars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Internationalization Is a National Priority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Egypt's national universities are being directed to go global, and EPNU is aligned</a:t>
            </a:r>
            <a:endParaRPr lang="en-US" sz="1500" dirty="0"/>
          </a:p>
        </p:txBody>
      </p:sp>
      <p:sp>
        <p:nvSpPr>
          <p:cNvPr id="4" name="timeline-line"/>
          <p:cNvSpPr/>
          <p:nvPr/>
        </p:nvSpPr>
        <p:spPr>
          <a:xfrm>
            <a:off x="822960" y="2148840"/>
            <a:ext cx="10506456" cy="0"/>
          </a:xfrm>
          <a:prstGeom prst="line">
            <a:avLst/>
          </a:prstGeom>
          <a:noFill/>
          <a:ln w="31750">
            <a:solidFill>
              <a:srgbClr val="0077FF"/>
            </a:solidFill>
            <a:prstDash val="solid"/>
          </a:ln>
        </p:spPr>
      </p:sp>
      <p:sp>
        <p:nvSpPr>
          <p:cNvPr id="5" name="timeline-dot-0"/>
          <p:cNvSpPr/>
          <p:nvPr/>
        </p:nvSpPr>
        <p:spPr>
          <a:xfrm>
            <a:off x="685800" y="1965960"/>
            <a:ext cx="365760" cy="36576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MARCH 2026</a:t>
            </a:r>
            <a:endParaRPr lang="en-US" sz="1400" dirty="0"/>
          </a:p>
        </p:txBody>
      </p:sp>
      <p:sp>
        <p:nvSpPr>
          <p:cNvPr id="7" name="timeline-card-0"/>
          <p:cNvSpPr/>
          <p:nvPr/>
        </p:nvSpPr>
        <p:spPr>
          <a:xfrm>
            <a:off x="548640" y="26060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78892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EPNU Academic Affairs Council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Reviews the Minister's directives, including enhancing international cooperation and academic partnerships</a:t>
            </a:r>
            <a:endParaRPr lang="en-US" sz="1600" dirty="0"/>
          </a:p>
        </p:txBody>
      </p:sp>
      <p:sp>
        <p:nvSpPr>
          <p:cNvPr id="9" name="timeline-dot-1"/>
          <p:cNvSpPr/>
          <p:nvPr/>
        </p:nvSpPr>
        <p:spPr>
          <a:xfrm>
            <a:off x="4453128" y="1965960"/>
            <a:ext cx="365760" cy="36576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15968" y="1463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JUNE 2026</a:t>
            </a:r>
            <a:endParaRPr lang="en-US" sz="1400" dirty="0"/>
          </a:p>
        </p:txBody>
      </p:sp>
      <p:sp>
        <p:nvSpPr>
          <p:cNvPr id="11" name="timeline-card-1"/>
          <p:cNvSpPr/>
          <p:nvPr/>
        </p:nvSpPr>
        <p:spPr>
          <a:xfrm>
            <a:off x="4315968" y="26060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44568" y="278892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National Universities Council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Priorities: international rankings, global partnerships, international publishing, joint and dual degrees, international students. The Council approves MoUs between national universities and international institutions</a:t>
            </a:r>
            <a:endParaRPr lang="en-US" sz="1600" dirty="0"/>
          </a:p>
        </p:txBody>
      </p:sp>
      <p:sp>
        <p:nvSpPr>
          <p:cNvPr id="13" name="timeline-dot-2"/>
          <p:cNvSpPr/>
          <p:nvPr/>
        </p:nvSpPr>
        <p:spPr>
          <a:xfrm>
            <a:off x="8220456" y="1965960"/>
            <a:ext cx="365760" cy="36576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83296" y="1463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JULY 2026</a:t>
            </a:r>
            <a:endParaRPr lang="en-US" sz="1400" dirty="0"/>
          </a:p>
        </p:txBody>
      </p:sp>
      <p:sp>
        <p:nvSpPr>
          <p:cNvPr id="15" name="timeline-card-2"/>
          <p:cNvSpPr/>
          <p:nvPr/>
        </p:nvSpPr>
        <p:spPr>
          <a:xfrm>
            <a:off x="8083296" y="26060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11896" y="278892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Port Said University Council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EPNU's President takes part as the council reviews efforts to expand international partnerships and attract international students</a:t>
            </a:r>
            <a:endParaRPr lang="en-US" sz="1600" dirty="0"/>
          </a:p>
        </p:txBody>
      </p:sp>
      <p:sp>
        <p:nvSpPr>
          <p:cNvPr id="17" name="goal-banner"/>
          <p:cNvSpPr/>
          <p:nvPr/>
        </p:nvSpPr>
        <p:spPr>
          <a:xfrm>
            <a:off x="548640" y="5120640"/>
            <a:ext cx="11094415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18" name="quote-icon-circle"/>
          <p:cNvSpPr/>
          <p:nvPr/>
        </p:nvSpPr>
        <p:spPr>
          <a:xfrm>
            <a:off x="822960" y="5303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quot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5469941"/>
            <a:ext cx="307238" cy="30723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691640" y="5212080"/>
            <a:ext cx="9722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Our partnership goal: </a:t>
            </a:r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"opening pathways for scientific and research exchange with regional and international universities and institutions"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International Partner: Universiti Putra Malaysia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A signed partnership agreement that includes a framework for faculty and student exchange</a:t>
            </a:r>
            <a:endParaRPr lang="en-US" sz="1500" dirty="0"/>
          </a:p>
        </p:txBody>
      </p:sp>
      <p:sp>
        <p:nvSpPr>
          <p:cNvPr id="4" name="upm-step-0"/>
          <p:cNvSpPr/>
          <p:nvPr/>
        </p:nvSpPr>
        <p:spPr>
          <a:xfrm>
            <a:off x="548640" y="1600200"/>
            <a:ext cx="2072579" cy="2834640"/>
          </a:xfrm>
          <a:prstGeom prst="roundRect">
            <a:avLst>
              <a:gd name="adj" fmla="val 529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5" name="upm-icon-0-circle"/>
          <p:cNvSpPr/>
          <p:nvPr/>
        </p:nvSpPr>
        <p:spPr>
          <a:xfrm>
            <a:off x="777240" y="1828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upm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19833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89699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60320"/>
            <a:ext cx="166109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Agreement signed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Partnership with UPM, including faculty and student exchange programs</a:t>
            </a:r>
            <a:endParaRPr lang="en-US" sz="1500" dirty="0"/>
          </a:p>
        </p:txBody>
      </p:sp>
      <p:sp>
        <p:nvSpPr>
          <p:cNvPr id="9" name="upm-step-1"/>
          <p:cNvSpPr/>
          <p:nvPr/>
        </p:nvSpPr>
        <p:spPr>
          <a:xfrm>
            <a:off x="2804099" y="1600200"/>
            <a:ext cx="2072579" cy="2834640"/>
          </a:xfrm>
          <a:prstGeom prst="roundRect">
            <a:avLst>
              <a:gd name="adj" fmla="val 529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upm-icon-1-circle"/>
          <p:cNvSpPr/>
          <p:nvPr/>
        </p:nvSpPr>
        <p:spPr>
          <a:xfrm>
            <a:off x="3032699" y="1828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upm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233" y="19833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45158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032699" y="2560320"/>
            <a:ext cx="166109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International webinar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"Global Horizons: Cross-Border Innovations in Science and Management", hosted by UPM-Sarawak</a:t>
            </a:r>
            <a:endParaRPr lang="en-US" sz="1500" dirty="0"/>
          </a:p>
        </p:txBody>
      </p:sp>
      <p:sp>
        <p:nvSpPr>
          <p:cNvPr id="14" name="upm-step-2"/>
          <p:cNvSpPr/>
          <p:nvPr/>
        </p:nvSpPr>
        <p:spPr>
          <a:xfrm>
            <a:off x="5059558" y="1600200"/>
            <a:ext cx="2072579" cy="2834640"/>
          </a:xfrm>
          <a:prstGeom prst="roundRect">
            <a:avLst>
              <a:gd name="adj" fmla="val 529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5" name="upm-icon-2-circle"/>
          <p:cNvSpPr/>
          <p:nvPr/>
        </p:nvSpPr>
        <p:spPr>
          <a:xfrm>
            <a:off x="5288158" y="1828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upm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692" y="19833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617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5288158" y="2560320"/>
            <a:ext cx="166109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Joint research meeting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First joint virtual scientific meeting: EPNU staff and students present research</a:t>
            </a:r>
            <a:endParaRPr lang="en-US" sz="1500" dirty="0"/>
          </a:p>
        </p:txBody>
      </p:sp>
      <p:sp>
        <p:nvSpPr>
          <p:cNvPr id="19" name="upm-step-3"/>
          <p:cNvSpPr/>
          <p:nvPr/>
        </p:nvSpPr>
        <p:spPr>
          <a:xfrm>
            <a:off x="7315017" y="1600200"/>
            <a:ext cx="2072579" cy="2834640"/>
          </a:xfrm>
          <a:prstGeom prst="roundRect">
            <a:avLst>
              <a:gd name="adj" fmla="val 5294"/>
            </a:avLst>
          </a:prstGeom>
          <a:solidFill>
            <a:schemeClr val="accent4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upm-icon-3-circle"/>
          <p:cNvSpPr/>
          <p:nvPr/>
        </p:nvSpPr>
        <p:spPr>
          <a:xfrm>
            <a:off x="7543617" y="182880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upm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8151" y="19833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656076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543617" y="2560320"/>
            <a:ext cx="166109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2nd edition announced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EPNU announced it would host the next edition of the webinar</a:t>
            </a:r>
            <a:endParaRPr lang="en-US" sz="1500" dirty="0"/>
          </a:p>
        </p:txBody>
      </p:sp>
      <p:sp>
        <p:nvSpPr>
          <p:cNvPr id="24" name="upm-step-4"/>
          <p:cNvSpPr/>
          <p:nvPr/>
        </p:nvSpPr>
        <p:spPr>
          <a:xfrm>
            <a:off x="9570476" y="1600200"/>
            <a:ext cx="2072579" cy="2834640"/>
          </a:xfrm>
          <a:prstGeom prst="roundRect">
            <a:avLst>
              <a:gd name="adj" fmla="val 5294"/>
            </a:avLst>
          </a:prstGeom>
          <a:solidFill>
            <a:schemeClr val="accent4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5" name="upm-icon-4-circle"/>
          <p:cNvSpPr/>
          <p:nvPr/>
        </p:nvSpPr>
        <p:spPr>
          <a:xfrm>
            <a:off x="9799076" y="182880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upm-icon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3610" y="19833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911535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9799076" y="2560320"/>
            <a:ext cx="166109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Next: exchange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Activating faculty and student mobility under the agreement</a:t>
            </a:r>
            <a:endParaRPr lang="en-US" sz="1500" dirty="0"/>
          </a:p>
        </p:txBody>
      </p:sp>
      <p:sp>
        <p:nvSpPr>
          <p:cNvPr id="29" name="upm-callout"/>
          <p:cNvSpPr/>
          <p:nvPr/>
        </p:nvSpPr>
        <p:spPr>
          <a:xfrm>
            <a:off x="548640" y="4663440"/>
            <a:ext cx="11094415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30" name="press-icon-circle"/>
          <p:cNvSpPr/>
          <p:nvPr/>
        </p:nvSpPr>
        <p:spPr>
          <a:xfrm>
            <a:off x="868680" y="5029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press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875" y="5219395"/>
            <a:ext cx="351130" cy="35113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874520" y="4754880"/>
            <a:ext cx="94484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Recognized abroad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EPNU pharmacy students' engagement in the UPM webinar was praised by Malaysian press outlets. The partnership is led by the Clinical Pharmacy program.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Growing Global Network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International links through partners, forums, initiatives and internationally trained faculty</a:t>
            </a:r>
            <a:endParaRPr lang="en-US" sz="1500" dirty="0"/>
          </a:p>
        </p:txBody>
      </p:sp>
      <p:sp>
        <p:nvSpPr>
          <p:cNvPr id="4" name="spoke-0"/>
          <p:cNvSpPr/>
          <p:nvPr/>
        </p:nvSpPr>
        <p:spPr>
          <a:xfrm>
            <a:off x="4084168" y="2377440"/>
            <a:ext cx="2011680" cy="1508760"/>
          </a:xfrm>
          <a:prstGeom prst="line">
            <a:avLst/>
          </a:prstGeom>
          <a:noFill/>
          <a:ln w="25400">
            <a:solidFill>
              <a:srgbClr val="D6E4F5"/>
            </a:solidFill>
            <a:prstDash val="solid"/>
          </a:ln>
        </p:spPr>
      </p:sp>
      <p:sp>
        <p:nvSpPr>
          <p:cNvPr id="5" name="node-0"/>
          <p:cNvSpPr/>
          <p:nvPr/>
        </p:nvSpPr>
        <p:spPr>
          <a:xfrm>
            <a:off x="883768" y="1851660"/>
            <a:ext cx="320040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66648" y="19431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Malaysia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Universiti Putra Malaysia: signed partnership agreement</a:t>
            </a:r>
            <a:endParaRPr lang="en-US" sz="1500" dirty="0"/>
          </a:p>
        </p:txBody>
      </p:sp>
      <p:sp>
        <p:nvSpPr>
          <p:cNvPr id="7" name="spoke-1"/>
          <p:cNvSpPr/>
          <p:nvPr/>
        </p:nvSpPr>
        <p:spPr>
          <a:xfrm flipH="1">
            <a:off x="3809848" y="3886200"/>
            <a:ext cx="2286000" cy="137160"/>
          </a:xfrm>
          <a:prstGeom prst="line">
            <a:avLst/>
          </a:prstGeom>
          <a:noFill/>
          <a:ln w="25400">
            <a:solidFill>
              <a:srgbClr val="D6E4F5"/>
            </a:solidFill>
            <a:prstDash val="solid"/>
          </a:ln>
        </p:spPr>
      </p:sp>
      <p:sp>
        <p:nvSpPr>
          <p:cNvPr id="8" name="node-1"/>
          <p:cNvSpPr/>
          <p:nvPr/>
        </p:nvSpPr>
        <p:spPr>
          <a:xfrm>
            <a:off x="609448" y="3497580"/>
            <a:ext cx="320040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92328" y="35890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Japan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Egyptian-Japanese Education Initiative 2025</a:t>
            </a:r>
            <a:endParaRPr lang="en-US" sz="1500" dirty="0"/>
          </a:p>
        </p:txBody>
      </p:sp>
      <p:sp>
        <p:nvSpPr>
          <p:cNvPr id="10" name="spoke-2"/>
          <p:cNvSpPr/>
          <p:nvPr/>
        </p:nvSpPr>
        <p:spPr>
          <a:xfrm flipH="1">
            <a:off x="4084168" y="3886200"/>
            <a:ext cx="2011680" cy="1783080"/>
          </a:xfrm>
          <a:prstGeom prst="line">
            <a:avLst/>
          </a:prstGeom>
          <a:noFill/>
          <a:ln w="25400">
            <a:solidFill>
              <a:srgbClr val="D6E4F5"/>
            </a:solidFill>
            <a:prstDash val="solid"/>
          </a:ln>
        </p:spPr>
      </p:sp>
      <p:sp>
        <p:nvSpPr>
          <p:cNvPr id="11" name="node-2"/>
          <p:cNvSpPr/>
          <p:nvPr/>
        </p:nvSpPr>
        <p:spPr>
          <a:xfrm>
            <a:off x="883768" y="5143500"/>
            <a:ext cx="320040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066648" y="52349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European Union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Community invited to the Euro-Egyptian Innovation Partnership (Horizon Europe)</a:t>
            </a:r>
            <a:endParaRPr lang="en-US" sz="1500" dirty="0"/>
          </a:p>
        </p:txBody>
      </p:sp>
      <p:sp>
        <p:nvSpPr>
          <p:cNvPr id="13" name="spoke-3"/>
          <p:cNvSpPr/>
          <p:nvPr/>
        </p:nvSpPr>
        <p:spPr>
          <a:xfrm flipH="1">
            <a:off x="6095848" y="2377440"/>
            <a:ext cx="2011680" cy="1508760"/>
          </a:xfrm>
          <a:prstGeom prst="line">
            <a:avLst/>
          </a:prstGeom>
          <a:noFill/>
          <a:ln w="25400">
            <a:solidFill>
              <a:srgbClr val="D6E4F5"/>
            </a:solidFill>
            <a:prstDash val="solid"/>
          </a:ln>
        </p:spPr>
      </p:sp>
      <p:sp>
        <p:nvSpPr>
          <p:cNvPr id="14" name="node-3"/>
          <p:cNvSpPr/>
          <p:nvPr/>
        </p:nvSpPr>
        <p:spPr>
          <a:xfrm>
            <a:off x="8107528" y="1851660"/>
            <a:ext cx="320040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90408" y="19431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Russia &amp; Arab World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5th Forum of the Union of Russian &amp; Arab University Rectors</a:t>
            </a:r>
            <a:endParaRPr lang="en-US" sz="1500" dirty="0"/>
          </a:p>
        </p:txBody>
      </p:sp>
      <p:sp>
        <p:nvSpPr>
          <p:cNvPr id="16" name="spoke-4"/>
          <p:cNvSpPr/>
          <p:nvPr/>
        </p:nvSpPr>
        <p:spPr>
          <a:xfrm>
            <a:off x="6095848" y="3886200"/>
            <a:ext cx="2286000" cy="137160"/>
          </a:xfrm>
          <a:prstGeom prst="line">
            <a:avLst/>
          </a:prstGeom>
          <a:noFill/>
          <a:ln w="25400">
            <a:solidFill>
              <a:srgbClr val="D6E4F5"/>
            </a:solidFill>
            <a:prstDash val="solid"/>
          </a:ln>
        </p:spPr>
      </p:sp>
      <p:sp>
        <p:nvSpPr>
          <p:cNvPr id="17" name="node-4"/>
          <p:cNvSpPr/>
          <p:nvPr/>
        </p:nvSpPr>
        <p:spPr>
          <a:xfrm>
            <a:off x="8381848" y="3497580"/>
            <a:ext cx="320040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564728" y="35890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United Kingdom &amp; Italy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Faculty expertise from Exeter (Newton-Mosharafa scholar) and Politecnico di Torino</a:t>
            </a:r>
            <a:endParaRPr lang="en-US" sz="1500" dirty="0"/>
          </a:p>
        </p:txBody>
      </p:sp>
      <p:sp>
        <p:nvSpPr>
          <p:cNvPr id="19" name="spoke-5"/>
          <p:cNvSpPr/>
          <p:nvPr/>
        </p:nvSpPr>
        <p:spPr>
          <a:xfrm>
            <a:off x="6095848" y="3886200"/>
            <a:ext cx="2011680" cy="1783080"/>
          </a:xfrm>
          <a:prstGeom prst="line">
            <a:avLst/>
          </a:prstGeom>
          <a:noFill/>
          <a:ln w="25400">
            <a:solidFill>
              <a:srgbClr val="D6E4F5"/>
            </a:solidFill>
            <a:prstDash val="solid"/>
          </a:ln>
        </p:spPr>
      </p:sp>
      <p:sp>
        <p:nvSpPr>
          <p:cNvPr id="20" name="node-5"/>
          <p:cNvSpPr/>
          <p:nvPr/>
        </p:nvSpPr>
        <p:spPr>
          <a:xfrm>
            <a:off x="8107528" y="5143500"/>
            <a:ext cx="320040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90408" y="52349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China &amp; MENA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Huawei ICT Academy · Saudi German Hospital network</a:t>
            </a:r>
            <a:endParaRPr lang="en-US" sz="1500" dirty="0"/>
          </a:p>
        </p:txBody>
      </p:sp>
      <p:sp>
        <p:nvSpPr>
          <p:cNvPr id="22" name="hub"/>
          <p:cNvSpPr/>
          <p:nvPr/>
        </p:nvSpPr>
        <p:spPr>
          <a:xfrm>
            <a:off x="5135728" y="2926080"/>
            <a:ext cx="1920240" cy="1920240"/>
          </a:xfrm>
          <a:prstGeom prst="ellipse">
            <a:avLst/>
          </a:prstGeom>
          <a:solidFill>
            <a:schemeClr val="tx2"/>
          </a:solidFill>
          <a:ln w="38100">
            <a:solidFill>
              <a:srgbClr val="00D4FF"/>
            </a:solidFill>
            <a:prstDash val="solid"/>
          </a:ln>
        </p:spPr>
      </p:sp>
      <p:pic>
        <p:nvPicPr>
          <p:cNvPr id="23" name="hub-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4368" y="3200400"/>
            <a:ext cx="822960" cy="82296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181448" y="4069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EPNU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 with Regional &amp; Global Reach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Industry and health partners that connect learning to international practice</a:t>
            </a:r>
            <a:endParaRPr lang="en-US" sz="1500" dirty="0"/>
          </a:p>
        </p:txBody>
      </p:sp>
      <p:pic>
        <p:nvPicPr>
          <p:cNvPr id="4" name="industry-photo-0" descr="EPNU computer science stud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2602154" cy="2011680"/>
          </a:xfrm>
          <a:prstGeom prst="rect">
            <a:avLst/>
          </a:prstGeom>
        </p:spPr>
      </p:pic>
      <p:sp>
        <p:nvSpPr>
          <p:cNvPr id="5" name="industry-card-0"/>
          <p:cNvSpPr/>
          <p:nvPr/>
        </p:nvSpPr>
        <p:spPr>
          <a:xfrm>
            <a:off x="548640" y="3840480"/>
            <a:ext cx="2602154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industry-icon-0-circle"/>
          <p:cNvSpPr/>
          <p:nvPr/>
        </p:nvSpPr>
        <p:spPr>
          <a:xfrm>
            <a:off x="749808" y="4023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ndustry-icon-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416600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3995928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Huawei ICT Academy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4709160"/>
            <a:ext cx="219981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Huawei ICT Academy at EPNU: training in AI, cloud computing, networks, IoT and modern communications</a:t>
            </a:r>
            <a:endParaRPr lang="en-US" sz="1300" dirty="0"/>
          </a:p>
        </p:txBody>
      </p:sp>
      <p:pic>
        <p:nvPicPr>
          <p:cNvPr id="10" name="industry-photo-1" descr="EPNU health sciences students in clinical train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394" y="1600200"/>
            <a:ext cx="2602154" cy="2011680"/>
          </a:xfrm>
          <a:prstGeom prst="rect">
            <a:avLst/>
          </a:prstGeom>
        </p:spPr>
      </p:pic>
      <p:sp>
        <p:nvSpPr>
          <p:cNvPr id="11" name="industry-card-1"/>
          <p:cNvSpPr/>
          <p:nvPr/>
        </p:nvSpPr>
        <p:spPr>
          <a:xfrm>
            <a:off x="3379394" y="3840480"/>
            <a:ext cx="2602154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2" name="industry-icon-1-circle"/>
          <p:cNvSpPr/>
          <p:nvPr/>
        </p:nvSpPr>
        <p:spPr>
          <a:xfrm>
            <a:off x="3580562" y="4023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ndustry-icon-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3208" y="4166006"/>
            <a:ext cx="263347" cy="26334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248074" y="3995928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Saudi German Hospital, Cairo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3580562" y="4709160"/>
            <a:ext cx="219981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Clinical lab training (quality control, biosafety) with a hospital network operating in Saudi Arabia, the UAE, Egypt, Yemen and Morocco</a:t>
            </a:r>
            <a:endParaRPr lang="en-US" sz="1300" dirty="0"/>
          </a:p>
        </p:txBody>
      </p:sp>
      <p:pic>
        <p:nvPicPr>
          <p:cNvPr id="16" name="industry-photo-2" descr="EPNU pharmacy students in the la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148" y="1600200"/>
            <a:ext cx="2602154" cy="2011680"/>
          </a:xfrm>
          <a:prstGeom prst="rect">
            <a:avLst/>
          </a:prstGeom>
        </p:spPr>
      </p:pic>
      <p:sp>
        <p:nvSpPr>
          <p:cNvPr id="17" name="industry-card-2"/>
          <p:cNvSpPr/>
          <p:nvPr/>
        </p:nvSpPr>
        <p:spPr>
          <a:xfrm>
            <a:off x="6210148" y="3840480"/>
            <a:ext cx="2602154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8" name="industry-icon-2-circle"/>
          <p:cNvSpPr/>
          <p:nvPr/>
        </p:nvSpPr>
        <p:spPr>
          <a:xfrm>
            <a:off x="6411316" y="4023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ndustry-icon-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962" y="4166006"/>
            <a:ext cx="263347" cy="263347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078828" y="3995928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Pharmaceutical industry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6411316" y="4709160"/>
            <a:ext cx="219981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Strategic partners include EIPICO, EVA Pharma, Lavender Life and Royal Cosmetics, supporting training, innovation and entrepreneurship</a:t>
            </a:r>
            <a:endParaRPr lang="en-US" sz="1300" dirty="0"/>
          </a:p>
        </p:txBody>
      </p:sp>
      <p:pic>
        <p:nvPicPr>
          <p:cNvPr id="22" name="industry-photo-3" descr="EPNU students at Children's Cancer Hospital 57357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0901" y="1600200"/>
            <a:ext cx="2602154" cy="2011680"/>
          </a:xfrm>
          <a:prstGeom prst="rect">
            <a:avLst/>
          </a:prstGeom>
        </p:spPr>
      </p:pic>
      <p:sp>
        <p:nvSpPr>
          <p:cNvPr id="23" name="industry-card-3"/>
          <p:cNvSpPr/>
          <p:nvPr/>
        </p:nvSpPr>
        <p:spPr>
          <a:xfrm>
            <a:off x="9040901" y="3840480"/>
            <a:ext cx="2602154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4" name="industry-icon-3-circle"/>
          <p:cNvSpPr/>
          <p:nvPr/>
        </p:nvSpPr>
        <p:spPr>
          <a:xfrm>
            <a:off x="9242069" y="4023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ndustry-icon-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4716" y="4166006"/>
            <a:ext cx="263347" cy="263347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9909581" y="3995928"/>
            <a:ext cx="15963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Children's Cancer Hospital 57357</a:t>
            </a:r>
            <a:endParaRPr lang="en-US" sz="1500" dirty="0"/>
          </a:p>
        </p:txBody>
      </p:sp>
      <p:sp>
        <p:nvSpPr>
          <p:cNvPr id="27" name="Text 17"/>
          <p:cNvSpPr txBox="1"/>
          <p:nvPr/>
        </p:nvSpPr>
        <p:spPr>
          <a:xfrm>
            <a:off x="9242069" y="4709160"/>
            <a:ext cx="219981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MoU signed with the 57357 Group: medical education, practical training, research and community service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Students at International Events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Competing, publishing and presenting beyond the classroom</a:t>
            </a:r>
            <a:endParaRPr lang="en-US" sz="1500" dirty="0"/>
          </a:p>
        </p:txBody>
      </p:sp>
      <p:pic>
        <p:nvPicPr>
          <p:cNvPr id="4" name="students-photo-1" descr="EPNU student team at a competi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657600" cy="2194560"/>
          </a:xfrm>
          <a:prstGeom prst="rect">
            <a:avLst/>
          </a:prstGeom>
        </p:spPr>
      </p:pic>
      <p:pic>
        <p:nvPicPr>
          <p:cNvPr id="5" name="students-photo-2" descr="EPNU students with certificat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77640"/>
            <a:ext cx="1737360" cy="2194560"/>
          </a:xfrm>
          <a:prstGeom prst="rect">
            <a:avLst/>
          </a:prstGeom>
        </p:spPr>
      </p:pic>
      <p:pic>
        <p:nvPicPr>
          <p:cNvPr id="6" name="students-photo-3" descr="EPNU students with a certific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3977640"/>
            <a:ext cx="1737360" cy="2194560"/>
          </a:xfrm>
          <a:prstGeom prst="rect">
            <a:avLst/>
          </a:prstGeom>
        </p:spPr>
      </p:pic>
      <p:sp>
        <p:nvSpPr>
          <p:cNvPr id="7" name="ach-card-0"/>
          <p:cNvSpPr/>
          <p:nvPr/>
        </p:nvSpPr>
        <p:spPr>
          <a:xfrm>
            <a:off x="4434840" y="1600200"/>
            <a:ext cx="7205472" cy="1024128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8" name="ach-icon-0-circle"/>
          <p:cNvSpPr/>
          <p:nvPr/>
        </p:nvSpPr>
        <p:spPr>
          <a:xfrm>
            <a:off x="4617720" y="1819656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ach-icon-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876" y="1971812"/>
            <a:ext cx="280904" cy="28090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394960" y="1691640"/>
            <a:ext cx="6080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AI Hackathon, ICIAAI 2026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Engineering team qualified and competed at the 1st International Conference on Innovations &amp; Applications of AI</a:t>
            </a:r>
            <a:endParaRPr lang="en-US" sz="1500" dirty="0"/>
          </a:p>
        </p:txBody>
      </p:sp>
      <p:sp>
        <p:nvSpPr>
          <p:cNvPr id="11" name="ach-card-1"/>
          <p:cNvSpPr/>
          <p:nvPr/>
        </p:nvSpPr>
        <p:spPr>
          <a:xfrm>
            <a:off x="4434840" y="2761488"/>
            <a:ext cx="7205472" cy="1024128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2" name="ach-icon-1-circle"/>
          <p:cNvSpPr/>
          <p:nvPr/>
        </p:nvSpPr>
        <p:spPr>
          <a:xfrm>
            <a:off x="4617720" y="2980944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ach-icon-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9876" y="3133100"/>
            <a:ext cx="280904" cy="28090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394960" y="2852928"/>
            <a:ext cx="6080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ITC-Egypt 2026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Engineering team passed the 2nd judging stage at the 6th International Conference on Communications</a:t>
            </a:r>
            <a:endParaRPr lang="en-US" sz="1500" dirty="0"/>
          </a:p>
        </p:txBody>
      </p:sp>
      <p:sp>
        <p:nvSpPr>
          <p:cNvPr id="15" name="ach-card-2"/>
          <p:cNvSpPr/>
          <p:nvPr/>
        </p:nvSpPr>
        <p:spPr>
          <a:xfrm>
            <a:off x="4434840" y="3922776"/>
            <a:ext cx="7205472" cy="1024128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6" name="ach-icon-2-circle"/>
          <p:cNvSpPr/>
          <p:nvPr/>
        </p:nvSpPr>
        <p:spPr>
          <a:xfrm>
            <a:off x="4617720" y="4142232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ach-icon-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9876" y="4294388"/>
            <a:ext cx="280904" cy="280904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5394960" y="4014216"/>
            <a:ext cx="6080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11th International Pediatric Conference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Medical students attended, learning the latest advances in pediatric medicine</a:t>
            </a:r>
            <a:endParaRPr lang="en-US" sz="1500" dirty="0"/>
          </a:p>
        </p:txBody>
      </p:sp>
      <p:sp>
        <p:nvSpPr>
          <p:cNvPr id="19" name="ach-card-3"/>
          <p:cNvSpPr/>
          <p:nvPr/>
        </p:nvSpPr>
        <p:spPr>
          <a:xfrm>
            <a:off x="4434840" y="5084064"/>
            <a:ext cx="7205472" cy="1024128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ach-icon-3-circle"/>
          <p:cNvSpPr/>
          <p:nvPr/>
        </p:nvSpPr>
        <p:spPr>
          <a:xfrm>
            <a:off x="4617720" y="530352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ach-icon-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9876" y="5455676"/>
            <a:ext cx="280904" cy="280904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5394960" y="5175504"/>
            <a:ext cx="6080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Research &amp; programming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7 papers and 2nd place at Suez Canal University's student research conference; qualified for the Egyptian Collegiate Programming Contest (ECPC)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 National Partnership Base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The foundation that supports international collaboration</a:t>
            </a:r>
            <a:endParaRPr lang="en-US" sz="1500" dirty="0"/>
          </a:p>
        </p:txBody>
      </p:sp>
      <p:sp>
        <p:nvSpPr>
          <p:cNvPr id="4" name="research-stat"/>
          <p:cNvSpPr/>
          <p:nvPr/>
        </p:nvSpPr>
        <p:spPr>
          <a:xfrm>
            <a:off x="548640" y="1600200"/>
            <a:ext cx="3749040" cy="4526280"/>
          </a:xfrm>
          <a:prstGeom prst="roundRect">
            <a:avLst>
              <a:gd name="adj" fmla="val 3659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10896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research papers in 2024–2025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9D8EC"/>
                </a:solidFill>
              </a:rPr>
              <a:t>from pharmacy research cooperation with Port Said University, published in international journals including Q1–Q3 titles</a:t>
            </a:r>
            <a:endParaRPr lang="en-US" sz="1800" dirty="0"/>
          </a:p>
        </p:txBody>
      </p:sp>
      <p:pic>
        <p:nvPicPr>
          <p:cNvPr id="7" name="national-photo" descr="Partnership meeting with EPNU deleg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754880"/>
            <a:ext cx="3017520" cy="1143000"/>
          </a:xfrm>
          <a:prstGeom prst="rect">
            <a:avLst/>
          </a:prstGeom>
        </p:spPr>
      </p:pic>
      <p:sp>
        <p:nvSpPr>
          <p:cNvPr id="8" name="partner-card-0"/>
          <p:cNvSpPr/>
          <p:nvPr/>
        </p:nvSpPr>
        <p:spPr>
          <a:xfrm>
            <a:off x="4526280" y="1600200"/>
            <a:ext cx="3457804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9" name="partner-icon-0-circle"/>
          <p:cNvSpPr/>
          <p:nvPr/>
        </p:nvSpPr>
        <p:spPr>
          <a:xfrm>
            <a:off x="4727448" y="182880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partner-icon-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340" y="1966692"/>
            <a:ext cx="254569" cy="25456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737360"/>
            <a:ext cx="24519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Port Said University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Main academic partner; joint pharmacy research and shared academic events</a:t>
            </a:r>
            <a:endParaRPr lang="en-US" sz="1450" dirty="0"/>
          </a:p>
        </p:txBody>
      </p:sp>
      <p:sp>
        <p:nvSpPr>
          <p:cNvPr id="12" name="partner-card-1"/>
          <p:cNvSpPr/>
          <p:nvPr/>
        </p:nvSpPr>
        <p:spPr>
          <a:xfrm>
            <a:off x="8185252" y="1600200"/>
            <a:ext cx="3457804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partner-icon-1-circle"/>
          <p:cNvSpPr/>
          <p:nvPr/>
        </p:nvSpPr>
        <p:spPr>
          <a:xfrm>
            <a:off x="8386420" y="182880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partner-icon-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311" y="1966692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053932" y="1737360"/>
            <a:ext cx="24519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ITI &amp; Creativa Port Said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Cooperation talks on digital-skills training for CS students</a:t>
            </a:r>
            <a:endParaRPr lang="en-US" sz="1450" dirty="0"/>
          </a:p>
        </p:txBody>
      </p:sp>
      <p:sp>
        <p:nvSpPr>
          <p:cNvPr id="16" name="partner-card-2"/>
          <p:cNvSpPr/>
          <p:nvPr/>
        </p:nvSpPr>
        <p:spPr>
          <a:xfrm>
            <a:off x="4526280" y="3172968"/>
            <a:ext cx="3457804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partner-icon-2-circle"/>
          <p:cNvSpPr/>
          <p:nvPr/>
        </p:nvSpPr>
        <p:spPr>
          <a:xfrm>
            <a:off x="4727448" y="3401568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partner-icon-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340" y="353946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94960" y="3310128"/>
            <a:ext cx="24519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Suez Canal Authority Training Center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Practical engineering workshops</a:t>
            </a:r>
            <a:endParaRPr lang="en-US" sz="1450" dirty="0"/>
          </a:p>
        </p:txBody>
      </p:sp>
      <p:sp>
        <p:nvSpPr>
          <p:cNvPr id="20" name="partner-card-3"/>
          <p:cNvSpPr/>
          <p:nvPr/>
        </p:nvSpPr>
        <p:spPr>
          <a:xfrm>
            <a:off x="8185252" y="3172968"/>
            <a:ext cx="3457804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1" name="partner-icon-3-circle"/>
          <p:cNvSpPr/>
          <p:nvPr/>
        </p:nvSpPr>
        <p:spPr>
          <a:xfrm>
            <a:off x="8386420" y="3401568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partner-icon-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4311" y="3539460"/>
            <a:ext cx="254569" cy="254569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053932" y="3310128"/>
            <a:ext cx="24519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Ahl Masr Hospital &amp; BEDO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Signed protocols: clinical training; industrial training &amp; joint applied research</a:t>
            </a:r>
            <a:endParaRPr lang="en-US" sz="1450" dirty="0"/>
          </a:p>
        </p:txBody>
      </p:sp>
      <p:sp>
        <p:nvSpPr>
          <p:cNvPr id="24" name="partner-card-4"/>
          <p:cNvSpPr/>
          <p:nvPr/>
        </p:nvSpPr>
        <p:spPr>
          <a:xfrm>
            <a:off x="4526280" y="4745736"/>
            <a:ext cx="3457804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5" name="partner-icon-4-circle"/>
          <p:cNvSpPr/>
          <p:nvPr/>
        </p:nvSpPr>
        <p:spPr>
          <a:xfrm>
            <a:off x="4727448" y="4974336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partner-icon-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5340" y="5112228"/>
            <a:ext cx="254569" cy="254569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394960" y="4882896"/>
            <a:ext cx="24519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Armed Forces College of Medicine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Visit to its anatomy hall and clinical simulation center</a:t>
            </a:r>
            <a:endParaRPr lang="en-US" sz="1450" dirty="0"/>
          </a:p>
        </p:txBody>
      </p:sp>
      <p:sp>
        <p:nvSpPr>
          <p:cNvPr id="28" name="partner-card-5"/>
          <p:cNvSpPr/>
          <p:nvPr/>
        </p:nvSpPr>
        <p:spPr>
          <a:xfrm>
            <a:off x="8185252" y="4745736"/>
            <a:ext cx="3457804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9" name="partner-icon-5-circle"/>
          <p:cNvSpPr/>
          <p:nvPr/>
        </p:nvSpPr>
        <p:spPr>
          <a:xfrm>
            <a:off x="8386420" y="4974336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partner-icon-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4311" y="5112228"/>
            <a:ext cx="254569" cy="254569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9053932" y="4882896"/>
            <a:ext cx="24519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Port Said Governorate &amp; Healthcare Authority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Community development and health training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Opportunities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Where we invite international partners to build with us</a:t>
            </a:r>
            <a:endParaRPr lang="en-US" sz="1500" dirty="0"/>
          </a:p>
        </p:txBody>
      </p:sp>
      <p:sp>
        <p:nvSpPr>
          <p:cNvPr id="4" name="opp-card-0"/>
          <p:cNvSpPr/>
          <p:nvPr/>
        </p:nvSpPr>
        <p:spPr>
          <a:xfrm>
            <a:off x="548640" y="16002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5" name="opp-icon-0-circle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opp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0528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Student &amp; staff exchange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632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Semester exchange and short mobility on our credit-hour/ECTS framework</a:t>
            </a:r>
            <a:endParaRPr lang="en-US" sz="1300" dirty="0"/>
          </a:p>
        </p:txBody>
      </p:sp>
      <p:sp>
        <p:nvSpPr>
          <p:cNvPr id="9" name="opp-card-1"/>
          <p:cNvSpPr/>
          <p:nvPr/>
        </p:nvSpPr>
        <p:spPr>
          <a:xfrm>
            <a:off x="4315968" y="16002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opp-icon-1-circle"/>
          <p:cNvSpPr/>
          <p:nvPr/>
        </p:nvSpPr>
        <p:spPr>
          <a:xfrm>
            <a:off x="4590288" y="1874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opp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596" y="20528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0288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Joint &amp; dual degrees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90288" y="30632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Co-designed programs in AI, health sciences, pharmacy and engineering</a:t>
            </a:r>
            <a:endParaRPr lang="en-US" sz="1300" dirty="0"/>
          </a:p>
        </p:txBody>
      </p:sp>
      <p:sp>
        <p:nvSpPr>
          <p:cNvPr id="14" name="opp-card-2"/>
          <p:cNvSpPr/>
          <p:nvPr/>
        </p:nvSpPr>
        <p:spPr>
          <a:xfrm>
            <a:off x="8083296" y="16002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5" name="opp-icon-2-circle"/>
          <p:cNvSpPr/>
          <p:nvPr/>
        </p:nvSpPr>
        <p:spPr>
          <a:xfrm>
            <a:off x="8357616" y="1874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opp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5924" y="20528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7616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Joint research &amp; EU funding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57616" y="30632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Research consortia, including Horizon Europe calls</a:t>
            </a:r>
            <a:endParaRPr lang="en-US" sz="1300" dirty="0"/>
          </a:p>
        </p:txBody>
      </p:sp>
      <p:sp>
        <p:nvSpPr>
          <p:cNvPr id="19" name="opp-card-3"/>
          <p:cNvSpPr/>
          <p:nvPr/>
        </p:nvSpPr>
        <p:spPr>
          <a:xfrm>
            <a:off x="548640" y="397764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opp-icon-3-circle"/>
          <p:cNvSpPr/>
          <p:nvPr/>
        </p:nvSpPr>
        <p:spPr>
          <a:xfrm>
            <a:off x="822960" y="4251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opp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" y="44302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960" y="5029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Visiting professors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4406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Guest teaching, joint supervision and international webinars</a:t>
            </a:r>
            <a:endParaRPr lang="en-US" sz="1300" dirty="0"/>
          </a:p>
        </p:txBody>
      </p:sp>
      <p:sp>
        <p:nvSpPr>
          <p:cNvPr id="24" name="opp-card-4"/>
          <p:cNvSpPr/>
          <p:nvPr/>
        </p:nvSpPr>
        <p:spPr>
          <a:xfrm>
            <a:off x="4315968" y="397764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5" name="opp-icon-4-circle"/>
          <p:cNvSpPr/>
          <p:nvPr/>
        </p:nvSpPr>
        <p:spPr>
          <a:xfrm>
            <a:off x="4590288" y="4251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opp-icon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8596" y="443026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90288" y="5029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International student pathways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90288" y="54406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Pathways for international students, building on foreign-certificate rules</a:t>
            </a:r>
            <a:endParaRPr lang="en-US" sz="1300" dirty="0"/>
          </a:p>
        </p:txBody>
      </p:sp>
      <p:sp>
        <p:nvSpPr>
          <p:cNvPr id="29" name="opp-card-5"/>
          <p:cNvSpPr/>
          <p:nvPr/>
        </p:nvSpPr>
        <p:spPr>
          <a:xfrm>
            <a:off x="8083296" y="397764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D6E4F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30" name="opp-icon-5-circle"/>
          <p:cNvSpPr/>
          <p:nvPr/>
        </p:nvSpPr>
        <p:spPr>
          <a:xfrm>
            <a:off x="8357616" y="4251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opp-icon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5924" y="443026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57616" y="5029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Sector hubs on the Suez Canal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357616" y="54406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AI, health and maritime/logistics collaboration in a strategic region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-phot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losing-ti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82000"/>
            </a:schemeClr>
          </a:solidFill>
          <a:ln/>
        </p:spPr>
      </p:sp>
      <p:pic>
        <p:nvPicPr>
          <p:cNvPr id="4" name="closing-log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488" y="914400"/>
            <a:ext cx="1188720" cy="11887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14400" y="242316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the Future Together</a:t>
            </a:r>
            <a:endParaRPr lang="en-US" sz="4200" dirty="0"/>
          </a:p>
        </p:txBody>
      </p:sp>
      <p:sp>
        <p:nvSpPr>
          <p:cNvPr id="6" name="Text 2"/>
          <p:cNvSpPr txBox="1"/>
          <p:nvPr/>
        </p:nvSpPr>
        <p:spPr>
          <a:xfrm>
            <a:off x="1371600" y="3383280"/>
            <a:ext cx="9448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D8EC"/>
                </a:solidFill>
              </a:rPr>
              <a:t>East Port Said National University welcomes partners for exchange, joint programs and research.</a:t>
            </a:r>
            <a:endParaRPr lang="en-US" sz="1800" dirty="0"/>
          </a:p>
        </p:txBody>
      </p:sp>
      <p:sp>
        <p:nvSpPr>
          <p:cNvPr id="7" name="contact-box"/>
          <p:cNvSpPr/>
          <p:nvPr/>
        </p:nvSpPr>
        <p:spPr>
          <a:xfrm>
            <a:off x="3169768" y="4480560"/>
            <a:ext cx="5852160" cy="1097280"/>
          </a:xfrm>
          <a:prstGeom prst="roundRect">
            <a:avLst>
              <a:gd name="adj" fmla="val 12500"/>
            </a:avLst>
          </a:prstGeom>
          <a:solidFill>
            <a:schemeClr val="accent3">
              <a:alpha val="90000"/>
            </a:scheme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352648" y="4553712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00D4FF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epnu.edu.eg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International Relations Office  |  Director: Assoc. Prof. Mohamed El-Sakka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PNU">
  <a:themeElements>
    <a:clrScheme name="EPNU">
      <a:dk1>
        <a:srgbClr val="0F172A"/>
      </a:dk1>
      <a:lt1>
        <a:srgbClr val="FFFFFF"/>
      </a:lt1>
      <a:dk2>
        <a:srgbClr val="071C35"/>
      </a:dk2>
      <a:lt2>
        <a:srgbClr val="F8FAFC"/>
      </a:lt2>
      <a:accent1>
        <a:srgbClr val="0077FF"/>
      </a:accent1>
      <a:accent2>
        <a:srgbClr val="00D4FF"/>
      </a:accent2>
      <a:accent3>
        <a:srgbClr val="1B3C73"/>
      </a:accent3>
      <a:accent4>
        <a:srgbClr val="EEF6FF"/>
      </a:accent4>
      <a:accent5>
        <a:srgbClr val="64748B"/>
      </a:accent5>
      <a:accent6>
        <a:srgbClr val="10283F"/>
      </a:accent6>
      <a:hlink>
        <a:srgbClr val="0077FF"/>
      </a:hlink>
      <a:folHlink>
        <a:srgbClr val="1B3C73"/>
      </a:folHlink>
    </a:clrScheme>
    <a:fontScheme name="EPNU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East Port Said National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East Port Said National University — International Profile</dc:title>
  <dc:subject>PptxGenJS Presentation</dc:subject>
  <dc:creator>EPNU</dc:creator>
  <cp:lastModifiedBy>EPNU</cp:lastModifiedBy>
  <cp:revision>1</cp:revision>
  <dcterms:created xsi:type="dcterms:W3CDTF">2026-10-14T12:14:29Z</dcterms:created>
  <dcterms:modified xsi:type="dcterms:W3CDTF">2026-10-14T12:14:29Z</dcterms:modified>
</cp:coreProperties>
</file>